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7" r:id="rId2"/>
    <p:sldId id="256" r:id="rId3"/>
    <p:sldId id="273" r:id="rId4"/>
    <p:sldId id="258" r:id="rId5"/>
    <p:sldId id="268" r:id="rId6"/>
    <p:sldId id="269" r:id="rId7"/>
    <p:sldId id="270" r:id="rId8"/>
    <p:sldId id="271" r:id="rId9"/>
    <p:sldId id="272" r:id="rId10"/>
    <p:sldId id="274" r:id="rId11"/>
    <p:sldId id="267" r:id="rId12"/>
    <p:sldId id="261" r:id="rId13"/>
    <p:sldId id="275" r:id="rId14"/>
    <p:sldId id="276" r:id="rId15"/>
    <p:sldId id="277" r:id="rId16"/>
    <p:sldId id="278" r:id="rId17"/>
    <p:sldId id="259" r:id="rId18"/>
    <p:sldId id="280" r:id="rId19"/>
    <p:sldId id="281" r:id="rId20"/>
    <p:sldId id="279" r:id="rId21"/>
    <p:sldId id="262" r:id="rId22"/>
    <p:sldId id="264" r:id="rId23"/>
    <p:sldId id="263" r:id="rId24"/>
    <p:sldId id="260" r:id="rId25"/>
    <p:sldId id="265" r:id="rId26"/>
    <p:sldId id="266" r:id="rId27"/>
  </p:sldIdLst>
  <p:sldSz cx="12192000" cy="6858000"/>
  <p:notesSz cx="6858000" cy="9144000"/>
  <p:embeddedFontLst>
    <p:embeddedFont>
      <p:font typeface="Cambria Math" panose="02040503050406030204" pitchFamily="18" charset="0"/>
      <p:regular r:id="rId29"/>
    </p:embeddedFont>
    <p:embeddedFont>
      <p:font typeface="Fira Sans" panose="020B0503050000020004" pitchFamily="34" charset="0"/>
      <p:bold r:id="rId30"/>
      <p:italic r:id="rId31"/>
      <p:boldItalic r:id="rId32"/>
    </p:embeddedFont>
    <p:embeddedFont>
      <p:font typeface="Marcellus" panose="020B0604020202020204" charset="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hD5JAU88ylzjDwF0X+bQl+fut4w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25fdc80c2f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4" name="Google Shape;24;g25fdc80c2f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a16="http://schemas.microsoft.com/office/drawing/2014/main" id="{58ADB302-E81C-60BD-D9BD-793E8A995701}"/>
            </a:ext>
          </a:extLst>
        </p:cNvPr>
        <p:cNvGrpSpPr/>
        <p:nvPr/>
      </p:nvGrpSpPr>
      <p:grpSpPr>
        <a:xfrm>
          <a:off x="0" y="0"/>
          <a:ext cx="0" cy="0"/>
          <a:chOff x="0" y="0"/>
          <a:chExt cx="0" cy="0"/>
        </a:xfrm>
      </p:grpSpPr>
      <p:sp>
        <p:nvSpPr>
          <p:cNvPr id="17" name="Google Shape;17;p1:notes">
            <a:extLst>
              <a:ext uri="{FF2B5EF4-FFF2-40B4-BE49-F238E27FC236}">
                <a16:creationId xmlns:a16="http://schemas.microsoft.com/office/drawing/2014/main" id="{D5803DC3-14D7-FE11-0C19-F49D66FF7B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a16="http://schemas.microsoft.com/office/drawing/2014/main" id="{3A426D3A-B331-AE6C-2F75-05D17FDE09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29242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3"/>
          <p:cNvSpPr/>
          <p:nvPr/>
        </p:nvSpPr>
        <p:spPr>
          <a:xfrm>
            <a:off x="0" y="5680472"/>
            <a:ext cx="838200" cy="1190779"/>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 name="Google Shape;12;p3"/>
          <p:cNvSpPr/>
          <p:nvPr/>
        </p:nvSpPr>
        <p:spPr>
          <a:xfrm>
            <a:off x="10169610" y="6356350"/>
            <a:ext cx="2022390" cy="514900"/>
          </a:xfrm>
          <a:prstGeom prst="rect">
            <a:avLst/>
          </a:prstGeom>
          <a:solidFill>
            <a:srgbClr val="D922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 name="Google Shape;13;p3"/>
          <p:cNvSpPr/>
          <p:nvPr/>
        </p:nvSpPr>
        <p:spPr>
          <a:xfrm>
            <a:off x="838199" y="6356350"/>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Fira Sans"/>
              <a:ea typeface="Fira Sans"/>
              <a:cs typeface="Fira Sans"/>
              <a:sym typeface="Fira Sans"/>
            </a:endParaRPr>
          </a:p>
        </p:txBody>
      </p:sp>
      <p:sp>
        <p:nvSpPr>
          <p:cNvPr id="14" name="Google Shape;14;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A42530"/>
              </a:buClr>
              <a:buSzPts val="6000"/>
              <a:buFont typeface="Marcellu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4D4D4C"/>
              </a:buClr>
              <a:buSzPts val="2400"/>
              <a:buNone/>
              <a:defRPr sz="2400"/>
            </a:lvl1pPr>
            <a:lvl2pPr lvl="1" algn="ctr">
              <a:lnSpc>
                <a:spcPct val="90000"/>
              </a:lnSpc>
              <a:spcBef>
                <a:spcPts val="500"/>
              </a:spcBef>
              <a:spcAft>
                <a:spcPts val="0"/>
              </a:spcAft>
              <a:buClr>
                <a:srgbClr val="4D4D4C"/>
              </a:buClr>
              <a:buSzPts val="2000"/>
              <a:buNone/>
              <a:defRPr sz="2000"/>
            </a:lvl2pPr>
            <a:lvl3pPr lvl="2" algn="ctr">
              <a:lnSpc>
                <a:spcPct val="90000"/>
              </a:lnSpc>
              <a:spcBef>
                <a:spcPts val="500"/>
              </a:spcBef>
              <a:spcAft>
                <a:spcPts val="0"/>
              </a:spcAft>
              <a:buClr>
                <a:srgbClr val="4D4D4C"/>
              </a:buClr>
              <a:buSzPts val="1800"/>
              <a:buNone/>
              <a:defRPr sz="1800"/>
            </a:lvl3pPr>
            <a:lvl4pPr lvl="3" algn="ctr">
              <a:lnSpc>
                <a:spcPct val="90000"/>
              </a:lnSpc>
              <a:spcBef>
                <a:spcPts val="500"/>
              </a:spcBef>
              <a:spcAft>
                <a:spcPts val="0"/>
              </a:spcAft>
              <a:buClr>
                <a:srgbClr val="4D4D4C"/>
              </a:buClr>
              <a:buSzPts val="1600"/>
              <a:buNone/>
              <a:defRPr sz="1600"/>
            </a:lvl4pPr>
            <a:lvl5pPr lvl="4" algn="ctr">
              <a:lnSpc>
                <a:spcPct val="90000"/>
              </a:lnSpc>
              <a:spcBef>
                <a:spcPts val="500"/>
              </a:spcBef>
              <a:spcAft>
                <a:spcPts val="0"/>
              </a:spcAft>
              <a:buClr>
                <a:srgbClr val="4D4D4C"/>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38200" y="1463546"/>
            <a:ext cx="10515600" cy="82441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A42530"/>
              </a:buClr>
              <a:buSzPts val="3600"/>
              <a:buFont typeface="Marcellus"/>
              <a:buNone/>
              <a:defRPr sz="3600" b="0" i="0" u="none" strike="noStrike" cap="none">
                <a:solidFill>
                  <a:srgbClr val="A42530"/>
                </a:solidFill>
                <a:latin typeface="Marcellus"/>
                <a:ea typeface="Marcellus"/>
                <a:cs typeface="Marcellus"/>
                <a:sym typeface="Marcellu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838200" y="2753673"/>
            <a:ext cx="10515600" cy="269178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4D4D4C"/>
              </a:buClr>
              <a:buSzPts val="2800"/>
              <a:buFont typeface="Arial"/>
              <a:buChar char="•"/>
              <a:defRPr sz="2800" b="0" i="0" u="none" strike="noStrike" cap="none">
                <a:solidFill>
                  <a:srgbClr val="4D4D4C"/>
                </a:solidFill>
                <a:latin typeface="Fira Sans"/>
                <a:ea typeface="Fira Sans"/>
                <a:cs typeface="Fira Sans"/>
                <a:sym typeface="Fira Sans"/>
              </a:defRPr>
            </a:lvl1pPr>
            <a:lvl2pPr marL="914400" marR="0" lvl="1" indent="-381000" algn="l" rtl="0">
              <a:lnSpc>
                <a:spcPct val="90000"/>
              </a:lnSpc>
              <a:spcBef>
                <a:spcPts val="500"/>
              </a:spcBef>
              <a:spcAft>
                <a:spcPts val="0"/>
              </a:spcAft>
              <a:buClr>
                <a:srgbClr val="4D4D4C"/>
              </a:buClr>
              <a:buSzPts val="2400"/>
              <a:buFont typeface="Arial"/>
              <a:buChar char="•"/>
              <a:defRPr sz="2400" b="0" i="0" u="none" strike="noStrike" cap="none">
                <a:solidFill>
                  <a:srgbClr val="4D4D4C"/>
                </a:solidFill>
                <a:latin typeface="Fira Sans"/>
                <a:ea typeface="Fira Sans"/>
                <a:cs typeface="Fira Sans"/>
                <a:sym typeface="Fira Sans"/>
              </a:defRPr>
            </a:lvl2pPr>
            <a:lvl3pPr marL="1371600" marR="0" lvl="2" indent="-355600" algn="l" rtl="0">
              <a:lnSpc>
                <a:spcPct val="90000"/>
              </a:lnSpc>
              <a:spcBef>
                <a:spcPts val="500"/>
              </a:spcBef>
              <a:spcAft>
                <a:spcPts val="0"/>
              </a:spcAft>
              <a:buClr>
                <a:srgbClr val="4D4D4C"/>
              </a:buClr>
              <a:buSzPts val="2000"/>
              <a:buFont typeface="Arial"/>
              <a:buChar char="•"/>
              <a:defRPr sz="2000" b="0" i="0" u="none" strike="noStrike" cap="none">
                <a:solidFill>
                  <a:srgbClr val="4D4D4C"/>
                </a:solidFill>
                <a:latin typeface="Fira Sans"/>
                <a:ea typeface="Fira Sans"/>
                <a:cs typeface="Fira Sans"/>
                <a:sym typeface="Fira Sans"/>
              </a:defRPr>
            </a:lvl3pPr>
            <a:lvl4pPr marL="1828800" marR="0" lvl="3" indent="-342900" algn="l" rtl="0">
              <a:lnSpc>
                <a:spcPct val="90000"/>
              </a:lnSpc>
              <a:spcBef>
                <a:spcPts val="500"/>
              </a:spcBef>
              <a:spcAft>
                <a:spcPts val="0"/>
              </a:spcAft>
              <a:buClr>
                <a:srgbClr val="4D4D4C"/>
              </a:buClr>
              <a:buSzPts val="1800"/>
              <a:buFont typeface="Arial"/>
              <a:buChar char="•"/>
              <a:defRPr sz="1800" b="0" i="0" u="none" strike="noStrike" cap="none">
                <a:solidFill>
                  <a:srgbClr val="4D4D4C"/>
                </a:solidFill>
                <a:latin typeface="Fira Sans"/>
                <a:ea typeface="Fira Sans"/>
                <a:cs typeface="Fira Sans"/>
                <a:sym typeface="Fira Sans"/>
              </a:defRPr>
            </a:lvl4pPr>
            <a:lvl5pPr marL="2286000" marR="0" lvl="4" indent="-342900" algn="l" rtl="0">
              <a:lnSpc>
                <a:spcPct val="90000"/>
              </a:lnSpc>
              <a:spcBef>
                <a:spcPts val="500"/>
              </a:spcBef>
              <a:spcAft>
                <a:spcPts val="0"/>
              </a:spcAft>
              <a:buClr>
                <a:srgbClr val="4D4D4C"/>
              </a:buClr>
              <a:buSzPts val="1800"/>
              <a:buFont typeface="Arial"/>
              <a:buChar char="•"/>
              <a:defRPr sz="1800" b="0" i="0" u="none" strike="noStrike" cap="none">
                <a:solidFill>
                  <a:srgbClr val="4D4D4C"/>
                </a:solidFill>
                <a:latin typeface="Fira Sans"/>
                <a:ea typeface="Fira Sans"/>
                <a:cs typeface="Fira Sans"/>
                <a:sym typeface="Fira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8" name="Google Shape;8;p2" descr="A black and red text&#10;&#10;Description automatically generated"/>
          <p:cNvPicPr preferRelativeResize="0"/>
          <p:nvPr/>
        </p:nvPicPr>
        <p:blipFill rotWithShape="1">
          <a:blip r:embed="rId3">
            <a:alphaModFix/>
          </a:blip>
          <a:srcRect/>
          <a:stretch/>
        </p:blipFill>
        <p:spPr>
          <a:xfrm>
            <a:off x="838201" y="222893"/>
            <a:ext cx="2448000" cy="721066"/>
          </a:xfrm>
          <a:prstGeom prst="rect">
            <a:avLst/>
          </a:prstGeom>
          <a:noFill/>
          <a:ln>
            <a:noFill/>
          </a:ln>
        </p:spPr>
      </p:pic>
      <p:pic>
        <p:nvPicPr>
          <p:cNvPr id="9" name="Google Shape;9;p2" descr="Graphical user interface, text, application&#10;&#10;Description automatically generated"/>
          <p:cNvPicPr preferRelativeResize="0"/>
          <p:nvPr/>
        </p:nvPicPr>
        <p:blipFill rotWithShape="1">
          <a:blip r:embed="rId4">
            <a:alphaModFix/>
          </a:blip>
          <a:srcRect/>
          <a:stretch/>
        </p:blipFill>
        <p:spPr>
          <a:xfrm>
            <a:off x="10561799" y="222893"/>
            <a:ext cx="792000" cy="58666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localhost:8501/" TargetMode="External"/><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www.sciencedirect.com/science/article/abs/pii/S105381191300061X" TargetMode="External"/><Relationship Id="rId2" Type="http://schemas.openxmlformats.org/officeDocument/2006/relationships/hyperlink" Target="https://www.neuphony.com/product/brain-wearables/neuphony-eeg-headband" TargetMode="External"/><Relationship Id="rId1" Type="http://schemas.openxmlformats.org/officeDocument/2006/relationships/slideLayout" Target="../slideLayouts/slideLayout1.xml"/><Relationship Id="rId4" Type="http://schemas.openxmlformats.org/officeDocument/2006/relationships/hyperlink" Target="https://www.researchgate.net/profile/Shilpi-Verma-5/publication/334734894_Management_of_Epileptic_Seizures_through_an_Integrated_Approach_including_Yagya_Therapy/links/5e60961e92851cefa1dee654/Management-of-Epileptic-Seizures-through-an-Integrated-Approach-including-Yagya-Therapy.pdf?_sg%5B0%5D=started_experiment_milestone&amp;origin=journalDetai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26" name="Google Shape;26;g25fdc80c2f9_0_0"/>
          <p:cNvSpPr txBox="1">
            <a:spLocks noGrp="1"/>
          </p:cNvSpPr>
          <p:nvPr>
            <p:ph type="ctrTitle"/>
          </p:nvPr>
        </p:nvSpPr>
        <p:spPr>
          <a:xfrm>
            <a:off x="1524000" y="1122363"/>
            <a:ext cx="9144000" cy="929957"/>
          </a:xfrm>
          <a:prstGeom prst="rect">
            <a:avLst/>
          </a:prstGeom>
        </p:spPr>
        <p:txBody>
          <a:bodyPr spcFirstLastPara="1" wrap="square" lIns="91425" tIns="45700" rIns="91425" bIns="45700" anchor="b" anchorCtr="0">
            <a:normAutofit/>
          </a:bodyPr>
          <a:lstStyle/>
          <a:p>
            <a:pPr lvl="0"/>
            <a:r>
              <a:rPr lang="en-US" dirty="0"/>
              <a:t>Progress Seminar</a:t>
            </a:r>
            <a:endParaRPr dirty="0"/>
          </a:p>
        </p:txBody>
      </p:sp>
      <p:sp>
        <p:nvSpPr>
          <p:cNvPr id="27" name="Google Shape;27;g25fdc80c2f9_0_0"/>
          <p:cNvSpPr txBox="1">
            <a:spLocks noGrp="1"/>
          </p:cNvSpPr>
          <p:nvPr>
            <p:ph type="subTitle" idx="1"/>
          </p:nvPr>
        </p:nvSpPr>
        <p:spPr>
          <a:xfrm>
            <a:off x="1524000" y="2123440"/>
            <a:ext cx="9144000" cy="3134298"/>
          </a:xfrm>
          <a:prstGeom prst="rect">
            <a:avLst/>
          </a:prstGeom>
        </p:spPr>
        <p:txBody>
          <a:bodyPr spcFirstLastPara="1" wrap="square" lIns="91425" tIns="45700" rIns="91425" bIns="45700" anchor="t" anchorCtr="0">
            <a:normAutofit/>
          </a:bodyPr>
          <a:lstStyle/>
          <a:p>
            <a:pPr marL="0" lvl="0" indent="0" algn="ctr" rtl="0">
              <a:spcBef>
                <a:spcPts val="1000"/>
              </a:spcBef>
              <a:spcAft>
                <a:spcPts val="0"/>
              </a:spcAft>
              <a:buNone/>
            </a:pPr>
            <a:r>
              <a:rPr lang="en-US" dirty="0"/>
              <a:t>By</a:t>
            </a:r>
          </a:p>
          <a:p>
            <a:pPr marL="0" lvl="0" indent="0" algn="ctr" rtl="0">
              <a:spcBef>
                <a:spcPts val="1000"/>
              </a:spcBef>
              <a:spcAft>
                <a:spcPts val="0"/>
              </a:spcAft>
              <a:buNone/>
            </a:pPr>
            <a:r>
              <a:rPr lang="en-US" dirty="0"/>
              <a:t>Name: Aayush Deepak Birari</a:t>
            </a:r>
          </a:p>
          <a:p>
            <a:pPr marL="0" lvl="0" indent="0" algn="ctr" rtl="0">
              <a:spcBef>
                <a:spcPts val="1000"/>
              </a:spcBef>
              <a:spcAft>
                <a:spcPts val="0"/>
              </a:spcAft>
              <a:buNone/>
            </a:pPr>
            <a:r>
              <a:rPr lang="en-US" dirty="0"/>
              <a:t>Roll no. 16030725021</a:t>
            </a:r>
          </a:p>
          <a:p>
            <a:pPr marL="0" lvl="0" indent="0" algn="ctr" rtl="0">
              <a:spcBef>
                <a:spcPts val="1000"/>
              </a:spcBef>
              <a:spcAft>
                <a:spcPts val="0"/>
              </a:spcAft>
              <a:buNone/>
            </a:pPr>
            <a:r>
              <a:rPr lang="en-US" dirty="0"/>
              <a:t>SY M.Tech Computer Engineering</a:t>
            </a:r>
          </a:p>
          <a:p>
            <a:pPr marL="0" lvl="0" indent="0" algn="ctr" rtl="0">
              <a:spcBef>
                <a:spcPts val="1000"/>
              </a:spcBef>
              <a:spcAft>
                <a:spcPts val="0"/>
              </a:spcAft>
              <a:buNone/>
            </a:pPr>
            <a:r>
              <a:rPr lang="en-US" dirty="0"/>
              <a:t>Guided by: Prof. Swapnil C. Pawar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txBox="1">
            <a:spLocks noGrp="1"/>
          </p:cNvSpPr>
          <p:nvPr>
            <p:ph type="ctrTitle"/>
          </p:nvPr>
        </p:nvSpPr>
        <p:spPr>
          <a:xfrm>
            <a:off x="1524000" y="1122363"/>
            <a:ext cx="9144000" cy="92995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A42530"/>
              </a:buClr>
              <a:buSzPts val="6000"/>
              <a:buFont typeface="Marcellus"/>
              <a:buNone/>
            </a:pPr>
            <a:r>
              <a:rPr lang="en-US" dirty="0"/>
              <a:t>Problem Statement</a:t>
            </a:r>
            <a:endParaRPr dirty="0"/>
          </a:p>
        </p:txBody>
      </p:sp>
      <p:sp>
        <p:nvSpPr>
          <p:cNvPr id="21" name="Google Shape;21;p1"/>
          <p:cNvSpPr txBox="1">
            <a:spLocks noGrp="1"/>
          </p:cNvSpPr>
          <p:nvPr>
            <p:ph type="subTitle" idx="1"/>
          </p:nvPr>
        </p:nvSpPr>
        <p:spPr>
          <a:xfrm>
            <a:off x="1524000" y="2286000"/>
            <a:ext cx="9144000" cy="370363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4D4D4C"/>
              </a:buClr>
              <a:buSzPts val="2400"/>
              <a:buNone/>
            </a:pPr>
            <a:r>
              <a:rPr lang="en-US" dirty="0"/>
              <a:t>Beyond continuous monitoring: Probabilistic Seizure Forecasting Using Non-EEG Daily Routine Logs and Clinical Baselines.</a:t>
            </a:r>
          </a:p>
          <a:p>
            <a:pPr marL="0" lvl="0" indent="0" algn="ctr" rtl="0">
              <a:lnSpc>
                <a:spcPct val="90000"/>
              </a:lnSpc>
              <a:spcBef>
                <a:spcPts val="0"/>
              </a:spcBef>
              <a:spcAft>
                <a:spcPts val="0"/>
              </a:spcAft>
              <a:buClr>
                <a:srgbClr val="4D4D4C"/>
              </a:buClr>
              <a:buSzPts val="2400"/>
              <a:buNone/>
            </a:pPr>
            <a:endParaRPr lang="en-US" dirty="0"/>
          </a:p>
          <a:p>
            <a:pPr>
              <a:buFont typeface="Arial" panose="020B0604020202020204" pitchFamily="34" charset="0"/>
              <a:buChar char="•"/>
            </a:pPr>
            <a:r>
              <a:rPr lang="en-US" dirty="0"/>
              <a:t>Why Beyond Continuous Monitoring?</a:t>
            </a:r>
          </a:p>
          <a:p>
            <a:pPr>
              <a:buFont typeface="Arial" panose="020B0604020202020204" pitchFamily="34" charset="0"/>
              <a:buChar char="•"/>
            </a:pPr>
            <a:r>
              <a:rPr lang="en-US" dirty="0"/>
              <a:t>Why Non-EEG logs?</a:t>
            </a:r>
          </a:p>
          <a:p>
            <a:pPr>
              <a:buFont typeface="Arial" panose="020B0604020202020204" pitchFamily="34" charset="0"/>
              <a:buChar char="•"/>
            </a:pPr>
            <a:r>
              <a:rPr lang="en-US" dirty="0"/>
              <a:t>Anymore?</a:t>
            </a:r>
            <a:endParaRPr lang="en-IN" dirty="0"/>
          </a:p>
          <a:p>
            <a:pPr marL="0" lvl="0" indent="0" algn="ctr" rtl="0">
              <a:lnSpc>
                <a:spcPct val="90000"/>
              </a:lnSpc>
              <a:spcBef>
                <a:spcPts val="0"/>
              </a:spcBef>
              <a:spcAft>
                <a:spcPts val="0"/>
              </a:spcAft>
              <a:buClr>
                <a:srgbClr val="4D4D4C"/>
              </a:buClr>
              <a:buSzPts val="24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a16="http://schemas.microsoft.com/office/drawing/2014/main" id="{7AA2CB99-B2FD-B744-831E-E5B113DFCE1B}"/>
            </a:ext>
          </a:extLst>
        </p:cNvPr>
        <p:cNvGrpSpPr/>
        <p:nvPr/>
      </p:nvGrpSpPr>
      <p:grpSpPr>
        <a:xfrm>
          <a:off x="0" y="0"/>
          <a:ext cx="0" cy="0"/>
          <a:chOff x="0" y="0"/>
          <a:chExt cx="0" cy="0"/>
        </a:xfrm>
      </p:grpSpPr>
      <p:sp>
        <p:nvSpPr>
          <p:cNvPr id="20" name="Google Shape;20;p1">
            <a:extLst>
              <a:ext uri="{FF2B5EF4-FFF2-40B4-BE49-F238E27FC236}">
                <a16:creationId xmlns:a16="http://schemas.microsoft.com/office/drawing/2014/main" id="{929C16F7-9C35-B505-9CFA-E6A68104658B}"/>
              </a:ext>
            </a:extLst>
          </p:cNvPr>
          <p:cNvSpPr txBox="1">
            <a:spLocks noGrp="1"/>
          </p:cNvSpPr>
          <p:nvPr>
            <p:ph type="ctrTitle"/>
          </p:nvPr>
        </p:nvSpPr>
        <p:spPr>
          <a:xfrm>
            <a:off x="1524000" y="1122363"/>
            <a:ext cx="9144000" cy="92995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A42530"/>
              </a:buClr>
              <a:buSzPts val="6000"/>
              <a:buFont typeface="Marcellus"/>
              <a:buNone/>
            </a:pPr>
            <a:r>
              <a:rPr lang="en-US" dirty="0"/>
              <a:t>Objectives</a:t>
            </a:r>
            <a:endParaRPr dirty="0"/>
          </a:p>
        </p:txBody>
      </p:sp>
      <p:sp>
        <p:nvSpPr>
          <p:cNvPr id="21" name="Google Shape;21;p1">
            <a:extLst>
              <a:ext uri="{FF2B5EF4-FFF2-40B4-BE49-F238E27FC236}">
                <a16:creationId xmlns:a16="http://schemas.microsoft.com/office/drawing/2014/main" id="{2F578154-9008-EC2D-7275-EF3098E242E2}"/>
              </a:ext>
            </a:extLst>
          </p:cNvPr>
          <p:cNvSpPr txBox="1">
            <a:spLocks noGrp="1"/>
          </p:cNvSpPr>
          <p:nvPr>
            <p:ph type="subTitle" idx="1"/>
          </p:nvPr>
        </p:nvSpPr>
        <p:spPr>
          <a:xfrm>
            <a:off x="1524000" y="2286000"/>
            <a:ext cx="9144000" cy="3703637"/>
          </a:xfrm>
          <a:prstGeom prst="rect">
            <a:avLst/>
          </a:prstGeom>
          <a:noFill/>
          <a:ln>
            <a:noFill/>
          </a:ln>
        </p:spPr>
        <p:txBody>
          <a:bodyPr spcFirstLastPara="1" wrap="square" lIns="91425" tIns="45700" rIns="91425" bIns="45700" anchor="t" anchorCtr="0">
            <a:normAutofit lnSpcReduction="10000"/>
          </a:bodyPr>
          <a:lstStyle/>
          <a:p>
            <a:pPr lvl="0" algn="just">
              <a:buFont typeface="Arial" panose="020B0604020202020204" pitchFamily="34" charset="0"/>
              <a:buChar char="•"/>
            </a:pPr>
            <a:r>
              <a:rPr lang="en-IN" b="1" dirty="0"/>
              <a:t>Software-Driven Forecasting:</a:t>
            </a:r>
            <a:r>
              <a:rPr lang="en-IN" dirty="0"/>
              <a:t> Bypass expensive medical hardware using a scalable, non-invasive telemetry pipeline.</a:t>
            </a:r>
          </a:p>
          <a:p>
            <a:pPr lvl="0" algn="just">
              <a:buFont typeface="Arial" panose="020B0604020202020204" pitchFamily="34" charset="0"/>
              <a:buChar char="•"/>
            </a:pPr>
            <a:r>
              <a:rPr lang="en-IN" b="1" dirty="0"/>
              <a:t>Multivariate Trigger Tracking:</a:t>
            </a:r>
            <a:r>
              <a:rPr lang="en-IN" dirty="0"/>
              <a:t> Monitor dynamic lifestyle vectors (dietary load, fatigue, stress, sleep, environment).</a:t>
            </a:r>
          </a:p>
          <a:p>
            <a:pPr lvl="0" algn="just">
              <a:buFont typeface="Arial" panose="020B0604020202020204" pitchFamily="34" charset="0"/>
              <a:buChar char="•"/>
            </a:pPr>
            <a:r>
              <a:rPr lang="en-IN" b="1" dirty="0"/>
              <a:t>Dynamic Probability Modeling:</a:t>
            </a:r>
            <a:r>
              <a:rPr lang="en-IN" dirty="0"/>
              <a:t> Utilize a Discrete Bayesian Belief Network to calculate immediate seizure risk.</a:t>
            </a:r>
          </a:p>
          <a:p>
            <a:pPr lvl="0" algn="just">
              <a:buFont typeface="Arial" panose="020B0604020202020204" pitchFamily="34" charset="0"/>
              <a:buChar char="•"/>
            </a:pPr>
            <a:r>
              <a:rPr lang="en-IN" b="1" dirty="0"/>
              <a:t>Systemic Baseline Integration:</a:t>
            </a:r>
            <a:r>
              <a:rPr lang="en-IN" dirty="0"/>
              <a:t> Map neuro-metabolic triggers to Ayurvedic tri-dosha frameworks (Vata, Pitta, Kapha).</a:t>
            </a:r>
          </a:p>
          <a:p>
            <a:pPr lvl="0" algn="just">
              <a:buFont typeface="Arial" panose="020B0604020202020204" pitchFamily="34" charset="0"/>
              <a:buChar char="•"/>
            </a:pPr>
            <a:r>
              <a:rPr lang="en-IN" b="1" dirty="0"/>
              <a:t>Proactive Early-Warning System:</a:t>
            </a:r>
            <a:r>
              <a:rPr lang="en-IN" dirty="0"/>
              <a:t> Deliver a real-time, confidential dashboard to prevent threshold collapse.</a:t>
            </a:r>
          </a:p>
          <a:p>
            <a:pPr marL="0" lvl="0" indent="0" algn="just" rtl="0">
              <a:lnSpc>
                <a:spcPct val="90000"/>
              </a:lnSpc>
              <a:spcBef>
                <a:spcPts val="0"/>
              </a:spcBef>
              <a:spcAft>
                <a:spcPts val="0"/>
              </a:spcAft>
              <a:buClr>
                <a:srgbClr val="4D4D4C"/>
              </a:buClr>
              <a:buSzPts val="2400"/>
              <a:buNone/>
            </a:pPr>
            <a:endParaRPr dirty="0"/>
          </a:p>
        </p:txBody>
      </p:sp>
    </p:spTree>
    <p:extLst>
      <p:ext uri="{BB962C8B-B14F-4D97-AF65-F5344CB8AC3E}">
        <p14:creationId xmlns:p14="http://schemas.microsoft.com/office/powerpoint/2010/main" val="1643795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C7EF3-CCDE-2317-5DAE-4CE94D05223B}"/>
              </a:ext>
            </a:extLst>
          </p:cNvPr>
          <p:cNvSpPr>
            <a:spLocks noGrp="1"/>
          </p:cNvSpPr>
          <p:nvPr>
            <p:ph type="ctrTitle"/>
          </p:nvPr>
        </p:nvSpPr>
        <p:spPr>
          <a:xfrm>
            <a:off x="817880" y="1122363"/>
            <a:ext cx="10556240" cy="919797"/>
          </a:xfrm>
        </p:spPr>
        <p:txBody>
          <a:bodyPr/>
          <a:lstStyle/>
          <a:p>
            <a:r>
              <a:rPr lang="en-US" dirty="0"/>
              <a:t>Literature Review</a:t>
            </a:r>
            <a:endParaRPr lang="en-IN" dirty="0"/>
          </a:p>
        </p:txBody>
      </p:sp>
      <p:graphicFrame>
        <p:nvGraphicFramePr>
          <p:cNvPr id="5" name="Table 4">
            <a:extLst>
              <a:ext uri="{FF2B5EF4-FFF2-40B4-BE49-F238E27FC236}">
                <a16:creationId xmlns:a16="http://schemas.microsoft.com/office/drawing/2014/main" id="{B55CD14D-1F1F-0E93-CB24-B52F3C203EF0}"/>
              </a:ext>
            </a:extLst>
          </p:cNvPr>
          <p:cNvGraphicFramePr>
            <a:graphicFrameLocks noGrp="1"/>
          </p:cNvGraphicFramePr>
          <p:nvPr>
            <p:extLst>
              <p:ext uri="{D42A27DB-BD31-4B8C-83A1-F6EECF244321}">
                <p14:modId xmlns:p14="http://schemas.microsoft.com/office/powerpoint/2010/main" val="2569159894"/>
              </p:ext>
            </p:extLst>
          </p:nvPr>
        </p:nvGraphicFramePr>
        <p:xfrm>
          <a:off x="817880" y="1995676"/>
          <a:ext cx="10991090" cy="4354323"/>
        </p:xfrm>
        <a:graphic>
          <a:graphicData uri="http://schemas.openxmlformats.org/drawingml/2006/table">
            <a:tbl>
              <a:tblPr firstRow="1" bandRow="1">
                <a:tableStyleId>{5C22544A-7EE6-4342-B048-85BDC9FD1C3A}</a:tableStyleId>
              </a:tblPr>
              <a:tblGrid>
                <a:gridCol w="2198218">
                  <a:extLst>
                    <a:ext uri="{9D8B030D-6E8A-4147-A177-3AD203B41FA5}">
                      <a16:colId xmlns:a16="http://schemas.microsoft.com/office/drawing/2014/main" val="2900828820"/>
                    </a:ext>
                  </a:extLst>
                </a:gridCol>
                <a:gridCol w="2198218">
                  <a:extLst>
                    <a:ext uri="{9D8B030D-6E8A-4147-A177-3AD203B41FA5}">
                      <a16:colId xmlns:a16="http://schemas.microsoft.com/office/drawing/2014/main" val="999714852"/>
                    </a:ext>
                  </a:extLst>
                </a:gridCol>
                <a:gridCol w="2198218">
                  <a:extLst>
                    <a:ext uri="{9D8B030D-6E8A-4147-A177-3AD203B41FA5}">
                      <a16:colId xmlns:a16="http://schemas.microsoft.com/office/drawing/2014/main" val="1895187806"/>
                    </a:ext>
                  </a:extLst>
                </a:gridCol>
                <a:gridCol w="2198218">
                  <a:extLst>
                    <a:ext uri="{9D8B030D-6E8A-4147-A177-3AD203B41FA5}">
                      <a16:colId xmlns:a16="http://schemas.microsoft.com/office/drawing/2014/main" val="2257447910"/>
                    </a:ext>
                  </a:extLst>
                </a:gridCol>
                <a:gridCol w="2198218">
                  <a:extLst>
                    <a:ext uri="{9D8B030D-6E8A-4147-A177-3AD203B41FA5}">
                      <a16:colId xmlns:a16="http://schemas.microsoft.com/office/drawing/2014/main" val="2810748526"/>
                    </a:ext>
                  </a:extLst>
                </a:gridCol>
              </a:tblGrid>
              <a:tr h="64402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Author(s) &amp; Year</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Thematic Group</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Research Objective / Domain</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Methodology / Computational Model</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Key Limitations (The Research Gap)</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extLst>
                  <a:ext uri="{0D108BD9-81ED-4DB2-BD59-A6C34878D82A}">
                    <a16:rowId xmlns:a16="http://schemas.microsoft.com/office/drawing/2014/main" val="2768708435"/>
                  </a:ext>
                </a:extLst>
              </a:tr>
              <a:tr h="170477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1" kern="100" dirty="0">
                          <a:effectLst/>
                        </a:rPr>
                        <a:t>Trabelsi et al. (2026)</a:t>
                      </a:r>
                      <a:endParaRPr lang="en-IN" sz="1400" b="1"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Hardware-Reliant ML &amp; MLOps</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Automating deep learning pipelines for EEG-based epilepsy prediction.</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End-to-end MLOps Framework using CNN-BiLSTM networks.</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algn="ctr"/>
                      <a:r>
                        <a:rPr lang="en-IN" sz="1400" kern="100" dirty="0">
                          <a:effectLst/>
                        </a:rPr>
                        <a:t>Strictly relies on continuous EEG hardware; fails in real-world ambulatory environments due to patient mobility.</a:t>
                      </a:r>
                      <a:endParaRPr lang="en-IN" dirty="0"/>
                    </a:p>
                  </a:txBody>
                  <a:tcPr anchor="ctr"/>
                </a:tc>
                <a:extLst>
                  <a:ext uri="{0D108BD9-81ED-4DB2-BD59-A6C34878D82A}">
                    <a16:rowId xmlns:a16="http://schemas.microsoft.com/office/drawing/2014/main" val="1827198021"/>
                  </a:ext>
                </a:extLst>
              </a:tr>
              <a:tr h="2005526">
                <a:tc>
                  <a:txBody>
                    <a:bodyPr/>
                    <a:lstStyle/>
                    <a:p>
                      <a:pPr marL="0" marR="0" algn="ctr">
                        <a:lnSpc>
                          <a:spcPct val="150000"/>
                        </a:lnSpc>
                        <a:spcAft>
                          <a:spcPts val="800"/>
                        </a:spcAft>
                        <a:buNone/>
                      </a:pPr>
                      <a:r>
                        <a:rPr lang="en-IN" sz="1400" b="1" i="0" u="none" strike="noStrike" kern="100" cap="none" dirty="0">
                          <a:solidFill>
                            <a:schemeClr val="dk1"/>
                          </a:solidFill>
                          <a:effectLst/>
                          <a:latin typeface="+mn-lt"/>
                          <a:ea typeface="+mn-ea"/>
                          <a:cs typeface="+mn-cs"/>
                          <a:sym typeface="Arial"/>
                        </a:rPr>
                        <a:t>Abderrahim et al. (2022)</a:t>
                      </a:r>
                    </a:p>
                  </a:txBody>
                  <a:tcPr marL="68580" marR="68580" marT="0" marB="0" anchor="ctr"/>
                </a:tc>
                <a:tc>
                  <a:txBody>
                    <a:bodyPr/>
                    <a:lstStyle/>
                    <a:p>
                      <a:pPr marL="0" marR="0" algn="ctr">
                        <a:lnSpc>
                          <a:spcPct val="150000"/>
                        </a:lnSpc>
                        <a:spcAft>
                          <a:spcPts val="800"/>
                        </a:spcAft>
                        <a:buNone/>
                      </a:pPr>
                      <a:r>
                        <a:rPr lang="en-IN" sz="1400" b="0" i="0" u="none" strike="noStrike" kern="100" cap="none" dirty="0">
                          <a:solidFill>
                            <a:schemeClr val="dk1"/>
                          </a:solidFill>
                          <a:effectLst/>
                          <a:latin typeface="+mn-lt"/>
                          <a:ea typeface="+mn-ea"/>
                          <a:cs typeface="+mn-cs"/>
                          <a:sym typeface="Arial"/>
                        </a:rPr>
                        <a:t>Hardware-Reliant ML &amp; MLOps</a:t>
                      </a:r>
                    </a:p>
                  </a:txBody>
                  <a:tcPr marL="68580" marR="68580" marT="0" marB="0" anchor="ctr"/>
                </a:tc>
                <a:tc>
                  <a:txBody>
                    <a:bodyPr/>
                    <a:lstStyle/>
                    <a:p>
                      <a:pPr marL="0" marR="0" algn="ctr">
                        <a:lnSpc>
                          <a:spcPct val="150000"/>
                        </a:lnSpc>
                        <a:spcAft>
                          <a:spcPts val="800"/>
                        </a:spcAft>
                        <a:buNone/>
                      </a:pPr>
                      <a:r>
                        <a:rPr lang="en-IN" sz="1400" b="0" i="0" u="none" strike="noStrike" kern="100" cap="none" dirty="0">
                          <a:solidFill>
                            <a:schemeClr val="dk1"/>
                          </a:solidFill>
                          <a:effectLst/>
                          <a:latin typeface="+mn-lt"/>
                          <a:ea typeface="+mn-ea"/>
                          <a:cs typeface="+mn-cs"/>
                          <a:sym typeface="Arial"/>
                        </a:rPr>
                        <a:t>Seizure prediction using intracranial brainwave signals.</a:t>
                      </a:r>
                    </a:p>
                  </a:txBody>
                  <a:tcPr marL="68580" marR="68580" marT="0" marB="0" anchor="ctr"/>
                </a:tc>
                <a:tc>
                  <a:txBody>
                    <a:bodyPr/>
                    <a:lstStyle/>
                    <a:p>
                      <a:pPr marL="0" marR="0" algn="ctr">
                        <a:lnSpc>
                          <a:spcPct val="150000"/>
                        </a:lnSpc>
                        <a:spcAft>
                          <a:spcPts val="800"/>
                        </a:spcAft>
                        <a:buNone/>
                      </a:pPr>
                      <a:r>
                        <a:rPr lang="en-IN" sz="1400" b="0" i="0" u="none" strike="noStrike" kern="100" cap="none" dirty="0">
                          <a:solidFill>
                            <a:schemeClr val="dk1"/>
                          </a:solidFill>
                          <a:effectLst/>
                          <a:latin typeface="+mn-lt"/>
                          <a:ea typeface="+mn-ea"/>
                          <a:cs typeface="+mn-cs"/>
                          <a:sym typeface="Arial"/>
                        </a:rPr>
                        <a:t>Deep Learning Convolutional Neural Networks (CNNs).</a:t>
                      </a:r>
                    </a:p>
                  </a:txBody>
                  <a:tcPr marL="68580" marR="68580" marT="0" marB="0" anchor="ctr"/>
                </a:tc>
                <a:tc>
                  <a:txBody>
                    <a:bodyPr/>
                    <a:lstStyle/>
                    <a:p>
                      <a:pPr marL="0" marR="0" algn="ctr">
                        <a:lnSpc>
                          <a:spcPct val="150000"/>
                        </a:lnSpc>
                        <a:spcAft>
                          <a:spcPts val="800"/>
                        </a:spcAft>
                        <a:buNone/>
                      </a:pPr>
                      <a:r>
                        <a:rPr lang="en-IN" sz="1400" b="0" i="0" u="none" strike="noStrike" kern="100" cap="none" dirty="0">
                          <a:solidFill>
                            <a:schemeClr val="dk1"/>
                          </a:solidFill>
                          <a:effectLst/>
                          <a:latin typeface="+mn-lt"/>
                          <a:ea typeface="+mn-ea"/>
                          <a:cs typeface="+mn-cs"/>
                          <a:sym typeface="Arial"/>
                        </a:rPr>
                        <a:t>Highly invasive (intracranial electrodes); acts as a "black box" model without transparent clinical reasoning.</a:t>
                      </a:r>
                    </a:p>
                  </a:txBody>
                  <a:tcPr marL="68580" marR="68580" marT="0" marB="0" anchor="ctr"/>
                </a:tc>
                <a:extLst>
                  <a:ext uri="{0D108BD9-81ED-4DB2-BD59-A6C34878D82A}">
                    <a16:rowId xmlns:a16="http://schemas.microsoft.com/office/drawing/2014/main" val="1320305709"/>
                  </a:ext>
                </a:extLst>
              </a:tr>
            </a:tbl>
          </a:graphicData>
        </a:graphic>
      </p:graphicFrame>
    </p:spTree>
    <p:extLst>
      <p:ext uri="{BB962C8B-B14F-4D97-AF65-F5344CB8AC3E}">
        <p14:creationId xmlns:p14="http://schemas.microsoft.com/office/powerpoint/2010/main" val="1733095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AF337-A083-DCD5-3565-137A042A03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6607C-B26D-737E-77D2-BA04A26EFDE3}"/>
              </a:ext>
            </a:extLst>
          </p:cNvPr>
          <p:cNvSpPr>
            <a:spLocks noGrp="1"/>
          </p:cNvSpPr>
          <p:nvPr>
            <p:ph type="ctrTitle"/>
          </p:nvPr>
        </p:nvSpPr>
        <p:spPr>
          <a:xfrm>
            <a:off x="817880" y="1122363"/>
            <a:ext cx="10556240" cy="919797"/>
          </a:xfrm>
        </p:spPr>
        <p:txBody>
          <a:bodyPr/>
          <a:lstStyle/>
          <a:p>
            <a:r>
              <a:rPr lang="en-US" dirty="0"/>
              <a:t>Literature Review</a:t>
            </a:r>
            <a:endParaRPr lang="en-IN" dirty="0"/>
          </a:p>
        </p:txBody>
      </p:sp>
      <p:graphicFrame>
        <p:nvGraphicFramePr>
          <p:cNvPr id="5" name="Table 4">
            <a:extLst>
              <a:ext uri="{FF2B5EF4-FFF2-40B4-BE49-F238E27FC236}">
                <a16:creationId xmlns:a16="http://schemas.microsoft.com/office/drawing/2014/main" id="{30F803A1-071B-7B6E-950B-53A17C60D1A7}"/>
              </a:ext>
            </a:extLst>
          </p:cNvPr>
          <p:cNvGraphicFramePr>
            <a:graphicFrameLocks noGrp="1"/>
          </p:cNvGraphicFramePr>
          <p:nvPr>
            <p:extLst>
              <p:ext uri="{D42A27DB-BD31-4B8C-83A1-F6EECF244321}">
                <p14:modId xmlns:p14="http://schemas.microsoft.com/office/powerpoint/2010/main" val="1932511646"/>
              </p:ext>
            </p:extLst>
          </p:nvPr>
        </p:nvGraphicFramePr>
        <p:xfrm>
          <a:off x="817880" y="1965196"/>
          <a:ext cx="10991090" cy="4352545"/>
        </p:xfrm>
        <a:graphic>
          <a:graphicData uri="http://schemas.openxmlformats.org/drawingml/2006/table">
            <a:tbl>
              <a:tblPr firstRow="1" bandRow="1">
                <a:tableStyleId>{5C22544A-7EE6-4342-B048-85BDC9FD1C3A}</a:tableStyleId>
              </a:tblPr>
              <a:tblGrid>
                <a:gridCol w="2198218">
                  <a:extLst>
                    <a:ext uri="{9D8B030D-6E8A-4147-A177-3AD203B41FA5}">
                      <a16:colId xmlns:a16="http://schemas.microsoft.com/office/drawing/2014/main" val="2900828820"/>
                    </a:ext>
                  </a:extLst>
                </a:gridCol>
                <a:gridCol w="2198218">
                  <a:extLst>
                    <a:ext uri="{9D8B030D-6E8A-4147-A177-3AD203B41FA5}">
                      <a16:colId xmlns:a16="http://schemas.microsoft.com/office/drawing/2014/main" val="999714852"/>
                    </a:ext>
                  </a:extLst>
                </a:gridCol>
                <a:gridCol w="2198218">
                  <a:extLst>
                    <a:ext uri="{9D8B030D-6E8A-4147-A177-3AD203B41FA5}">
                      <a16:colId xmlns:a16="http://schemas.microsoft.com/office/drawing/2014/main" val="1895187806"/>
                    </a:ext>
                  </a:extLst>
                </a:gridCol>
                <a:gridCol w="2198218">
                  <a:extLst>
                    <a:ext uri="{9D8B030D-6E8A-4147-A177-3AD203B41FA5}">
                      <a16:colId xmlns:a16="http://schemas.microsoft.com/office/drawing/2014/main" val="2257447910"/>
                    </a:ext>
                  </a:extLst>
                </a:gridCol>
                <a:gridCol w="2198218">
                  <a:extLst>
                    <a:ext uri="{9D8B030D-6E8A-4147-A177-3AD203B41FA5}">
                      <a16:colId xmlns:a16="http://schemas.microsoft.com/office/drawing/2014/main" val="2810748526"/>
                    </a:ext>
                  </a:extLst>
                </a:gridCol>
              </a:tblGrid>
              <a:tr h="7029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12Author(s) &amp; Year</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Thematic Group</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Research Objective / Domain</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Methodology / Computational Model</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Key Limitations (The Research Gap)</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extLst>
                  <a:ext uri="{0D108BD9-81ED-4DB2-BD59-A6C34878D82A}">
                    <a16:rowId xmlns:a16="http://schemas.microsoft.com/office/drawing/2014/main" val="2768708435"/>
                  </a:ext>
                </a:extLst>
              </a:tr>
              <a:tr h="1824816">
                <a:tc>
                  <a:txBody>
                    <a:bodyPr/>
                    <a:lstStyle/>
                    <a:p>
                      <a:pPr marL="0" marR="0" algn="ctr">
                        <a:lnSpc>
                          <a:spcPct val="150000"/>
                        </a:lnSpc>
                        <a:spcAft>
                          <a:spcPts val="800"/>
                        </a:spcAft>
                        <a:buNone/>
                      </a:pPr>
                      <a:r>
                        <a:rPr lang="en-IN" sz="1400" b="1" i="0" u="none" strike="noStrike" kern="100" cap="none" dirty="0">
                          <a:solidFill>
                            <a:schemeClr val="dk1"/>
                          </a:solidFill>
                          <a:effectLst/>
                          <a:latin typeface="+mn-lt"/>
                          <a:ea typeface="+mn-ea"/>
                          <a:cs typeface="+mn-cs"/>
                          <a:sym typeface="Arial"/>
                        </a:rPr>
                        <a:t>Rojas-López et al. (2026)</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kern="100" cap="none" dirty="0">
                          <a:solidFill>
                            <a:schemeClr val="dk1"/>
                          </a:solidFill>
                          <a:effectLst/>
                          <a:latin typeface="+mn-lt"/>
                          <a:ea typeface="+mn-ea"/>
                          <a:cs typeface="+mn-cs"/>
                          <a:sym typeface="Arial"/>
                        </a:rPr>
                        <a:t>Psychosocial &amp; Trigger Diagnostics</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kern="100" cap="none" dirty="0">
                          <a:solidFill>
                            <a:schemeClr val="dk1"/>
                          </a:solidFill>
                          <a:effectLst/>
                          <a:latin typeface="+mn-lt"/>
                          <a:ea typeface="+mn-ea"/>
                          <a:cs typeface="+mn-cs"/>
                          <a:sym typeface="Arial"/>
                        </a:rPr>
                        <a:t>Evaluating psychiatric comorbidities (depression/anxiety) in adult epilepsy.</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kern="100" cap="none" dirty="0">
                          <a:solidFill>
                            <a:schemeClr val="dk1"/>
                          </a:solidFill>
                          <a:effectLst/>
                          <a:latin typeface="+mn-lt"/>
                          <a:ea typeface="+mn-ea"/>
                          <a:cs typeface="+mn-cs"/>
                          <a:sym typeface="Arial"/>
                        </a:rPr>
                        <a:t>Systematic Review and Meta-Analysis.</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kern="100" cap="none">
                          <a:solidFill>
                            <a:schemeClr val="dk1"/>
                          </a:solidFill>
                          <a:effectLst/>
                          <a:latin typeface="+mn-lt"/>
                          <a:ea typeface="+mn-ea"/>
                          <a:cs typeface="+mn-cs"/>
                          <a:sym typeface="Arial"/>
                        </a:rPr>
                        <a:t>Highlights that psychosocial stress actively triggers events, but offers no computational framework to track this stress daily.</a:t>
                      </a:r>
                    </a:p>
                  </a:txBody>
                  <a:tcPr marL="68580" marR="68580" marT="0" marB="0" anchor="ctr"/>
                </a:tc>
                <a:extLst>
                  <a:ext uri="{0D108BD9-81ED-4DB2-BD59-A6C34878D82A}">
                    <a16:rowId xmlns:a16="http://schemas.microsoft.com/office/drawing/2014/main" val="2067639457"/>
                  </a:ext>
                </a:extLst>
              </a:tr>
              <a:tr h="1824816">
                <a:tc>
                  <a:txBody>
                    <a:bodyPr/>
                    <a:lstStyle/>
                    <a:p>
                      <a:pPr marL="0" marR="0" algn="ctr">
                        <a:lnSpc>
                          <a:spcPct val="150000"/>
                        </a:lnSpc>
                        <a:spcAft>
                          <a:spcPts val="800"/>
                        </a:spcAft>
                        <a:buNone/>
                      </a:pPr>
                      <a:r>
                        <a:rPr lang="en-IN" sz="1400" b="1" i="0" u="none" strike="noStrike" kern="100" cap="none" dirty="0">
                          <a:solidFill>
                            <a:schemeClr val="dk1"/>
                          </a:solidFill>
                          <a:effectLst/>
                          <a:latin typeface="+mn-lt"/>
                          <a:ea typeface="+mn-ea"/>
                          <a:cs typeface="+mn-cs"/>
                          <a:sym typeface="Arial"/>
                        </a:rPr>
                        <a:t>Braga et al. (2020)</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kern="100" cap="none">
                          <a:solidFill>
                            <a:schemeClr val="dk1"/>
                          </a:solidFill>
                          <a:effectLst/>
                          <a:latin typeface="+mn-lt"/>
                          <a:ea typeface="+mn-ea"/>
                          <a:cs typeface="+mn-cs"/>
                          <a:sym typeface="Arial"/>
                        </a:rPr>
                        <a:t>Psychosocial &amp; Trigger Diagnostics</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kern="100" cap="none">
                          <a:solidFill>
                            <a:schemeClr val="dk1"/>
                          </a:solidFill>
                          <a:effectLst/>
                          <a:latin typeface="+mn-lt"/>
                          <a:ea typeface="+mn-ea"/>
                          <a:cs typeface="+mn-cs"/>
                          <a:sym typeface="Arial"/>
                        </a:rPr>
                        <a:t>Assessing the cultural stigma, fear, and psychosocial consequences of epilepsy.</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kern="100" cap="none" dirty="0">
                          <a:solidFill>
                            <a:schemeClr val="dk1"/>
                          </a:solidFill>
                          <a:effectLst/>
                          <a:latin typeface="+mn-lt"/>
                          <a:ea typeface="+mn-ea"/>
                          <a:cs typeface="+mn-cs"/>
                          <a:sym typeface="Arial"/>
                        </a:rPr>
                        <a:t>Qualitative Review &amp; Analysis.</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kern="100" cap="none" dirty="0">
                          <a:solidFill>
                            <a:schemeClr val="dk1"/>
                          </a:solidFill>
                          <a:effectLst/>
                          <a:latin typeface="+mn-lt"/>
                          <a:ea typeface="+mn-ea"/>
                          <a:cs typeface="+mn-cs"/>
                          <a:sym typeface="Arial"/>
                        </a:rPr>
                        <a:t>Proves the intense quality-of-life impact of unpredictability but lacks a predictive software solution to empower patients.</a:t>
                      </a:r>
                    </a:p>
                  </a:txBody>
                  <a:tcPr marL="68580" marR="68580" marT="0" marB="0" anchor="ctr"/>
                </a:tc>
                <a:extLst>
                  <a:ext uri="{0D108BD9-81ED-4DB2-BD59-A6C34878D82A}">
                    <a16:rowId xmlns:a16="http://schemas.microsoft.com/office/drawing/2014/main" val="1320305709"/>
                  </a:ext>
                </a:extLst>
              </a:tr>
            </a:tbl>
          </a:graphicData>
        </a:graphic>
      </p:graphicFrame>
    </p:spTree>
    <p:extLst>
      <p:ext uri="{BB962C8B-B14F-4D97-AF65-F5344CB8AC3E}">
        <p14:creationId xmlns:p14="http://schemas.microsoft.com/office/powerpoint/2010/main" val="703782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43979-2038-9C98-3E51-48A3FCEBE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73DBA-D224-BEAB-0B30-C500D9140916}"/>
              </a:ext>
            </a:extLst>
          </p:cNvPr>
          <p:cNvSpPr>
            <a:spLocks noGrp="1"/>
          </p:cNvSpPr>
          <p:nvPr>
            <p:ph type="ctrTitle"/>
          </p:nvPr>
        </p:nvSpPr>
        <p:spPr>
          <a:xfrm>
            <a:off x="817880" y="1122363"/>
            <a:ext cx="10556240" cy="919797"/>
          </a:xfrm>
        </p:spPr>
        <p:txBody>
          <a:bodyPr/>
          <a:lstStyle/>
          <a:p>
            <a:r>
              <a:rPr lang="en-US" dirty="0"/>
              <a:t>Literature Review</a:t>
            </a:r>
            <a:endParaRPr lang="en-IN" dirty="0"/>
          </a:p>
        </p:txBody>
      </p:sp>
      <p:graphicFrame>
        <p:nvGraphicFramePr>
          <p:cNvPr id="5" name="Table 4">
            <a:extLst>
              <a:ext uri="{FF2B5EF4-FFF2-40B4-BE49-F238E27FC236}">
                <a16:creationId xmlns:a16="http://schemas.microsoft.com/office/drawing/2014/main" id="{22FDAE2E-3B8B-621A-667F-2CF406A040DF}"/>
              </a:ext>
            </a:extLst>
          </p:cNvPr>
          <p:cNvGraphicFramePr>
            <a:graphicFrameLocks noGrp="1"/>
          </p:cNvGraphicFramePr>
          <p:nvPr>
            <p:extLst>
              <p:ext uri="{D42A27DB-BD31-4B8C-83A1-F6EECF244321}">
                <p14:modId xmlns:p14="http://schemas.microsoft.com/office/powerpoint/2010/main" val="3538628134"/>
              </p:ext>
            </p:extLst>
          </p:nvPr>
        </p:nvGraphicFramePr>
        <p:xfrm>
          <a:off x="817880" y="1991361"/>
          <a:ext cx="10988040" cy="4352129"/>
        </p:xfrm>
        <a:graphic>
          <a:graphicData uri="http://schemas.openxmlformats.org/drawingml/2006/table">
            <a:tbl>
              <a:tblPr firstRow="1" bandRow="1">
                <a:tableStyleId>{5C22544A-7EE6-4342-B048-85BDC9FD1C3A}</a:tableStyleId>
              </a:tblPr>
              <a:tblGrid>
                <a:gridCol w="2197608">
                  <a:extLst>
                    <a:ext uri="{9D8B030D-6E8A-4147-A177-3AD203B41FA5}">
                      <a16:colId xmlns:a16="http://schemas.microsoft.com/office/drawing/2014/main" val="2900828820"/>
                    </a:ext>
                  </a:extLst>
                </a:gridCol>
                <a:gridCol w="2197608">
                  <a:extLst>
                    <a:ext uri="{9D8B030D-6E8A-4147-A177-3AD203B41FA5}">
                      <a16:colId xmlns:a16="http://schemas.microsoft.com/office/drawing/2014/main" val="999714852"/>
                    </a:ext>
                  </a:extLst>
                </a:gridCol>
                <a:gridCol w="2197608">
                  <a:extLst>
                    <a:ext uri="{9D8B030D-6E8A-4147-A177-3AD203B41FA5}">
                      <a16:colId xmlns:a16="http://schemas.microsoft.com/office/drawing/2014/main" val="1895187806"/>
                    </a:ext>
                  </a:extLst>
                </a:gridCol>
                <a:gridCol w="2197608">
                  <a:extLst>
                    <a:ext uri="{9D8B030D-6E8A-4147-A177-3AD203B41FA5}">
                      <a16:colId xmlns:a16="http://schemas.microsoft.com/office/drawing/2014/main" val="2257447910"/>
                    </a:ext>
                  </a:extLst>
                </a:gridCol>
                <a:gridCol w="2197608">
                  <a:extLst>
                    <a:ext uri="{9D8B030D-6E8A-4147-A177-3AD203B41FA5}">
                      <a16:colId xmlns:a16="http://schemas.microsoft.com/office/drawing/2014/main" val="2810748526"/>
                    </a:ext>
                  </a:extLst>
                </a:gridCol>
              </a:tblGrid>
              <a:tr h="59076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Author(s) &amp; Year</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Thematic Group</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Research Objective / Domain</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Methodology / Computational Model</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Key Limitations (The Research Gap)</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extLst>
                  <a:ext uri="{0D108BD9-81ED-4DB2-BD59-A6C34878D82A}">
                    <a16:rowId xmlns:a16="http://schemas.microsoft.com/office/drawing/2014/main" val="2768708435"/>
                  </a:ext>
                </a:extLst>
              </a:tr>
              <a:tr h="2174807">
                <a:tc>
                  <a:txBody>
                    <a:bodyPr/>
                    <a:lstStyle/>
                    <a:p>
                      <a:pPr marL="0" marR="0" algn="ctr">
                        <a:lnSpc>
                          <a:spcPct val="150000"/>
                        </a:lnSpc>
                        <a:spcAft>
                          <a:spcPts val="800"/>
                        </a:spcAft>
                        <a:buNone/>
                      </a:pPr>
                      <a:r>
                        <a:rPr lang="en-IN" sz="1400" b="1" i="0" u="none" strike="noStrike" kern="100" cap="none" dirty="0">
                          <a:solidFill>
                            <a:schemeClr val="dk1"/>
                          </a:solidFill>
                          <a:effectLst/>
                          <a:latin typeface="+mn-lt"/>
                          <a:ea typeface="+mn-ea"/>
                          <a:cs typeface="+mn-cs"/>
                          <a:sym typeface="Arial"/>
                        </a:rPr>
                        <a:t>Gui et al. (2025)</a:t>
                      </a:r>
                    </a:p>
                  </a:txBody>
                  <a:tcPr marL="68580" marR="68580" marT="0" marB="0" anchor="ctr"/>
                </a:tc>
                <a:tc>
                  <a:txBody>
                    <a:bodyPr/>
                    <a:lstStyle/>
                    <a:p>
                      <a:pPr marL="0" marR="0" algn="ctr">
                        <a:lnSpc>
                          <a:spcPct val="150000"/>
                        </a:lnSpc>
                        <a:spcAft>
                          <a:spcPts val="800"/>
                        </a:spcAft>
                        <a:buNone/>
                      </a:pPr>
                      <a:r>
                        <a:rPr lang="en-IN" sz="1400" b="0" i="0" u="none" strike="noStrike" cap="none" dirty="0">
                          <a:solidFill>
                            <a:schemeClr val="dk1"/>
                          </a:solidFill>
                          <a:effectLst/>
                          <a:latin typeface="+mn-lt"/>
                          <a:ea typeface="+mn-ea"/>
                          <a:cs typeface="+mn-cs"/>
                          <a:sym typeface="Arial"/>
                        </a:rPr>
                        <a:t>Psychosocial &amp; Trigger Diagnostics</a:t>
                      </a:r>
                    </a:p>
                  </a:txBody>
                  <a:tcPr marL="68580" marR="68580" marT="0" marB="0" anchor="ctr"/>
                </a:tc>
                <a:tc>
                  <a:txBody>
                    <a:bodyPr/>
                    <a:lstStyle/>
                    <a:p>
                      <a:pPr marL="0" marR="0" algn="ctr">
                        <a:lnSpc>
                          <a:spcPct val="150000"/>
                        </a:lnSpc>
                        <a:spcAft>
                          <a:spcPts val="800"/>
                        </a:spcAft>
                        <a:buNone/>
                      </a:pPr>
                      <a:r>
                        <a:rPr lang="en-IN" sz="1400" b="0" i="0" u="none" strike="noStrike" cap="none" dirty="0" err="1">
                          <a:solidFill>
                            <a:schemeClr val="dk1"/>
                          </a:solidFill>
                          <a:effectLst/>
                          <a:latin typeface="+mn-lt"/>
                          <a:ea typeface="+mn-ea"/>
                          <a:cs typeface="+mn-cs"/>
                          <a:sym typeface="Arial"/>
                        </a:rPr>
                        <a:t>Analyzing</a:t>
                      </a:r>
                      <a:r>
                        <a:rPr lang="en-IN" sz="1400" b="0" i="0" u="none" strike="noStrike" cap="none" dirty="0">
                          <a:solidFill>
                            <a:schemeClr val="dk1"/>
                          </a:solidFill>
                          <a:effectLst/>
                          <a:latin typeface="+mn-lt"/>
                          <a:ea typeface="+mn-ea"/>
                          <a:cs typeface="+mn-cs"/>
                          <a:sym typeface="Arial"/>
                        </a:rPr>
                        <a:t> psychiatric adverse events resulting from antiseizure medication.</a:t>
                      </a:r>
                    </a:p>
                  </a:txBody>
                  <a:tcPr marL="68580" marR="68580" marT="0" marB="0" anchor="ctr"/>
                </a:tc>
                <a:tc>
                  <a:txBody>
                    <a:bodyPr/>
                    <a:lstStyle/>
                    <a:p>
                      <a:pPr marL="0" marR="0" algn="ctr">
                        <a:lnSpc>
                          <a:spcPct val="150000"/>
                        </a:lnSpc>
                        <a:spcAft>
                          <a:spcPts val="800"/>
                        </a:spcAft>
                        <a:buNone/>
                      </a:pPr>
                      <a:r>
                        <a:rPr lang="en-IN" sz="1400" b="0" i="0" u="none" strike="noStrike" cap="none" dirty="0">
                          <a:solidFill>
                            <a:schemeClr val="dk1"/>
                          </a:solidFill>
                          <a:effectLst/>
                          <a:latin typeface="+mn-lt"/>
                          <a:ea typeface="+mn-ea"/>
                          <a:cs typeface="+mn-cs"/>
                          <a:sym typeface="Arial"/>
                        </a:rPr>
                        <a:t>Statistical signal detection (FAERS database analysis).</a:t>
                      </a:r>
                    </a:p>
                  </a:txBody>
                  <a:tcPr marL="68580" marR="68580" marT="0" marB="0" anchor="ctr"/>
                </a:tc>
                <a:tc>
                  <a:txBody>
                    <a:bodyPr/>
                    <a:lstStyle/>
                    <a:p>
                      <a:pPr marL="0" marR="0" algn="ctr">
                        <a:lnSpc>
                          <a:spcPct val="150000"/>
                        </a:lnSpc>
                        <a:spcAft>
                          <a:spcPts val="800"/>
                        </a:spcAft>
                        <a:buNone/>
                      </a:pPr>
                      <a:r>
                        <a:rPr lang="en-IN" sz="1400" b="0" i="0" u="none" strike="noStrike" cap="none" dirty="0">
                          <a:solidFill>
                            <a:schemeClr val="dk1"/>
                          </a:solidFill>
                          <a:effectLst/>
                          <a:latin typeface="+mn-lt"/>
                          <a:ea typeface="+mn-ea"/>
                          <a:cs typeface="+mn-cs"/>
                          <a:sym typeface="Arial"/>
                        </a:rPr>
                        <a:t>Demonstrates the negative psychiatric impact of chemical medications, reinforcing the need for non-pharmacological lifestyle tracking.</a:t>
                      </a:r>
                    </a:p>
                  </a:txBody>
                  <a:tcPr marL="68580" marR="68580" marT="0" marB="0" anchor="ctr"/>
                </a:tc>
                <a:extLst>
                  <a:ext uri="{0D108BD9-81ED-4DB2-BD59-A6C34878D82A}">
                    <a16:rowId xmlns:a16="http://schemas.microsoft.com/office/drawing/2014/main" val="426692274"/>
                  </a:ext>
                </a:extLst>
              </a:tr>
              <a:tr h="154226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strike="noStrike" kern="100" cap="none" dirty="0">
                          <a:solidFill>
                            <a:schemeClr val="dk1"/>
                          </a:solidFill>
                          <a:effectLst/>
                          <a:latin typeface="+mn-lt"/>
                          <a:ea typeface="+mn-ea"/>
                          <a:cs typeface="+mn-cs"/>
                          <a:sym typeface="Arial"/>
                        </a:rPr>
                        <a:t>Dwivedi et al. (2024)</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dirty="0">
                          <a:solidFill>
                            <a:schemeClr val="dk1"/>
                          </a:solidFill>
                          <a:effectLst/>
                          <a:latin typeface="+mn-lt"/>
                          <a:ea typeface="+mn-ea"/>
                          <a:cs typeface="+mn-cs"/>
                          <a:sym typeface="Arial"/>
                        </a:rPr>
                        <a:t>Integrative Baselines (Ayurveda)</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dirty="0">
                          <a:solidFill>
                            <a:schemeClr val="dk1"/>
                          </a:solidFill>
                          <a:effectLst/>
                          <a:latin typeface="+mn-lt"/>
                          <a:ea typeface="+mn-ea"/>
                          <a:cs typeface="+mn-cs"/>
                          <a:sym typeface="Arial"/>
                        </a:rPr>
                        <a:t>Mapping neurological disorders to Ayurvedic baselines.</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dirty="0">
                          <a:solidFill>
                            <a:schemeClr val="dk1"/>
                          </a:solidFill>
                          <a:effectLst/>
                          <a:latin typeface="+mn-lt"/>
                          <a:ea typeface="+mn-ea"/>
                          <a:cs typeface="+mn-cs"/>
                          <a:sym typeface="Arial"/>
                        </a:rPr>
                        <a:t>Machine Learning classification mapping to the </a:t>
                      </a:r>
                      <a:r>
                        <a:rPr lang="en-IN" sz="1400" b="0" i="1" u="none" strike="noStrike" cap="none" dirty="0">
                          <a:solidFill>
                            <a:schemeClr val="dk1"/>
                          </a:solidFill>
                          <a:effectLst/>
                          <a:latin typeface="+mn-lt"/>
                          <a:ea typeface="+mn-ea"/>
                          <a:cs typeface="+mn-cs"/>
                          <a:sym typeface="Arial"/>
                        </a:rPr>
                        <a:t>Vata</a:t>
                      </a:r>
                      <a:r>
                        <a:rPr lang="en-IN" sz="1400" b="0" i="0" u="none" strike="noStrike" cap="none" dirty="0">
                          <a:solidFill>
                            <a:schemeClr val="dk1"/>
                          </a:solidFill>
                          <a:effectLst/>
                          <a:latin typeface="+mn-lt"/>
                          <a:ea typeface="+mn-ea"/>
                          <a:cs typeface="+mn-cs"/>
                          <a:sym typeface="Arial"/>
                        </a:rPr>
                        <a:t> Dosha.</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algn="ctr">
                        <a:lnSpc>
                          <a:spcPct val="150000"/>
                        </a:lnSpc>
                        <a:spcAft>
                          <a:spcPts val="800"/>
                        </a:spcAft>
                        <a:buNone/>
                      </a:pPr>
                      <a:r>
                        <a:rPr lang="en-IN" sz="1400" b="0" i="0" u="none" strike="noStrike" kern="100" cap="none" dirty="0">
                          <a:solidFill>
                            <a:schemeClr val="dk1"/>
                          </a:solidFill>
                          <a:effectLst/>
                          <a:latin typeface="+mn-lt"/>
                          <a:ea typeface="+mn-ea"/>
                          <a:cs typeface="+mn-cs"/>
                          <a:sym typeface="Arial"/>
                        </a:rPr>
                        <a:t>Validates that Doshas can be digitized via ML, but lacks a dynamic time-series forecasting engine for daily trigger tracking.</a:t>
                      </a:r>
                    </a:p>
                  </a:txBody>
                  <a:tcPr marL="68580" marR="68580" marT="0" marB="0" anchor="ctr"/>
                </a:tc>
                <a:extLst>
                  <a:ext uri="{0D108BD9-81ED-4DB2-BD59-A6C34878D82A}">
                    <a16:rowId xmlns:a16="http://schemas.microsoft.com/office/drawing/2014/main" val="2067639457"/>
                  </a:ext>
                </a:extLst>
              </a:tr>
            </a:tbl>
          </a:graphicData>
        </a:graphic>
      </p:graphicFrame>
    </p:spTree>
    <p:extLst>
      <p:ext uri="{BB962C8B-B14F-4D97-AF65-F5344CB8AC3E}">
        <p14:creationId xmlns:p14="http://schemas.microsoft.com/office/powerpoint/2010/main" val="1534267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708B9-533C-D4EB-843A-7A169609D3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1267E-93C2-A513-5A20-B8054067F92C}"/>
              </a:ext>
            </a:extLst>
          </p:cNvPr>
          <p:cNvSpPr>
            <a:spLocks noGrp="1"/>
          </p:cNvSpPr>
          <p:nvPr>
            <p:ph type="ctrTitle"/>
          </p:nvPr>
        </p:nvSpPr>
        <p:spPr>
          <a:xfrm>
            <a:off x="817880" y="1122363"/>
            <a:ext cx="10556240" cy="919797"/>
          </a:xfrm>
        </p:spPr>
        <p:txBody>
          <a:bodyPr/>
          <a:lstStyle/>
          <a:p>
            <a:r>
              <a:rPr lang="en-US" dirty="0"/>
              <a:t>Literature Review</a:t>
            </a:r>
            <a:endParaRPr lang="en-IN" dirty="0"/>
          </a:p>
        </p:txBody>
      </p:sp>
      <p:graphicFrame>
        <p:nvGraphicFramePr>
          <p:cNvPr id="5" name="Table 4">
            <a:extLst>
              <a:ext uri="{FF2B5EF4-FFF2-40B4-BE49-F238E27FC236}">
                <a16:creationId xmlns:a16="http://schemas.microsoft.com/office/drawing/2014/main" id="{38B6B011-2E90-343A-038C-A2C0A4F5CFAA}"/>
              </a:ext>
            </a:extLst>
          </p:cNvPr>
          <p:cNvGraphicFramePr>
            <a:graphicFrameLocks noGrp="1"/>
          </p:cNvGraphicFramePr>
          <p:nvPr>
            <p:extLst>
              <p:ext uri="{D42A27DB-BD31-4B8C-83A1-F6EECF244321}">
                <p14:modId xmlns:p14="http://schemas.microsoft.com/office/powerpoint/2010/main" val="1265031627"/>
              </p:ext>
            </p:extLst>
          </p:nvPr>
        </p:nvGraphicFramePr>
        <p:xfrm>
          <a:off x="817880" y="1991360"/>
          <a:ext cx="10991090" cy="4352543"/>
        </p:xfrm>
        <a:graphic>
          <a:graphicData uri="http://schemas.openxmlformats.org/drawingml/2006/table">
            <a:tbl>
              <a:tblPr firstRow="1" bandRow="1">
                <a:tableStyleId>{5C22544A-7EE6-4342-B048-85BDC9FD1C3A}</a:tableStyleId>
              </a:tblPr>
              <a:tblGrid>
                <a:gridCol w="2198218">
                  <a:extLst>
                    <a:ext uri="{9D8B030D-6E8A-4147-A177-3AD203B41FA5}">
                      <a16:colId xmlns:a16="http://schemas.microsoft.com/office/drawing/2014/main" val="2900828820"/>
                    </a:ext>
                  </a:extLst>
                </a:gridCol>
                <a:gridCol w="2198218">
                  <a:extLst>
                    <a:ext uri="{9D8B030D-6E8A-4147-A177-3AD203B41FA5}">
                      <a16:colId xmlns:a16="http://schemas.microsoft.com/office/drawing/2014/main" val="999714852"/>
                    </a:ext>
                  </a:extLst>
                </a:gridCol>
                <a:gridCol w="2198218">
                  <a:extLst>
                    <a:ext uri="{9D8B030D-6E8A-4147-A177-3AD203B41FA5}">
                      <a16:colId xmlns:a16="http://schemas.microsoft.com/office/drawing/2014/main" val="1895187806"/>
                    </a:ext>
                  </a:extLst>
                </a:gridCol>
                <a:gridCol w="2198218">
                  <a:extLst>
                    <a:ext uri="{9D8B030D-6E8A-4147-A177-3AD203B41FA5}">
                      <a16:colId xmlns:a16="http://schemas.microsoft.com/office/drawing/2014/main" val="2257447910"/>
                    </a:ext>
                  </a:extLst>
                </a:gridCol>
                <a:gridCol w="2198218">
                  <a:extLst>
                    <a:ext uri="{9D8B030D-6E8A-4147-A177-3AD203B41FA5}">
                      <a16:colId xmlns:a16="http://schemas.microsoft.com/office/drawing/2014/main" val="2810748526"/>
                    </a:ext>
                  </a:extLst>
                </a:gridCol>
              </a:tblGrid>
              <a:tr h="6284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Author(s) &amp; Year</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Thematic Group</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Research Objective / Domain</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Methodology / Computational Model</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Key Limitations (The Research Gap)</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extLst>
                  <a:ext uri="{0D108BD9-81ED-4DB2-BD59-A6C34878D82A}">
                    <a16:rowId xmlns:a16="http://schemas.microsoft.com/office/drawing/2014/main" val="2768708435"/>
                  </a:ext>
                </a:extLst>
              </a:tr>
              <a:tr h="1767028">
                <a:tc>
                  <a:txBody>
                    <a:bodyPr/>
                    <a:lstStyle/>
                    <a:p>
                      <a:pPr marL="0" marR="0" algn="ctr">
                        <a:lnSpc>
                          <a:spcPct val="150000"/>
                        </a:lnSpc>
                        <a:spcAft>
                          <a:spcPts val="800"/>
                        </a:spcAft>
                        <a:buNone/>
                      </a:pPr>
                      <a:r>
                        <a:rPr lang="en-IN" sz="1400" b="1" i="0" u="none" strike="noStrike" kern="100" cap="none" dirty="0">
                          <a:solidFill>
                            <a:schemeClr val="dk1"/>
                          </a:solidFill>
                          <a:effectLst/>
                          <a:latin typeface="+mn-lt"/>
                          <a:ea typeface="+mn-ea"/>
                          <a:cs typeface="+mn-cs"/>
                          <a:sym typeface="Arial"/>
                        </a:rPr>
                        <a:t>Mishra et al. (2019)</a:t>
                      </a:r>
                    </a:p>
                  </a:txBody>
                  <a:tcPr marL="68580" marR="68580" marT="0" marB="0" anchor="ctr"/>
                </a:tc>
                <a:tc>
                  <a:txBody>
                    <a:bodyPr/>
                    <a:lstStyle/>
                    <a:p>
                      <a:pPr marL="0" marR="0" algn="ctr" rtl="0">
                        <a:lnSpc>
                          <a:spcPct val="150000"/>
                        </a:lnSpc>
                        <a:spcBef>
                          <a:spcPts val="0"/>
                        </a:spcBef>
                        <a:spcAft>
                          <a:spcPts val="800"/>
                        </a:spcAft>
                        <a:buClr>
                          <a:srgbClr val="000000"/>
                        </a:buClr>
                        <a:buFont typeface="Arial"/>
                        <a:buNone/>
                      </a:pPr>
                      <a:r>
                        <a:rPr lang="en-IN" sz="1400" b="0" i="0" u="none" strike="noStrike" cap="none" dirty="0">
                          <a:solidFill>
                            <a:schemeClr val="dk1"/>
                          </a:solidFill>
                          <a:effectLst/>
                          <a:latin typeface="+mn-lt"/>
                          <a:ea typeface="+mn-ea"/>
                          <a:cs typeface="+mn-cs"/>
                          <a:sym typeface="Arial"/>
                        </a:rPr>
                        <a:t>Integrative Baselines (Ayurveda)</a:t>
                      </a:r>
                    </a:p>
                  </a:txBody>
                  <a:tcPr marL="68580" marR="68580" marT="0" marB="0" anchor="ctr"/>
                </a:tc>
                <a:tc>
                  <a:txBody>
                    <a:bodyPr/>
                    <a:lstStyle/>
                    <a:p>
                      <a:pPr marL="0" marR="0" algn="ctr" rtl="0">
                        <a:lnSpc>
                          <a:spcPct val="150000"/>
                        </a:lnSpc>
                        <a:spcBef>
                          <a:spcPts val="0"/>
                        </a:spcBef>
                        <a:spcAft>
                          <a:spcPts val="800"/>
                        </a:spcAft>
                        <a:buClr>
                          <a:srgbClr val="000000"/>
                        </a:buClr>
                        <a:buFont typeface="Arial"/>
                        <a:buNone/>
                      </a:pPr>
                      <a:r>
                        <a:rPr lang="en-IN" sz="1400" b="0" i="0" u="none" strike="noStrike" cap="none" dirty="0">
                          <a:solidFill>
                            <a:schemeClr val="dk1"/>
                          </a:solidFill>
                          <a:effectLst/>
                          <a:latin typeface="+mn-lt"/>
                          <a:ea typeface="+mn-ea"/>
                          <a:cs typeface="+mn-cs"/>
                          <a:sym typeface="Arial"/>
                        </a:rPr>
                        <a:t>Management of epileptic seizures through integrated, holistic approaches.</a:t>
                      </a:r>
                    </a:p>
                  </a:txBody>
                  <a:tcPr marL="68580" marR="68580" marT="0" marB="0" anchor="ctr"/>
                </a:tc>
                <a:tc>
                  <a:txBody>
                    <a:bodyPr/>
                    <a:lstStyle/>
                    <a:p>
                      <a:pPr marL="0" marR="0" algn="ctr" rtl="0">
                        <a:lnSpc>
                          <a:spcPct val="150000"/>
                        </a:lnSpc>
                        <a:spcBef>
                          <a:spcPts val="0"/>
                        </a:spcBef>
                        <a:spcAft>
                          <a:spcPts val="800"/>
                        </a:spcAft>
                        <a:buClr>
                          <a:srgbClr val="000000"/>
                        </a:buClr>
                        <a:buFont typeface="Arial"/>
                        <a:buNone/>
                      </a:pPr>
                      <a:r>
                        <a:rPr lang="en-IN" sz="1400" b="0" i="0" u="none" strike="noStrike" cap="none">
                          <a:solidFill>
                            <a:schemeClr val="dk1"/>
                          </a:solidFill>
                          <a:effectLst/>
                          <a:latin typeface="+mn-lt"/>
                          <a:ea typeface="+mn-ea"/>
                          <a:cs typeface="+mn-cs"/>
                          <a:sym typeface="Arial"/>
                        </a:rPr>
                        <a:t>Clinical / Observational Approach.</a:t>
                      </a:r>
                    </a:p>
                  </a:txBody>
                  <a:tcPr marL="68580" marR="68580" marT="0" marB="0" anchor="ctr"/>
                </a:tc>
                <a:tc>
                  <a:txBody>
                    <a:bodyPr/>
                    <a:lstStyle/>
                    <a:p>
                      <a:pPr marL="0" marR="0" algn="ctr" rtl="0">
                        <a:lnSpc>
                          <a:spcPct val="150000"/>
                        </a:lnSpc>
                        <a:spcBef>
                          <a:spcPts val="0"/>
                        </a:spcBef>
                        <a:spcAft>
                          <a:spcPts val="800"/>
                        </a:spcAft>
                        <a:buClr>
                          <a:srgbClr val="000000"/>
                        </a:buClr>
                        <a:buFont typeface="Arial"/>
                        <a:buNone/>
                      </a:pPr>
                      <a:r>
                        <a:rPr lang="en-IN" sz="1400" b="0" i="0" u="none" strike="noStrike" cap="none" dirty="0">
                          <a:solidFill>
                            <a:schemeClr val="dk1"/>
                          </a:solidFill>
                          <a:effectLst/>
                          <a:latin typeface="+mn-lt"/>
                          <a:ea typeface="+mn-ea"/>
                          <a:cs typeface="+mn-cs"/>
                          <a:sym typeface="Arial"/>
                        </a:rPr>
                        <a:t>Explores alternative systemic management but entirely lacks a modern predictive software infrastructure.</a:t>
                      </a:r>
                    </a:p>
                  </a:txBody>
                  <a:tcPr marL="68580" marR="68580" marT="0" marB="0" anchor="ctr"/>
                </a:tc>
                <a:extLst>
                  <a:ext uri="{0D108BD9-81ED-4DB2-BD59-A6C34878D82A}">
                    <a16:rowId xmlns:a16="http://schemas.microsoft.com/office/drawing/2014/main" val="426692274"/>
                  </a:ext>
                </a:extLst>
              </a:tr>
              <a:tr h="1957055">
                <a:tc>
                  <a:txBody>
                    <a:bodyPr/>
                    <a:lstStyle/>
                    <a:p>
                      <a:pPr marL="0" marR="0" algn="ctr">
                        <a:lnSpc>
                          <a:spcPct val="150000"/>
                        </a:lnSpc>
                        <a:spcAft>
                          <a:spcPts val="800"/>
                        </a:spcAft>
                        <a:buNone/>
                      </a:pPr>
                      <a:r>
                        <a:rPr lang="en-IN" sz="1400" b="1" i="0" u="none" strike="noStrike" kern="100" cap="none" dirty="0">
                          <a:solidFill>
                            <a:schemeClr val="dk1"/>
                          </a:solidFill>
                          <a:effectLst/>
                          <a:latin typeface="+mn-lt"/>
                          <a:ea typeface="+mn-ea"/>
                          <a:cs typeface="+mn-cs"/>
                          <a:sym typeface="Arial"/>
                        </a:rPr>
                        <a:t>Chithralatha (2009)</a:t>
                      </a:r>
                    </a:p>
                  </a:txBody>
                  <a:tcPr marL="68580" marR="68580" marT="0" marB="0" anchor="ctr"/>
                </a:tc>
                <a:tc>
                  <a:txBody>
                    <a:bodyPr/>
                    <a:lstStyle/>
                    <a:p>
                      <a:pPr marL="0" marR="0" algn="ctr" rtl="0">
                        <a:lnSpc>
                          <a:spcPct val="150000"/>
                        </a:lnSpc>
                        <a:spcBef>
                          <a:spcPts val="0"/>
                        </a:spcBef>
                        <a:spcAft>
                          <a:spcPts val="800"/>
                        </a:spcAft>
                        <a:buClr>
                          <a:srgbClr val="000000"/>
                        </a:buClr>
                        <a:buFont typeface="Arial"/>
                        <a:buNone/>
                      </a:pPr>
                      <a:r>
                        <a:rPr lang="en-IN" sz="1400" b="0" i="0" u="none" strike="noStrike" cap="none" dirty="0">
                          <a:solidFill>
                            <a:schemeClr val="dk1"/>
                          </a:solidFill>
                          <a:effectLst/>
                          <a:latin typeface="+mn-lt"/>
                          <a:ea typeface="+mn-ea"/>
                          <a:cs typeface="+mn-cs"/>
                          <a:sym typeface="Arial"/>
                        </a:rPr>
                        <a:t>Integrative Baselines (Ayurveda)</a:t>
                      </a:r>
                    </a:p>
                  </a:txBody>
                  <a:tcPr marL="68580" marR="68580" marT="0" marB="0" anchor="ctr"/>
                </a:tc>
                <a:tc>
                  <a:txBody>
                    <a:bodyPr/>
                    <a:lstStyle/>
                    <a:p>
                      <a:pPr marL="0" marR="0" algn="ctr" rtl="0">
                        <a:lnSpc>
                          <a:spcPct val="150000"/>
                        </a:lnSpc>
                        <a:spcBef>
                          <a:spcPts val="0"/>
                        </a:spcBef>
                        <a:spcAft>
                          <a:spcPts val="800"/>
                        </a:spcAft>
                        <a:buClr>
                          <a:srgbClr val="000000"/>
                        </a:buClr>
                        <a:buFont typeface="Arial"/>
                        <a:buNone/>
                      </a:pPr>
                      <a:r>
                        <a:rPr lang="en-IN" sz="1400" b="0" i="0" u="none" strike="noStrike" cap="none" dirty="0">
                          <a:solidFill>
                            <a:schemeClr val="dk1"/>
                          </a:solidFill>
                          <a:effectLst/>
                          <a:latin typeface="+mn-lt"/>
                          <a:ea typeface="+mn-ea"/>
                          <a:cs typeface="+mn-cs"/>
                          <a:sym typeface="Arial"/>
                        </a:rPr>
                        <a:t>Management of neurological conditions (Migraine) via Ayurvedic baselines.</a:t>
                      </a:r>
                    </a:p>
                  </a:txBody>
                  <a:tcPr marL="68580" marR="68580" marT="0" marB="0" anchor="ctr"/>
                </a:tc>
                <a:tc>
                  <a:txBody>
                    <a:bodyPr/>
                    <a:lstStyle/>
                    <a:p>
                      <a:pPr marL="0" marR="0" algn="ctr" rtl="0">
                        <a:lnSpc>
                          <a:spcPct val="150000"/>
                        </a:lnSpc>
                        <a:spcBef>
                          <a:spcPts val="0"/>
                        </a:spcBef>
                        <a:spcAft>
                          <a:spcPts val="800"/>
                        </a:spcAft>
                        <a:buClr>
                          <a:srgbClr val="000000"/>
                        </a:buClr>
                        <a:buFont typeface="Arial"/>
                        <a:buNone/>
                      </a:pPr>
                      <a:r>
                        <a:rPr lang="en-IN" sz="1400" b="0" i="0" u="none" strike="noStrike" cap="none" dirty="0">
                          <a:solidFill>
                            <a:schemeClr val="dk1"/>
                          </a:solidFill>
                          <a:effectLst/>
                          <a:latin typeface="+mn-lt"/>
                          <a:ea typeface="+mn-ea"/>
                          <a:cs typeface="+mn-cs"/>
                          <a:sym typeface="Arial"/>
                        </a:rPr>
                        <a:t>Observational Study.</a:t>
                      </a:r>
                    </a:p>
                  </a:txBody>
                  <a:tcPr marL="68580" marR="68580" marT="0" marB="0" anchor="ctr"/>
                </a:tc>
                <a:tc>
                  <a:txBody>
                    <a:bodyPr/>
                    <a:lstStyle/>
                    <a:p>
                      <a:pPr marL="0" marR="0" algn="ctr" rtl="0">
                        <a:lnSpc>
                          <a:spcPct val="150000"/>
                        </a:lnSpc>
                        <a:spcBef>
                          <a:spcPts val="0"/>
                        </a:spcBef>
                        <a:spcAft>
                          <a:spcPts val="800"/>
                        </a:spcAft>
                        <a:buClr>
                          <a:srgbClr val="000000"/>
                        </a:buClr>
                        <a:buFont typeface="Arial"/>
                        <a:buNone/>
                      </a:pPr>
                      <a:r>
                        <a:rPr lang="en-IN" sz="1400" b="0" i="0" u="none" strike="noStrike" cap="none" dirty="0">
                          <a:solidFill>
                            <a:schemeClr val="dk1"/>
                          </a:solidFill>
                          <a:effectLst/>
                          <a:latin typeface="+mn-lt"/>
                          <a:ea typeface="+mn-ea"/>
                          <a:cs typeface="+mn-cs"/>
                          <a:sym typeface="Arial"/>
                        </a:rPr>
                        <a:t>Validates the role of systemic Dosha imbalances (Pitta/Vata) in neurology but is strictly observational, not predictive.</a:t>
                      </a:r>
                    </a:p>
                  </a:txBody>
                  <a:tcPr marL="68580" marR="68580" marT="0" marB="0" anchor="ctr"/>
                </a:tc>
                <a:extLst>
                  <a:ext uri="{0D108BD9-81ED-4DB2-BD59-A6C34878D82A}">
                    <a16:rowId xmlns:a16="http://schemas.microsoft.com/office/drawing/2014/main" val="2067639457"/>
                  </a:ext>
                </a:extLst>
              </a:tr>
            </a:tbl>
          </a:graphicData>
        </a:graphic>
      </p:graphicFrame>
    </p:spTree>
    <p:extLst>
      <p:ext uri="{BB962C8B-B14F-4D97-AF65-F5344CB8AC3E}">
        <p14:creationId xmlns:p14="http://schemas.microsoft.com/office/powerpoint/2010/main" val="2841692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DFA56-51C7-38B9-7F4E-8BFB10ECEA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3E1C23-667F-05B4-D24B-7D54361EE6CB}"/>
              </a:ext>
            </a:extLst>
          </p:cNvPr>
          <p:cNvSpPr>
            <a:spLocks noGrp="1"/>
          </p:cNvSpPr>
          <p:nvPr>
            <p:ph type="ctrTitle"/>
          </p:nvPr>
        </p:nvSpPr>
        <p:spPr>
          <a:xfrm>
            <a:off x="817880" y="1122363"/>
            <a:ext cx="10556240" cy="919797"/>
          </a:xfrm>
        </p:spPr>
        <p:txBody>
          <a:bodyPr/>
          <a:lstStyle/>
          <a:p>
            <a:r>
              <a:rPr lang="en-US" dirty="0"/>
              <a:t>Literature Review</a:t>
            </a:r>
            <a:endParaRPr lang="en-IN" dirty="0"/>
          </a:p>
        </p:txBody>
      </p:sp>
      <p:graphicFrame>
        <p:nvGraphicFramePr>
          <p:cNvPr id="5" name="Table 4">
            <a:extLst>
              <a:ext uri="{FF2B5EF4-FFF2-40B4-BE49-F238E27FC236}">
                <a16:creationId xmlns:a16="http://schemas.microsoft.com/office/drawing/2014/main" id="{DF1248F0-CC6E-4DD2-163E-C19C378BDD87}"/>
              </a:ext>
            </a:extLst>
          </p:cNvPr>
          <p:cNvGraphicFramePr>
            <a:graphicFrameLocks noGrp="1"/>
          </p:cNvGraphicFramePr>
          <p:nvPr>
            <p:extLst>
              <p:ext uri="{D42A27DB-BD31-4B8C-83A1-F6EECF244321}">
                <p14:modId xmlns:p14="http://schemas.microsoft.com/office/powerpoint/2010/main" val="778702827"/>
              </p:ext>
            </p:extLst>
          </p:nvPr>
        </p:nvGraphicFramePr>
        <p:xfrm>
          <a:off x="817880" y="1991360"/>
          <a:ext cx="10991090" cy="4352544"/>
        </p:xfrm>
        <a:graphic>
          <a:graphicData uri="http://schemas.openxmlformats.org/drawingml/2006/table">
            <a:tbl>
              <a:tblPr firstRow="1" bandRow="1">
                <a:tableStyleId>{5C22544A-7EE6-4342-B048-85BDC9FD1C3A}</a:tableStyleId>
              </a:tblPr>
              <a:tblGrid>
                <a:gridCol w="2198218">
                  <a:extLst>
                    <a:ext uri="{9D8B030D-6E8A-4147-A177-3AD203B41FA5}">
                      <a16:colId xmlns:a16="http://schemas.microsoft.com/office/drawing/2014/main" val="2900828820"/>
                    </a:ext>
                  </a:extLst>
                </a:gridCol>
                <a:gridCol w="2198218">
                  <a:extLst>
                    <a:ext uri="{9D8B030D-6E8A-4147-A177-3AD203B41FA5}">
                      <a16:colId xmlns:a16="http://schemas.microsoft.com/office/drawing/2014/main" val="999714852"/>
                    </a:ext>
                  </a:extLst>
                </a:gridCol>
                <a:gridCol w="2198218">
                  <a:extLst>
                    <a:ext uri="{9D8B030D-6E8A-4147-A177-3AD203B41FA5}">
                      <a16:colId xmlns:a16="http://schemas.microsoft.com/office/drawing/2014/main" val="1895187806"/>
                    </a:ext>
                  </a:extLst>
                </a:gridCol>
                <a:gridCol w="2198218">
                  <a:extLst>
                    <a:ext uri="{9D8B030D-6E8A-4147-A177-3AD203B41FA5}">
                      <a16:colId xmlns:a16="http://schemas.microsoft.com/office/drawing/2014/main" val="2257447910"/>
                    </a:ext>
                  </a:extLst>
                </a:gridCol>
                <a:gridCol w="2198218">
                  <a:extLst>
                    <a:ext uri="{9D8B030D-6E8A-4147-A177-3AD203B41FA5}">
                      <a16:colId xmlns:a16="http://schemas.microsoft.com/office/drawing/2014/main" val="2810748526"/>
                    </a:ext>
                  </a:extLst>
                </a:gridCol>
              </a:tblGrid>
              <a:tr h="64865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Author(s) &amp; Year</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Thematic Group</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Research Objective / Domain</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Methodology / Computational Model</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Key Limitations (The Research Gap)</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extLst>
                  <a:ext uri="{0D108BD9-81ED-4DB2-BD59-A6C34878D82A}">
                    <a16:rowId xmlns:a16="http://schemas.microsoft.com/office/drawing/2014/main" val="2768708435"/>
                  </a:ext>
                </a:extLst>
              </a:tr>
              <a:tr h="2019938">
                <a:tc>
                  <a:txBody>
                    <a:bodyPr/>
                    <a:lstStyle/>
                    <a:p>
                      <a:pPr marL="0" marR="0" indent="0" algn="ctr">
                        <a:lnSpc>
                          <a:spcPct val="150000"/>
                        </a:lnSpc>
                        <a:spcAft>
                          <a:spcPts val="800"/>
                        </a:spcAft>
                        <a:buNone/>
                      </a:pPr>
                      <a:r>
                        <a:rPr lang="en-IN" sz="1400" b="1" i="0" u="none" strike="noStrike" kern="100" cap="none" dirty="0">
                          <a:solidFill>
                            <a:schemeClr val="dk1"/>
                          </a:solidFill>
                          <a:effectLst/>
                          <a:latin typeface="+mn-lt"/>
                          <a:ea typeface="+mn-ea"/>
                          <a:cs typeface="+mn-cs"/>
                          <a:sym typeface="Arial"/>
                        </a:rPr>
                        <a:t>Mueller et al. (2013)</a:t>
                      </a:r>
                    </a:p>
                  </a:txBody>
                  <a:tcPr marL="68580" marR="68580" marT="0" marB="0" anchor="ctr"/>
                </a:tc>
                <a:tc>
                  <a:txBody>
                    <a:bodyPr/>
                    <a:lstStyle/>
                    <a:p>
                      <a:pPr marL="0" marR="0" algn="ctr">
                        <a:lnSpc>
                          <a:spcPct val="150000"/>
                        </a:lnSpc>
                        <a:spcAft>
                          <a:spcPts val="800"/>
                        </a:spcAft>
                        <a:buNone/>
                      </a:pPr>
                      <a:r>
                        <a:rPr lang="en-IN" sz="1400" b="0" i="0" u="none" strike="noStrike" cap="none" dirty="0">
                          <a:solidFill>
                            <a:schemeClr val="dk1"/>
                          </a:solidFill>
                          <a:effectLst/>
                          <a:latin typeface="+mn-lt"/>
                          <a:ea typeface="+mn-ea"/>
                          <a:cs typeface="+mn-cs"/>
                          <a:sym typeface="Arial"/>
                        </a:rPr>
                        <a:t>Probabilistic Modeling</a:t>
                      </a:r>
                    </a:p>
                  </a:txBody>
                  <a:tcPr marL="68580" marR="68580" marT="0" marB="0" anchor="ctr"/>
                </a:tc>
                <a:tc>
                  <a:txBody>
                    <a:bodyPr/>
                    <a:lstStyle/>
                    <a:p>
                      <a:pPr marL="0" marR="0" algn="ctr">
                        <a:lnSpc>
                          <a:spcPct val="150000"/>
                        </a:lnSpc>
                        <a:spcAft>
                          <a:spcPts val="800"/>
                        </a:spcAft>
                        <a:buNone/>
                      </a:pPr>
                      <a:r>
                        <a:rPr lang="en-IN" sz="1400" b="0" i="0" u="none" strike="noStrike" cap="none" dirty="0">
                          <a:solidFill>
                            <a:schemeClr val="dk1"/>
                          </a:solidFill>
                          <a:effectLst/>
                          <a:latin typeface="+mn-lt"/>
                          <a:ea typeface="+mn-ea"/>
                          <a:cs typeface="+mn-cs"/>
                          <a:sym typeface="Arial"/>
                        </a:rPr>
                        <a:t>Classification of partial epilepsy using multi-modality imaging.</a:t>
                      </a:r>
                    </a:p>
                  </a:txBody>
                  <a:tcPr marL="68580" marR="68580" marT="0" marB="0" anchor="ctr"/>
                </a:tc>
                <a:tc>
                  <a:txBody>
                    <a:bodyPr/>
                    <a:lstStyle/>
                    <a:p>
                      <a:pPr marL="0" marR="0" algn="ctr">
                        <a:lnSpc>
                          <a:spcPct val="150000"/>
                        </a:lnSpc>
                        <a:spcAft>
                          <a:spcPts val="800"/>
                        </a:spcAft>
                        <a:buNone/>
                      </a:pPr>
                      <a:r>
                        <a:rPr lang="en-IN" sz="1400" b="0" i="0" u="none" strike="noStrike" cap="none">
                          <a:solidFill>
                            <a:schemeClr val="dk1"/>
                          </a:solidFill>
                          <a:effectLst/>
                          <a:latin typeface="+mn-lt"/>
                          <a:ea typeface="+mn-ea"/>
                          <a:cs typeface="+mn-cs"/>
                          <a:sym typeface="Arial"/>
                        </a:rPr>
                        <a:t>Two-level Bayesian Belief Network (BBN).</a:t>
                      </a:r>
                    </a:p>
                  </a:txBody>
                  <a:tcPr marL="68580" marR="68580" marT="0" marB="0" anchor="ctr"/>
                </a:tc>
                <a:tc>
                  <a:txBody>
                    <a:bodyPr/>
                    <a:lstStyle/>
                    <a:p>
                      <a:pPr marL="0" marR="0" algn="ctr">
                        <a:lnSpc>
                          <a:spcPct val="150000"/>
                        </a:lnSpc>
                        <a:spcAft>
                          <a:spcPts val="800"/>
                        </a:spcAft>
                        <a:buNone/>
                      </a:pPr>
                      <a:r>
                        <a:rPr lang="en-IN" sz="1400" b="0" i="0" u="none" strike="noStrike" cap="none" dirty="0">
                          <a:solidFill>
                            <a:schemeClr val="dk1"/>
                          </a:solidFill>
                          <a:effectLst/>
                          <a:latin typeface="+mn-lt"/>
                          <a:ea typeface="+mn-ea"/>
                          <a:cs typeface="+mn-cs"/>
                          <a:sym typeface="Arial"/>
                        </a:rPr>
                        <a:t>Utilized Bayesian networks successfully for static diagnostic imaging, but not deployed for daily, time-series event forecasting.</a:t>
                      </a:r>
                    </a:p>
                  </a:txBody>
                  <a:tcPr marL="68580" marR="68580" marT="0" marB="0" anchor="ctr"/>
                </a:tc>
                <a:extLst>
                  <a:ext uri="{0D108BD9-81ED-4DB2-BD59-A6C34878D82A}">
                    <a16:rowId xmlns:a16="http://schemas.microsoft.com/office/drawing/2014/main" val="426692274"/>
                  </a:ext>
                </a:extLst>
              </a:tr>
              <a:tr h="1683953">
                <a:tc>
                  <a:txBody>
                    <a:bodyPr/>
                    <a:lstStyle/>
                    <a:p>
                      <a:pPr marL="0" marR="0" algn="ctr">
                        <a:lnSpc>
                          <a:spcPct val="150000"/>
                        </a:lnSpc>
                        <a:spcAft>
                          <a:spcPts val="800"/>
                        </a:spcAft>
                        <a:buNone/>
                      </a:pPr>
                      <a:r>
                        <a:rPr lang="en-IN" sz="1400" b="1" i="0" u="none" strike="noStrike" kern="100" cap="none" dirty="0">
                          <a:solidFill>
                            <a:schemeClr val="dk1"/>
                          </a:solidFill>
                          <a:effectLst/>
                          <a:latin typeface="+mn-lt"/>
                          <a:ea typeface="+mn-ea"/>
                          <a:cs typeface="+mn-cs"/>
                          <a:sym typeface="Arial"/>
                        </a:rPr>
                        <a:t>Hashemi et al. (2023)</a:t>
                      </a:r>
                    </a:p>
                  </a:txBody>
                  <a:tcPr marL="68580" marR="68580" marT="0" marB="0" anchor="ctr"/>
                </a:tc>
                <a:tc>
                  <a:txBody>
                    <a:bodyPr/>
                    <a:lstStyle/>
                    <a:p>
                      <a:pPr marL="0" marR="0" algn="ctr">
                        <a:lnSpc>
                          <a:spcPct val="150000"/>
                        </a:lnSpc>
                        <a:spcAft>
                          <a:spcPts val="800"/>
                        </a:spcAft>
                        <a:buNone/>
                      </a:pPr>
                      <a:r>
                        <a:rPr lang="en-IN" sz="1400" b="0" i="0" u="none" strike="noStrike" cap="none" dirty="0">
                          <a:solidFill>
                            <a:schemeClr val="dk1"/>
                          </a:solidFill>
                          <a:effectLst/>
                          <a:latin typeface="+mn-lt"/>
                          <a:ea typeface="+mn-ea"/>
                          <a:cs typeface="+mn-cs"/>
                          <a:sym typeface="Arial"/>
                        </a:rPr>
                        <a:t>Probabilistic Modeling</a:t>
                      </a:r>
                    </a:p>
                  </a:txBody>
                  <a:tcPr marL="68580" marR="68580" marT="0" marB="0" anchor="ctr"/>
                </a:tc>
                <a:tc>
                  <a:txBody>
                    <a:bodyPr/>
                    <a:lstStyle/>
                    <a:p>
                      <a:pPr marL="0" marR="0" algn="ctr">
                        <a:lnSpc>
                          <a:spcPct val="150000"/>
                        </a:lnSpc>
                        <a:spcAft>
                          <a:spcPts val="800"/>
                        </a:spcAft>
                        <a:buNone/>
                      </a:pPr>
                      <a:r>
                        <a:rPr lang="en-IN" sz="1400" b="0" i="0" u="none" strike="noStrike" cap="none" dirty="0" err="1">
                          <a:solidFill>
                            <a:schemeClr val="dk1"/>
                          </a:solidFill>
                          <a:effectLst/>
                          <a:latin typeface="+mn-lt"/>
                          <a:ea typeface="+mn-ea"/>
                          <a:cs typeface="+mn-cs"/>
                          <a:sym typeface="Arial"/>
                        </a:rPr>
                        <a:t>Spatio</a:t>
                      </a:r>
                      <a:r>
                        <a:rPr lang="en-IN" sz="1400" b="0" i="0" u="none" strike="noStrike" cap="none" dirty="0">
                          <a:solidFill>
                            <a:schemeClr val="dk1"/>
                          </a:solidFill>
                          <a:effectLst/>
                          <a:latin typeface="+mn-lt"/>
                          <a:ea typeface="+mn-ea"/>
                          <a:cs typeface="+mn-cs"/>
                          <a:sym typeface="Arial"/>
                        </a:rPr>
                        <a:t>-temporal seizure propagation mapping.</a:t>
                      </a:r>
                    </a:p>
                  </a:txBody>
                  <a:tcPr marL="68580" marR="68580" marT="0" marB="0" anchor="ctr"/>
                </a:tc>
                <a:tc>
                  <a:txBody>
                    <a:bodyPr/>
                    <a:lstStyle/>
                    <a:p>
                      <a:pPr marL="0" marR="0" algn="ctr">
                        <a:lnSpc>
                          <a:spcPct val="150000"/>
                        </a:lnSpc>
                        <a:spcAft>
                          <a:spcPts val="800"/>
                        </a:spcAft>
                        <a:buNone/>
                      </a:pPr>
                      <a:r>
                        <a:rPr lang="en-IN" sz="1400" b="0" i="0" u="none" strike="noStrike" cap="none" dirty="0">
                          <a:solidFill>
                            <a:schemeClr val="dk1"/>
                          </a:solidFill>
                          <a:effectLst/>
                          <a:latin typeface="+mn-lt"/>
                          <a:ea typeface="+mn-ea"/>
                          <a:cs typeface="+mn-cs"/>
                          <a:sym typeface="Arial"/>
                        </a:rPr>
                        <a:t>Amortized Bayesian Inference and deep neural density estimators.</a:t>
                      </a:r>
                    </a:p>
                  </a:txBody>
                  <a:tcPr marL="68580" marR="68580" marT="0" marB="0" anchor="ctr"/>
                </a:tc>
                <a:tc>
                  <a:txBody>
                    <a:bodyPr/>
                    <a:lstStyle/>
                    <a:p>
                      <a:pPr marL="0" marR="0" algn="ctr">
                        <a:lnSpc>
                          <a:spcPct val="150000"/>
                        </a:lnSpc>
                        <a:spcAft>
                          <a:spcPts val="800"/>
                        </a:spcAft>
                        <a:buNone/>
                      </a:pPr>
                      <a:r>
                        <a:rPr lang="en-IN" sz="1400" b="0" i="0" u="none" strike="noStrike" cap="none" dirty="0">
                          <a:solidFill>
                            <a:schemeClr val="dk1"/>
                          </a:solidFill>
                          <a:effectLst/>
                          <a:latin typeface="+mn-lt"/>
                          <a:ea typeface="+mn-ea"/>
                          <a:cs typeface="+mn-cs"/>
                          <a:sym typeface="Arial"/>
                        </a:rPr>
                        <a:t>Requires heavy clinical imaging (MRI/DTI) and continuous monitoring; socioeconomically unscalable for daily use.</a:t>
                      </a:r>
                    </a:p>
                  </a:txBody>
                  <a:tcPr marL="68580" marR="68580" marT="0" marB="0" anchor="ctr"/>
                </a:tc>
                <a:extLst>
                  <a:ext uri="{0D108BD9-81ED-4DB2-BD59-A6C34878D82A}">
                    <a16:rowId xmlns:a16="http://schemas.microsoft.com/office/drawing/2014/main" val="2067639457"/>
                  </a:ext>
                </a:extLst>
              </a:tr>
            </a:tbl>
          </a:graphicData>
        </a:graphic>
      </p:graphicFrame>
    </p:spTree>
    <p:extLst>
      <p:ext uri="{BB962C8B-B14F-4D97-AF65-F5344CB8AC3E}">
        <p14:creationId xmlns:p14="http://schemas.microsoft.com/office/powerpoint/2010/main" val="2765474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31F67-0670-99C1-465B-D0A3950B9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76D31-5530-B62B-C6BC-A7D6D2DA4559}"/>
              </a:ext>
            </a:extLst>
          </p:cNvPr>
          <p:cNvSpPr>
            <a:spLocks noGrp="1"/>
          </p:cNvSpPr>
          <p:nvPr>
            <p:ph type="ctrTitle"/>
          </p:nvPr>
        </p:nvSpPr>
        <p:spPr>
          <a:xfrm>
            <a:off x="817880" y="1122363"/>
            <a:ext cx="10556240" cy="919797"/>
          </a:xfrm>
        </p:spPr>
        <p:txBody>
          <a:bodyPr/>
          <a:lstStyle/>
          <a:p>
            <a:r>
              <a:rPr lang="en-US" dirty="0"/>
              <a:t>Literature Review</a:t>
            </a:r>
            <a:endParaRPr lang="en-IN" dirty="0"/>
          </a:p>
        </p:txBody>
      </p:sp>
      <p:graphicFrame>
        <p:nvGraphicFramePr>
          <p:cNvPr id="5" name="Table 4">
            <a:extLst>
              <a:ext uri="{FF2B5EF4-FFF2-40B4-BE49-F238E27FC236}">
                <a16:creationId xmlns:a16="http://schemas.microsoft.com/office/drawing/2014/main" id="{D099B1A8-69F1-F02F-CCF5-90874068EAA8}"/>
              </a:ext>
            </a:extLst>
          </p:cNvPr>
          <p:cNvGraphicFramePr>
            <a:graphicFrameLocks noGrp="1"/>
          </p:cNvGraphicFramePr>
          <p:nvPr>
            <p:extLst>
              <p:ext uri="{D42A27DB-BD31-4B8C-83A1-F6EECF244321}">
                <p14:modId xmlns:p14="http://schemas.microsoft.com/office/powerpoint/2010/main" val="3262685012"/>
              </p:ext>
            </p:extLst>
          </p:nvPr>
        </p:nvGraphicFramePr>
        <p:xfrm>
          <a:off x="817880" y="2042160"/>
          <a:ext cx="10991090" cy="2526409"/>
        </p:xfrm>
        <a:graphic>
          <a:graphicData uri="http://schemas.openxmlformats.org/drawingml/2006/table">
            <a:tbl>
              <a:tblPr firstRow="1" bandRow="1">
                <a:tableStyleId>{5C22544A-7EE6-4342-B048-85BDC9FD1C3A}</a:tableStyleId>
              </a:tblPr>
              <a:tblGrid>
                <a:gridCol w="2198218">
                  <a:extLst>
                    <a:ext uri="{9D8B030D-6E8A-4147-A177-3AD203B41FA5}">
                      <a16:colId xmlns:a16="http://schemas.microsoft.com/office/drawing/2014/main" val="2900828820"/>
                    </a:ext>
                  </a:extLst>
                </a:gridCol>
                <a:gridCol w="2198218">
                  <a:extLst>
                    <a:ext uri="{9D8B030D-6E8A-4147-A177-3AD203B41FA5}">
                      <a16:colId xmlns:a16="http://schemas.microsoft.com/office/drawing/2014/main" val="999714852"/>
                    </a:ext>
                  </a:extLst>
                </a:gridCol>
                <a:gridCol w="2198218">
                  <a:extLst>
                    <a:ext uri="{9D8B030D-6E8A-4147-A177-3AD203B41FA5}">
                      <a16:colId xmlns:a16="http://schemas.microsoft.com/office/drawing/2014/main" val="1895187806"/>
                    </a:ext>
                  </a:extLst>
                </a:gridCol>
                <a:gridCol w="2198218">
                  <a:extLst>
                    <a:ext uri="{9D8B030D-6E8A-4147-A177-3AD203B41FA5}">
                      <a16:colId xmlns:a16="http://schemas.microsoft.com/office/drawing/2014/main" val="2257447910"/>
                    </a:ext>
                  </a:extLst>
                </a:gridCol>
                <a:gridCol w="2198218">
                  <a:extLst>
                    <a:ext uri="{9D8B030D-6E8A-4147-A177-3AD203B41FA5}">
                      <a16:colId xmlns:a16="http://schemas.microsoft.com/office/drawing/2014/main" val="2810748526"/>
                    </a:ext>
                  </a:extLst>
                </a:gridCol>
              </a:tblGrid>
              <a:tr h="61409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Author(s) &amp; Year</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Thematic Group</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Research Objective / Domain</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Methodology / Computational Model</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kern="100" dirty="0">
                          <a:effectLst/>
                        </a:rPr>
                        <a:t>Key Limitations (The Research Gap)</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anchor="ctr"/>
                </a:tc>
                <a:extLst>
                  <a:ext uri="{0D108BD9-81ED-4DB2-BD59-A6C34878D82A}">
                    <a16:rowId xmlns:a16="http://schemas.microsoft.com/office/drawing/2014/main" val="2768708435"/>
                  </a:ext>
                </a:extLst>
              </a:tr>
              <a:tr h="1912316">
                <a:tc>
                  <a:txBody>
                    <a:bodyPr/>
                    <a:lstStyle/>
                    <a:p>
                      <a:pPr marL="0" marR="0" algn="ctr">
                        <a:lnSpc>
                          <a:spcPct val="150000"/>
                        </a:lnSpc>
                        <a:spcAft>
                          <a:spcPts val="800"/>
                        </a:spcAft>
                        <a:buNone/>
                      </a:pPr>
                      <a:r>
                        <a:rPr lang="en-IN" sz="1400" b="1" i="0" u="none" strike="noStrike" kern="100" cap="none" dirty="0">
                          <a:solidFill>
                            <a:schemeClr val="dk1"/>
                          </a:solidFill>
                          <a:effectLst/>
                          <a:latin typeface="+mn-lt"/>
                          <a:ea typeface="+mn-ea"/>
                          <a:cs typeface="+mn-cs"/>
                          <a:sym typeface="Arial"/>
                        </a:rPr>
                        <a:t>Flegel et al. (2024)</a:t>
                      </a:r>
                    </a:p>
                  </a:txBody>
                  <a:tcPr marL="68580" marR="68580" marT="0" marB="0" anchor="ctr"/>
                </a:tc>
                <a:tc>
                  <a:txBody>
                    <a:bodyPr/>
                    <a:lstStyle/>
                    <a:p>
                      <a:pPr marL="0" marR="0" algn="ctr">
                        <a:lnSpc>
                          <a:spcPct val="150000"/>
                        </a:lnSpc>
                        <a:spcAft>
                          <a:spcPts val="800"/>
                        </a:spcAft>
                        <a:buNone/>
                      </a:pPr>
                      <a:r>
                        <a:rPr lang="en-IN" sz="1400" b="0" i="0" u="none" strike="noStrike" cap="none" dirty="0">
                          <a:solidFill>
                            <a:schemeClr val="dk1"/>
                          </a:solidFill>
                          <a:effectLst/>
                          <a:latin typeface="+mn-lt"/>
                          <a:ea typeface="+mn-ea"/>
                          <a:cs typeface="+mn-cs"/>
                          <a:sym typeface="Arial"/>
                        </a:rPr>
                        <a:t>Probabilistic Modeling</a:t>
                      </a:r>
                    </a:p>
                  </a:txBody>
                  <a:tcPr marL="68580" marR="68580" marT="0" marB="0" anchor="ctr"/>
                </a:tc>
                <a:tc>
                  <a:txBody>
                    <a:bodyPr/>
                    <a:lstStyle/>
                    <a:p>
                      <a:pPr marL="0" marR="0" algn="ctr">
                        <a:lnSpc>
                          <a:spcPct val="150000"/>
                        </a:lnSpc>
                        <a:spcAft>
                          <a:spcPts val="800"/>
                        </a:spcAft>
                        <a:buNone/>
                      </a:pPr>
                      <a:r>
                        <a:rPr lang="en-IN" sz="1400" b="0" i="0" u="none" strike="noStrike" cap="none" dirty="0">
                          <a:solidFill>
                            <a:schemeClr val="dk1"/>
                          </a:solidFill>
                          <a:effectLst/>
                          <a:latin typeface="+mn-lt"/>
                          <a:ea typeface="+mn-ea"/>
                          <a:cs typeface="+mn-cs"/>
                          <a:sym typeface="Arial"/>
                        </a:rPr>
                        <a:t>Predicting canine structural epilepsy.</a:t>
                      </a:r>
                    </a:p>
                  </a:txBody>
                  <a:tcPr marL="68580" marR="68580" marT="0" marB="0" anchor="ctr"/>
                </a:tc>
                <a:tc>
                  <a:txBody>
                    <a:bodyPr/>
                    <a:lstStyle/>
                    <a:p>
                      <a:pPr marL="0" marR="0" algn="ctr">
                        <a:lnSpc>
                          <a:spcPct val="150000"/>
                        </a:lnSpc>
                        <a:spcAft>
                          <a:spcPts val="800"/>
                        </a:spcAft>
                        <a:buNone/>
                      </a:pPr>
                      <a:r>
                        <a:rPr lang="en-IN" sz="1400" b="0" i="0" u="none" strike="noStrike" cap="none" dirty="0">
                          <a:solidFill>
                            <a:schemeClr val="dk1"/>
                          </a:solidFill>
                          <a:effectLst/>
                          <a:latin typeface="+mn-lt"/>
                          <a:ea typeface="+mn-ea"/>
                          <a:cs typeface="+mn-cs"/>
                          <a:sym typeface="Arial"/>
                        </a:rPr>
                        <a:t>Machine learning classification algorithms.</a:t>
                      </a:r>
                    </a:p>
                  </a:txBody>
                  <a:tcPr marL="68580" marR="68580" marT="0" marB="0" anchor="ctr"/>
                </a:tc>
                <a:tc>
                  <a:txBody>
                    <a:bodyPr/>
                    <a:lstStyle/>
                    <a:p>
                      <a:pPr marL="0" marR="0" algn="ctr">
                        <a:lnSpc>
                          <a:spcPct val="150000"/>
                        </a:lnSpc>
                        <a:spcAft>
                          <a:spcPts val="800"/>
                        </a:spcAft>
                        <a:buNone/>
                      </a:pPr>
                      <a:r>
                        <a:rPr lang="en-IN" sz="1400" b="0" i="0" u="none" strike="noStrike" cap="none" dirty="0">
                          <a:solidFill>
                            <a:schemeClr val="dk1"/>
                          </a:solidFill>
                          <a:effectLst/>
                          <a:latin typeface="+mn-lt"/>
                          <a:ea typeface="+mn-ea"/>
                          <a:cs typeface="+mn-cs"/>
                          <a:sym typeface="Arial"/>
                        </a:rPr>
                        <a:t>Focuses strictly on structural brain disorders (SBD) rather than functional, lifestyle-induced threshold degradation.</a:t>
                      </a:r>
                    </a:p>
                  </a:txBody>
                  <a:tcPr marL="68580" marR="68580" marT="0" marB="0" anchor="ctr"/>
                </a:tc>
                <a:extLst>
                  <a:ext uri="{0D108BD9-81ED-4DB2-BD59-A6C34878D82A}">
                    <a16:rowId xmlns:a16="http://schemas.microsoft.com/office/drawing/2014/main" val="426692274"/>
                  </a:ext>
                </a:extLst>
              </a:tr>
            </a:tbl>
          </a:graphicData>
        </a:graphic>
      </p:graphicFrame>
    </p:spTree>
    <p:extLst>
      <p:ext uri="{BB962C8B-B14F-4D97-AF65-F5344CB8AC3E}">
        <p14:creationId xmlns:p14="http://schemas.microsoft.com/office/powerpoint/2010/main" val="2126076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65C79-1264-BA9E-6BB4-A08D63848E2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DF9979-ACF0-E0E5-86AA-8F9D3CE6AC98}"/>
              </a:ext>
            </a:extLst>
          </p:cNvPr>
          <p:cNvSpPr>
            <a:spLocks noGrp="1"/>
          </p:cNvSpPr>
          <p:nvPr>
            <p:ph type="ctrTitle"/>
          </p:nvPr>
        </p:nvSpPr>
        <p:spPr>
          <a:xfrm>
            <a:off x="162560" y="1122363"/>
            <a:ext cx="11795760" cy="990917"/>
          </a:xfrm>
        </p:spPr>
        <p:txBody>
          <a:bodyPr>
            <a:normAutofit fontScale="90000"/>
          </a:bodyPr>
          <a:lstStyle/>
          <a:p>
            <a:r>
              <a:rPr lang="en-US" dirty="0"/>
              <a:t>Continuous Telemetry Architecture</a:t>
            </a:r>
            <a:endParaRPr lang="en-IN" dirty="0"/>
          </a:p>
        </p:txBody>
      </p:sp>
      <p:sp>
        <p:nvSpPr>
          <p:cNvPr id="5" name="Subtitle 4">
            <a:extLst>
              <a:ext uri="{FF2B5EF4-FFF2-40B4-BE49-F238E27FC236}">
                <a16:creationId xmlns:a16="http://schemas.microsoft.com/office/drawing/2014/main" id="{71AE3BC2-695F-629A-7A6B-54D55EA82052}"/>
              </a:ext>
            </a:extLst>
          </p:cNvPr>
          <p:cNvSpPr>
            <a:spLocks noGrp="1"/>
          </p:cNvSpPr>
          <p:nvPr>
            <p:ph type="subTitle" idx="1"/>
          </p:nvPr>
        </p:nvSpPr>
        <p:spPr>
          <a:xfrm>
            <a:off x="345440" y="2042159"/>
            <a:ext cx="11612880" cy="3693478"/>
          </a:xfrm>
        </p:spPr>
        <p:txBody>
          <a:bodyPr>
            <a:normAutofit/>
          </a:bodyPr>
          <a:lstStyle/>
          <a:p>
            <a:pPr marL="50800" indent="0" algn="l"/>
            <a:endParaRPr lang="en-US" dirty="0"/>
          </a:p>
          <a:p>
            <a:pPr marL="50800" indent="0" algn="l"/>
            <a:endParaRPr lang="en-US" dirty="0"/>
          </a:p>
          <a:p>
            <a:pPr marL="50800" indent="0" algn="l"/>
            <a:endParaRPr lang="en-US" dirty="0"/>
          </a:p>
          <a:p>
            <a:pPr marL="50800" indent="0" algn="l"/>
            <a:endParaRPr lang="en-US" dirty="0"/>
          </a:p>
          <a:p>
            <a:pPr marL="50800" indent="0" algn="l"/>
            <a:r>
              <a:rPr lang="en-US" dirty="0"/>
              <a:t>	Logging			       Inference			   Forecasting</a:t>
            </a:r>
          </a:p>
          <a:p>
            <a:pPr marL="50800" indent="0" algn="l"/>
            <a:r>
              <a:rPr lang="en-US" dirty="0"/>
              <a:t>Automated Google fit		  Bayesian Network		  Real-Time Dashboard</a:t>
            </a:r>
          </a:p>
          <a:p>
            <a:pPr marL="50800" indent="0" algn="l"/>
            <a:r>
              <a:rPr lang="en-US" dirty="0"/>
              <a:t>      Synchronization.	          Probability Calculation.		Risk Alerts.</a:t>
            </a:r>
          </a:p>
        </p:txBody>
      </p:sp>
      <p:sp>
        <p:nvSpPr>
          <p:cNvPr id="6" name="TextBox 5">
            <a:extLst>
              <a:ext uri="{FF2B5EF4-FFF2-40B4-BE49-F238E27FC236}">
                <a16:creationId xmlns:a16="http://schemas.microsoft.com/office/drawing/2014/main" id="{AD9F638D-5812-5B5E-1426-5EBA685C3671}"/>
              </a:ext>
            </a:extLst>
          </p:cNvPr>
          <p:cNvSpPr txBox="1"/>
          <p:nvPr/>
        </p:nvSpPr>
        <p:spPr>
          <a:xfrm>
            <a:off x="1635760" y="3275270"/>
            <a:ext cx="650240" cy="649188"/>
          </a:xfrm>
          <a:prstGeom prst="flowChartConnector">
            <a:avLst/>
          </a:prstGeom>
          <a:solidFill>
            <a:schemeClr val="accent5">
              <a:lumMod val="40000"/>
              <a:lumOff val="60000"/>
            </a:schemeClr>
          </a:solidFill>
          <a:ln>
            <a:solidFill>
              <a:schemeClr val="tx1"/>
            </a:solidFill>
          </a:ln>
        </p:spPr>
        <p:txBody>
          <a:bodyPr wrap="square" rtlCol="0">
            <a:spAutoFit/>
          </a:bodyPr>
          <a:lstStyle/>
          <a:p>
            <a:pPr algn="ctr"/>
            <a:r>
              <a:rPr lang="en-US" sz="2400" dirty="0"/>
              <a:t>L</a:t>
            </a:r>
            <a:endParaRPr lang="en-IN" sz="2400" dirty="0"/>
          </a:p>
        </p:txBody>
      </p:sp>
      <p:cxnSp>
        <p:nvCxnSpPr>
          <p:cNvPr id="8" name="Straight Arrow Connector 7">
            <a:extLst>
              <a:ext uri="{FF2B5EF4-FFF2-40B4-BE49-F238E27FC236}">
                <a16:creationId xmlns:a16="http://schemas.microsoft.com/office/drawing/2014/main" id="{DDFCECF1-D071-285D-E119-F8B978C39CAD}"/>
              </a:ext>
            </a:extLst>
          </p:cNvPr>
          <p:cNvCxnSpPr/>
          <p:nvPr/>
        </p:nvCxnSpPr>
        <p:spPr>
          <a:xfrm>
            <a:off x="3749040" y="4034152"/>
            <a:ext cx="65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23A1119F-2F6A-FEA2-F179-40CF1407DE40}"/>
              </a:ext>
            </a:extLst>
          </p:cNvPr>
          <p:cNvSpPr txBox="1"/>
          <p:nvPr/>
        </p:nvSpPr>
        <p:spPr>
          <a:xfrm>
            <a:off x="5826760" y="3275270"/>
            <a:ext cx="650240" cy="649188"/>
          </a:xfrm>
          <a:prstGeom prst="flowChartConnector">
            <a:avLst/>
          </a:prstGeom>
          <a:solidFill>
            <a:schemeClr val="accent5">
              <a:lumMod val="40000"/>
              <a:lumOff val="60000"/>
            </a:schemeClr>
          </a:solidFill>
          <a:ln>
            <a:solidFill>
              <a:schemeClr val="tx1"/>
            </a:solidFill>
          </a:ln>
        </p:spPr>
        <p:txBody>
          <a:bodyPr wrap="square" rtlCol="0">
            <a:spAutoFit/>
          </a:bodyPr>
          <a:lstStyle/>
          <a:p>
            <a:pPr algn="ctr"/>
            <a:r>
              <a:rPr lang="en-US" sz="2400" dirty="0"/>
              <a:t>I</a:t>
            </a:r>
            <a:endParaRPr lang="en-IN" sz="2400" dirty="0"/>
          </a:p>
        </p:txBody>
      </p:sp>
      <p:cxnSp>
        <p:nvCxnSpPr>
          <p:cNvPr id="11" name="Straight Arrow Connector 10">
            <a:extLst>
              <a:ext uri="{FF2B5EF4-FFF2-40B4-BE49-F238E27FC236}">
                <a16:creationId xmlns:a16="http://schemas.microsoft.com/office/drawing/2014/main" id="{DF1CD8F3-FE56-297B-4FB0-4788C24510E0}"/>
              </a:ext>
            </a:extLst>
          </p:cNvPr>
          <p:cNvCxnSpPr/>
          <p:nvPr/>
        </p:nvCxnSpPr>
        <p:spPr>
          <a:xfrm>
            <a:off x="8117840" y="4034152"/>
            <a:ext cx="65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9F392837-15B3-F820-B5FF-F03F4403C248}"/>
              </a:ext>
            </a:extLst>
          </p:cNvPr>
          <p:cNvSpPr txBox="1"/>
          <p:nvPr/>
        </p:nvSpPr>
        <p:spPr>
          <a:xfrm>
            <a:off x="10342880" y="3275270"/>
            <a:ext cx="650240" cy="649188"/>
          </a:xfrm>
          <a:prstGeom prst="flowChartConnector">
            <a:avLst/>
          </a:prstGeom>
          <a:solidFill>
            <a:schemeClr val="accent5">
              <a:lumMod val="40000"/>
              <a:lumOff val="60000"/>
            </a:schemeClr>
          </a:solidFill>
          <a:ln>
            <a:solidFill>
              <a:schemeClr val="tx1"/>
            </a:solidFill>
          </a:ln>
        </p:spPr>
        <p:txBody>
          <a:bodyPr wrap="square" rtlCol="0">
            <a:spAutoFit/>
          </a:bodyPr>
          <a:lstStyle/>
          <a:p>
            <a:pPr algn="ctr"/>
            <a:r>
              <a:rPr lang="en-US" sz="2400" dirty="0"/>
              <a:t>F</a:t>
            </a:r>
            <a:endParaRPr lang="en-IN" sz="2400" dirty="0"/>
          </a:p>
        </p:txBody>
      </p:sp>
    </p:spTree>
    <p:extLst>
      <p:ext uri="{BB962C8B-B14F-4D97-AF65-F5344CB8AC3E}">
        <p14:creationId xmlns:p14="http://schemas.microsoft.com/office/powerpoint/2010/main" val="2692222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BE5C7-30B7-6B83-8BED-43E93408A15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42AB77-086A-F416-71A1-B12E25889948}"/>
              </a:ext>
            </a:extLst>
          </p:cNvPr>
          <p:cNvSpPr>
            <a:spLocks noGrp="1"/>
          </p:cNvSpPr>
          <p:nvPr>
            <p:ph type="ctrTitle"/>
          </p:nvPr>
        </p:nvSpPr>
        <p:spPr>
          <a:xfrm>
            <a:off x="1524000" y="1023347"/>
            <a:ext cx="9144000" cy="990917"/>
          </a:xfrm>
        </p:spPr>
        <p:txBody>
          <a:bodyPr>
            <a:normAutofit/>
          </a:bodyPr>
          <a:lstStyle/>
          <a:p>
            <a:r>
              <a:rPr lang="en-US" dirty="0"/>
              <a:t>LIF ALGORITHM</a:t>
            </a:r>
            <a:endParaRPr lang="en-IN" dirty="0"/>
          </a:p>
        </p:txBody>
      </p:sp>
      <p:sp>
        <p:nvSpPr>
          <p:cNvPr id="2" name="TextBox 1">
            <a:extLst>
              <a:ext uri="{FF2B5EF4-FFF2-40B4-BE49-F238E27FC236}">
                <a16:creationId xmlns:a16="http://schemas.microsoft.com/office/drawing/2014/main" id="{C94F7FA5-F74E-3828-C958-CB93FB886F69}"/>
              </a:ext>
            </a:extLst>
          </p:cNvPr>
          <p:cNvSpPr txBox="1"/>
          <p:nvPr/>
        </p:nvSpPr>
        <p:spPr>
          <a:xfrm>
            <a:off x="1053869" y="1700357"/>
            <a:ext cx="1384531" cy="432792"/>
          </a:xfrm>
          <a:prstGeom prst="flowChartTerminator">
            <a:avLst/>
          </a:prstGeom>
          <a:noFill/>
          <a:ln>
            <a:solidFill>
              <a:schemeClr val="tx1"/>
            </a:solidFill>
          </a:ln>
        </p:spPr>
        <p:txBody>
          <a:bodyPr wrap="square" rtlCol="0">
            <a:spAutoFit/>
          </a:bodyPr>
          <a:lstStyle/>
          <a:p>
            <a:pPr algn="ctr"/>
            <a:r>
              <a:rPr lang="en-US" dirty="0"/>
              <a:t>START</a:t>
            </a:r>
            <a:endParaRPr lang="en-IN" dirty="0"/>
          </a:p>
        </p:txBody>
      </p:sp>
      <p:sp>
        <p:nvSpPr>
          <p:cNvPr id="6" name="TextBox 5">
            <a:extLst>
              <a:ext uri="{FF2B5EF4-FFF2-40B4-BE49-F238E27FC236}">
                <a16:creationId xmlns:a16="http://schemas.microsoft.com/office/drawing/2014/main" id="{7F8E9832-6D62-B468-4183-595E4A3DC73D}"/>
              </a:ext>
            </a:extLst>
          </p:cNvPr>
          <p:cNvSpPr txBox="1"/>
          <p:nvPr/>
        </p:nvSpPr>
        <p:spPr>
          <a:xfrm>
            <a:off x="1053869" y="2335780"/>
            <a:ext cx="1384531" cy="523220"/>
          </a:xfrm>
          <a:prstGeom prst="flowChartProcess">
            <a:avLst/>
          </a:prstGeom>
          <a:noFill/>
          <a:ln>
            <a:solidFill>
              <a:schemeClr val="tx1"/>
            </a:solidFill>
          </a:ln>
        </p:spPr>
        <p:txBody>
          <a:bodyPr wrap="square" rtlCol="0">
            <a:spAutoFit/>
          </a:bodyPr>
          <a:lstStyle/>
          <a:p>
            <a:pPr algn="ctr"/>
            <a:r>
              <a:rPr lang="en-US" dirty="0"/>
              <a:t>Patient Registration</a:t>
            </a:r>
            <a:endParaRPr lang="en-IN" dirty="0"/>
          </a:p>
        </p:txBody>
      </p:sp>
      <p:sp>
        <p:nvSpPr>
          <p:cNvPr id="8" name="TextBox 7">
            <a:extLst>
              <a:ext uri="{FF2B5EF4-FFF2-40B4-BE49-F238E27FC236}">
                <a16:creationId xmlns:a16="http://schemas.microsoft.com/office/drawing/2014/main" id="{2EA307AE-5C9C-EC7C-FD5E-4BA26D0619F6}"/>
              </a:ext>
            </a:extLst>
          </p:cNvPr>
          <p:cNvSpPr txBox="1"/>
          <p:nvPr/>
        </p:nvSpPr>
        <p:spPr>
          <a:xfrm>
            <a:off x="651393" y="3035685"/>
            <a:ext cx="1828800" cy="738664"/>
          </a:xfrm>
          <a:prstGeom prst="flowChartInputOutput">
            <a:avLst/>
          </a:prstGeom>
          <a:noFill/>
          <a:ln>
            <a:solidFill>
              <a:schemeClr val="tx1"/>
            </a:solidFill>
          </a:ln>
        </p:spPr>
        <p:txBody>
          <a:bodyPr wrap="square" rtlCol="0">
            <a:spAutoFit/>
          </a:bodyPr>
          <a:lstStyle/>
          <a:p>
            <a:pPr algn="ctr"/>
            <a:r>
              <a:rPr lang="en-US" dirty="0"/>
              <a:t>History Backfill</a:t>
            </a:r>
          </a:p>
          <a:p>
            <a:pPr algn="ctr"/>
            <a:r>
              <a:rPr lang="en-US" dirty="0"/>
              <a:t>(Optional)</a:t>
            </a:r>
            <a:endParaRPr lang="en-IN" dirty="0"/>
          </a:p>
        </p:txBody>
      </p:sp>
      <p:sp>
        <p:nvSpPr>
          <p:cNvPr id="10" name="TextBox 9">
            <a:extLst>
              <a:ext uri="{FF2B5EF4-FFF2-40B4-BE49-F238E27FC236}">
                <a16:creationId xmlns:a16="http://schemas.microsoft.com/office/drawing/2014/main" id="{738E1E45-7146-65B8-DA0C-7F646A7C5DE7}"/>
              </a:ext>
            </a:extLst>
          </p:cNvPr>
          <p:cNvSpPr txBox="1"/>
          <p:nvPr/>
        </p:nvSpPr>
        <p:spPr>
          <a:xfrm>
            <a:off x="651393" y="3974923"/>
            <a:ext cx="1889300" cy="611386"/>
          </a:xfrm>
          <a:prstGeom prst="flowChartMagneticDisk">
            <a:avLst/>
          </a:prstGeom>
          <a:noFill/>
          <a:ln>
            <a:solidFill>
              <a:schemeClr val="tx1"/>
            </a:solidFill>
          </a:ln>
        </p:spPr>
        <p:txBody>
          <a:bodyPr wrap="square" rtlCol="0">
            <a:spAutoFit/>
          </a:bodyPr>
          <a:lstStyle/>
          <a:p>
            <a:pPr algn="ctr"/>
            <a:r>
              <a:rPr lang="en-US" dirty="0"/>
              <a:t>Save Profile &amp; history</a:t>
            </a:r>
            <a:endParaRPr lang="en-IN" dirty="0"/>
          </a:p>
        </p:txBody>
      </p:sp>
      <p:sp>
        <p:nvSpPr>
          <p:cNvPr id="12" name="TextBox 11">
            <a:extLst>
              <a:ext uri="{FF2B5EF4-FFF2-40B4-BE49-F238E27FC236}">
                <a16:creationId xmlns:a16="http://schemas.microsoft.com/office/drawing/2014/main" id="{3DD0E4FD-AF79-9326-8E81-AC7424EB5855}"/>
              </a:ext>
            </a:extLst>
          </p:cNvPr>
          <p:cNvSpPr txBox="1"/>
          <p:nvPr/>
        </p:nvSpPr>
        <p:spPr>
          <a:xfrm>
            <a:off x="903777" y="4826840"/>
            <a:ext cx="1384531" cy="523220"/>
          </a:xfrm>
          <a:prstGeom prst="flowChartProcess">
            <a:avLst/>
          </a:prstGeom>
          <a:noFill/>
          <a:ln>
            <a:solidFill>
              <a:schemeClr val="tx1"/>
            </a:solidFill>
          </a:ln>
        </p:spPr>
        <p:txBody>
          <a:bodyPr wrap="square" rtlCol="0">
            <a:spAutoFit/>
          </a:bodyPr>
          <a:lstStyle/>
          <a:p>
            <a:pPr algn="ctr"/>
            <a:r>
              <a:rPr lang="en-US" dirty="0"/>
              <a:t>Secure Access Login</a:t>
            </a:r>
            <a:endParaRPr lang="en-IN" dirty="0"/>
          </a:p>
        </p:txBody>
      </p:sp>
      <p:sp>
        <p:nvSpPr>
          <p:cNvPr id="14" name="TextBox 13">
            <a:extLst>
              <a:ext uri="{FF2B5EF4-FFF2-40B4-BE49-F238E27FC236}">
                <a16:creationId xmlns:a16="http://schemas.microsoft.com/office/drawing/2014/main" id="{0052A860-9D03-C8E2-FC4B-1D671788A960}"/>
              </a:ext>
            </a:extLst>
          </p:cNvPr>
          <p:cNvSpPr txBox="1"/>
          <p:nvPr/>
        </p:nvSpPr>
        <p:spPr>
          <a:xfrm>
            <a:off x="385732" y="5489787"/>
            <a:ext cx="2720803" cy="1039356"/>
          </a:xfrm>
          <a:prstGeom prst="flowChartDecision">
            <a:avLst/>
          </a:prstGeom>
          <a:noFill/>
          <a:ln>
            <a:solidFill>
              <a:schemeClr val="tx1"/>
            </a:solidFill>
          </a:ln>
        </p:spPr>
        <p:txBody>
          <a:bodyPr wrap="square" rtlCol="0">
            <a:spAutoFit/>
          </a:bodyPr>
          <a:lstStyle/>
          <a:p>
            <a:pPr algn="ctr"/>
            <a:r>
              <a:rPr lang="en-US" dirty="0"/>
              <a:t>Authentication Check</a:t>
            </a:r>
            <a:endParaRPr lang="en-IN" dirty="0"/>
          </a:p>
        </p:txBody>
      </p:sp>
      <p:sp>
        <p:nvSpPr>
          <p:cNvPr id="16" name="TextBox 15">
            <a:extLst>
              <a:ext uri="{FF2B5EF4-FFF2-40B4-BE49-F238E27FC236}">
                <a16:creationId xmlns:a16="http://schemas.microsoft.com/office/drawing/2014/main" id="{DA4AD9C4-8310-3F8E-B12B-AB9B4CD24740}"/>
              </a:ext>
            </a:extLst>
          </p:cNvPr>
          <p:cNvSpPr txBox="1"/>
          <p:nvPr/>
        </p:nvSpPr>
        <p:spPr>
          <a:xfrm>
            <a:off x="5240594" y="1900332"/>
            <a:ext cx="2570480" cy="307777"/>
          </a:xfrm>
          <a:prstGeom prst="flowChartInputOutput">
            <a:avLst/>
          </a:prstGeom>
          <a:noFill/>
          <a:ln>
            <a:solidFill>
              <a:schemeClr val="tx1"/>
            </a:solidFill>
          </a:ln>
        </p:spPr>
        <p:txBody>
          <a:bodyPr wrap="square" rtlCol="0">
            <a:spAutoFit/>
          </a:bodyPr>
          <a:lstStyle/>
          <a:p>
            <a:pPr algn="ctr"/>
            <a:r>
              <a:rPr lang="en-US" dirty="0"/>
              <a:t>Patient Logging</a:t>
            </a:r>
            <a:endParaRPr lang="en-IN" dirty="0"/>
          </a:p>
        </p:txBody>
      </p:sp>
      <p:sp>
        <p:nvSpPr>
          <p:cNvPr id="18" name="TextBox 17">
            <a:extLst>
              <a:ext uri="{FF2B5EF4-FFF2-40B4-BE49-F238E27FC236}">
                <a16:creationId xmlns:a16="http://schemas.microsoft.com/office/drawing/2014/main" id="{183D2F62-87F7-4AF5-468F-CD758792F42D}"/>
              </a:ext>
            </a:extLst>
          </p:cNvPr>
          <p:cNvSpPr txBox="1"/>
          <p:nvPr/>
        </p:nvSpPr>
        <p:spPr>
          <a:xfrm>
            <a:off x="5612013" y="2383464"/>
            <a:ext cx="1384531" cy="307777"/>
          </a:xfrm>
          <a:prstGeom prst="flowChartProcess">
            <a:avLst/>
          </a:prstGeom>
          <a:noFill/>
          <a:ln>
            <a:solidFill>
              <a:schemeClr val="tx1"/>
            </a:solidFill>
          </a:ln>
        </p:spPr>
        <p:txBody>
          <a:bodyPr wrap="square" rtlCol="0">
            <a:spAutoFit/>
          </a:bodyPr>
          <a:lstStyle/>
          <a:p>
            <a:pPr algn="ctr"/>
            <a:r>
              <a:rPr lang="en-US" dirty="0"/>
              <a:t>AI Processing</a:t>
            </a:r>
            <a:endParaRPr lang="en-IN" dirty="0"/>
          </a:p>
        </p:txBody>
      </p:sp>
      <p:sp>
        <p:nvSpPr>
          <p:cNvPr id="20" name="TextBox 19">
            <a:extLst>
              <a:ext uri="{FF2B5EF4-FFF2-40B4-BE49-F238E27FC236}">
                <a16:creationId xmlns:a16="http://schemas.microsoft.com/office/drawing/2014/main" id="{2502C8D0-7ECB-F8A9-A36C-A503427C6A4B}"/>
              </a:ext>
            </a:extLst>
          </p:cNvPr>
          <p:cNvSpPr txBox="1"/>
          <p:nvPr/>
        </p:nvSpPr>
        <p:spPr>
          <a:xfrm>
            <a:off x="5359629" y="2859000"/>
            <a:ext cx="1889300" cy="611386"/>
          </a:xfrm>
          <a:prstGeom prst="flowChartMagneticDisk">
            <a:avLst/>
          </a:prstGeom>
          <a:noFill/>
          <a:ln>
            <a:solidFill>
              <a:schemeClr val="tx1"/>
            </a:solidFill>
          </a:ln>
        </p:spPr>
        <p:txBody>
          <a:bodyPr wrap="square" rtlCol="0">
            <a:spAutoFit/>
          </a:bodyPr>
          <a:lstStyle/>
          <a:p>
            <a:pPr algn="ctr"/>
            <a:r>
              <a:rPr lang="en-US" dirty="0"/>
              <a:t>Database Update</a:t>
            </a:r>
            <a:endParaRPr lang="en-IN" dirty="0"/>
          </a:p>
        </p:txBody>
      </p:sp>
      <p:sp>
        <p:nvSpPr>
          <p:cNvPr id="22" name="TextBox 21">
            <a:extLst>
              <a:ext uri="{FF2B5EF4-FFF2-40B4-BE49-F238E27FC236}">
                <a16:creationId xmlns:a16="http://schemas.microsoft.com/office/drawing/2014/main" id="{6BBFB4EC-024B-51ED-6C19-6DDE5C4D315B}"/>
              </a:ext>
            </a:extLst>
          </p:cNvPr>
          <p:cNvSpPr txBox="1"/>
          <p:nvPr/>
        </p:nvSpPr>
        <p:spPr>
          <a:xfrm>
            <a:off x="5253527" y="3634140"/>
            <a:ext cx="2141685" cy="307777"/>
          </a:xfrm>
          <a:prstGeom prst="flowChartProcess">
            <a:avLst/>
          </a:prstGeom>
          <a:noFill/>
          <a:ln>
            <a:solidFill>
              <a:schemeClr val="tx1"/>
            </a:solidFill>
          </a:ln>
        </p:spPr>
        <p:txBody>
          <a:bodyPr wrap="square" rtlCol="0">
            <a:spAutoFit/>
          </a:bodyPr>
          <a:lstStyle/>
          <a:p>
            <a:pPr algn="ctr"/>
            <a:r>
              <a:rPr lang="en-US" dirty="0"/>
              <a:t>Comparative Analysis</a:t>
            </a:r>
            <a:endParaRPr lang="en-IN" dirty="0"/>
          </a:p>
        </p:txBody>
      </p:sp>
      <p:sp>
        <p:nvSpPr>
          <p:cNvPr id="24" name="TextBox 23">
            <a:extLst>
              <a:ext uri="{FF2B5EF4-FFF2-40B4-BE49-F238E27FC236}">
                <a16:creationId xmlns:a16="http://schemas.microsoft.com/office/drawing/2014/main" id="{ACC7BBEE-F6E8-B47C-6207-A2530CDACC30}"/>
              </a:ext>
            </a:extLst>
          </p:cNvPr>
          <p:cNvSpPr txBox="1"/>
          <p:nvPr/>
        </p:nvSpPr>
        <p:spPr>
          <a:xfrm>
            <a:off x="5359629" y="4033879"/>
            <a:ext cx="1889300" cy="1039356"/>
          </a:xfrm>
          <a:prstGeom prst="flowChartDecision">
            <a:avLst/>
          </a:prstGeom>
          <a:noFill/>
          <a:ln>
            <a:solidFill>
              <a:schemeClr val="tx1"/>
            </a:solidFill>
          </a:ln>
        </p:spPr>
        <p:txBody>
          <a:bodyPr wrap="square" rtlCol="0">
            <a:spAutoFit/>
          </a:bodyPr>
          <a:lstStyle/>
          <a:p>
            <a:pPr algn="ctr"/>
            <a:r>
              <a:rPr lang="en-US" dirty="0"/>
              <a:t>Matching Logic 1</a:t>
            </a:r>
            <a:endParaRPr lang="en-IN" dirty="0"/>
          </a:p>
        </p:txBody>
      </p:sp>
      <p:sp>
        <p:nvSpPr>
          <p:cNvPr id="26" name="TextBox 25">
            <a:extLst>
              <a:ext uri="{FF2B5EF4-FFF2-40B4-BE49-F238E27FC236}">
                <a16:creationId xmlns:a16="http://schemas.microsoft.com/office/drawing/2014/main" id="{F1AFF093-1B49-7817-D7EB-262D99B8A49B}"/>
              </a:ext>
            </a:extLst>
          </p:cNvPr>
          <p:cNvSpPr txBox="1"/>
          <p:nvPr/>
        </p:nvSpPr>
        <p:spPr>
          <a:xfrm>
            <a:off x="5240594" y="5215959"/>
            <a:ext cx="2127369" cy="1039356"/>
          </a:xfrm>
          <a:prstGeom prst="flowChartDecision">
            <a:avLst/>
          </a:prstGeom>
          <a:noFill/>
          <a:ln>
            <a:solidFill>
              <a:schemeClr val="tx1"/>
            </a:solidFill>
          </a:ln>
        </p:spPr>
        <p:txBody>
          <a:bodyPr wrap="square" rtlCol="0">
            <a:spAutoFit/>
          </a:bodyPr>
          <a:lstStyle/>
          <a:p>
            <a:pPr algn="ctr"/>
            <a:r>
              <a:rPr lang="en-US" dirty="0"/>
              <a:t>Stress Evaluation</a:t>
            </a:r>
            <a:endParaRPr lang="en-IN" dirty="0"/>
          </a:p>
        </p:txBody>
      </p:sp>
      <p:sp>
        <p:nvSpPr>
          <p:cNvPr id="28" name="TextBox 27">
            <a:extLst>
              <a:ext uri="{FF2B5EF4-FFF2-40B4-BE49-F238E27FC236}">
                <a16:creationId xmlns:a16="http://schemas.microsoft.com/office/drawing/2014/main" id="{300AC0CC-EC9B-0856-A5DD-AA03956CA13F}"/>
              </a:ext>
            </a:extLst>
          </p:cNvPr>
          <p:cNvSpPr txBox="1"/>
          <p:nvPr/>
        </p:nvSpPr>
        <p:spPr>
          <a:xfrm>
            <a:off x="7501314" y="4280616"/>
            <a:ext cx="2087186" cy="523220"/>
          </a:xfrm>
          <a:prstGeom prst="flowChartInputOutput">
            <a:avLst/>
          </a:prstGeom>
          <a:noFill/>
          <a:ln>
            <a:solidFill>
              <a:schemeClr val="tx1"/>
            </a:solidFill>
          </a:ln>
        </p:spPr>
        <p:txBody>
          <a:bodyPr wrap="square" rtlCol="0">
            <a:spAutoFit/>
          </a:bodyPr>
          <a:lstStyle/>
          <a:p>
            <a:pPr algn="ctr"/>
            <a:r>
              <a:rPr lang="en-US" dirty="0"/>
              <a:t>Seizure Risk: High Risk</a:t>
            </a:r>
            <a:endParaRPr lang="en-IN" dirty="0"/>
          </a:p>
        </p:txBody>
      </p:sp>
      <p:sp>
        <p:nvSpPr>
          <p:cNvPr id="30" name="TextBox 29">
            <a:extLst>
              <a:ext uri="{FF2B5EF4-FFF2-40B4-BE49-F238E27FC236}">
                <a16:creationId xmlns:a16="http://schemas.microsoft.com/office/drawing/2014/main" id="{5F6C973C-263E-82ED-18D6-A82C05765BCC}"/>
              </a:ext>
            </a:extLst>
          </p:cNvPr>
          <p:cNvSpPr txBox="1"/>
          <p:nvPr/>
        </p:nvSpPr>
        <p:spPr>
          <a:xfrm>
            <a:off x="7501314" y="5438887"/>
            <a:ext cx="2257828" cy="523220"/>
          </a:xfrm>
          <a:prstGeom prst="flowChartInputOutput">
            <a:avLst/>
          </a:prstGeom>
          <a:noFill/>
          <a:ln>
            <a:solidFill>
              <a:schemeClr val="tx1"/>
            </a:solidFill>
          </a:ln>
        </p:spPr>
        <p:txBody>
          <a:bodyPr wrap="square" rtlCol="0">
            <a:spAutoFit/>
          </a:bodyPr>
          <a:lstStyle/>
          <a:p>
            <a:pPr algn="ctr"/>
            <a:r>
              <a:rPr lang="en-US" dirty="0"/>
              <a:t>Seizure Risk: Moderate Risk</a:t>
            </a:r>
            <a:endParaRPr lang="en-IN" dirty="0"/>
          </a:p>
        </p:txBody>
      </p:sp>
      <p:sp>
        <p:nvSpPr>
          <p:cNvPr id="32" name="TextBox 31">
            <a:extLst>
              <a:ext uri="{FF2B5EF4-FFF2-40B4-BE49-F238E27FC236}">
                <a16:creationId xmlns:a16="http://schemas.microsoft.com/office/drawing/2014/main" id="{88EBD7DB-92A3-7938-37D3-5F9796EC92B5}"/>
              </a:ext>
            </a:extLst>
          </p:cNvPr>
          <p:cNvSpPr txBox="1"/>
          <p:nvPr/>
        </p:nvSpPr>
        <p:spPr>
          <a:xfrm>
            <a:off x="5280777" y="6334780"/>
            <a:ext cx="2087186" cy="523220"/>
          </a:xfrm>
          <a:prstGeom prst="flowChartInputOutput">
            <a:avLst/>
          </a:prstGeom>
          <a:noFill/>
          <a:ln>
            <a:solidFill>
              <a:schemeClr val="tx1"/>
            </a:solidFill>
          </a:ln>
        </p:spPr>
        <p:txBody>
          <a:bodyPr wrap="square" rtlCol="0">
            <a:spAutoFit/>
          </a:bodyPr>
          <a:lstStyle/>
          <a:p>
            <a:pPr algn="ctr"/>
            <a:r>
              <a:rPr lang="en-US" dirty="0">
                <a:solidFill>
                  <a:schemeClr val="bg1"/>
                </a:solidFill>
              </a:rPr>
              <a:t>Seizure Risk: Low Risk</a:t>
            </a:r>
            <a:endParaRPr lang="en-IN" dirty="0">
              <a:solidFill>
                <a:schemeClr val="bg1"/>
              </a:solidFill>
            </a:endParaRPr>
          </a:p>
        </p:txBody>
      </p:sp>
      <p:sp>
        <p:nvSpPr>
          <p:cNvPr id="34" name="TextBox 33">
            <a:extLst>
              <a:ext uri="{FF2B5EF4-FFF2-40B4-BE49-F238E27FC236}">
                <a16:creationId xmlns:a16="http://schemas.microsoft.com/office/drawing/2014/main" id="{786E80C7-E1FE-B854-A492-EF36B0296031}"/>
              </a:ext>
            </a:extLst>
          </p:cNvPr>
          <p:cNvSpPr txBox="1"/>
          <p:nvPr/>
        </p:nvSpPr>
        <p:spPr>
          <a:xfrm>
            <a:off x="9913041" y="4826840"/>
            <a:ext cx="2141685" cy="307777"/>
          </a:xfrm>
          <a:prstGeom prst="flowChartProcess">
            <a:avLst/>
          </a:prstGeom>
          <a:noFill/>
          <a:ln>
            <a:solidFill>
              <a:schemeClr val="tx1"/>
            </a:solidFill>
          </a:ln>
        </p:spPr>
        <p:txBody>
          <a:bodyPr wrap="square" rtlCol="0">
            <a:spAutoFit/>
          </a:bodyPr>
          <a:lstStyle/>
          <a:p>
            <a:pPr algn="ctr"/>
            <a:r>
              <a:rPr lang="en-US" dirty="0"/>
              <a:t>Dashboard Visualization</a:t>
            </a:r>
            <a:endParaRPr lang="en-IN" dirty="0"/>
          </a:p>
        </p:txBody>
      </p:sp>
      <p:sp>
        <p:nvSpPr>
          <p:cNvPr id="36" name="TextBox 35">
            <a:extLst>
              <a:ext uri="{FF2B5EF4-FFF2-40B4-BE49-F238E27FC236}">
                <a16:creationId xmlns:a16="http://schemas.microsoft.com/office/drawing/2014/main" id="{D5337625-3349-1019-4282-9A6DA7616A78}"/>
              </a:ext>
            </a:extLst>
          </p:cNvPr>
          <p:cNvSpPr txBox="1"/>
          <p:nvPr/>
        </p:nvSpPr>
        <p:spPr>
          <a:xfrm>
            <a:off x="10291617" y="5901988"/>
            <a:ext cx="1384531" cy="432792"/>
          </a:xfrm>
          <a:prstGeom prst="flowChartTerminator">
            <a:avLst/>
          </a:prstGeom>
          <a:noFill/>
          <a:ln>
            <a:solidFill>
              <a:schemeClr val="tx1"/>
            </a:solidFill>
          </a:ln>
        </p:spPr>
        <p:txBody>
          <a:bodyPr wrap="square" rtlCol="0">
            <a:spAutoFit/>
          </a:bodyPr>
          <a:lstStyle/>
          <a:p>
            <a:pPr algn="ctr"/>
            <a:r>
              <a:rPr lang="en-US" dirty="0"/>
              <a:t>END</a:t>
            </a:r>
            <a:endParaRPr lang="en-IN" dirty="0"/>
          </a:p>
        </p:txBody>
      </p:sp>
      <p:cxnSp>
        <p:nvCxnSpPr>
          <p:cNvPr id="38" name="Straight Arrow Connector 37">
            <a:extLst>
              <a:ext uri="{FF2B5EF4-FFF2-40B4-BE49-F238E27FC236}">
                <a16:creationId xmlns:a16="http://schemas.microsoft.com/office/drawing/2014/main" id="{9C75ECC5-7DCD-4856-122E-D8ED65FBA030}"/>
              </a:ext>
            </a:extLst>
          </p:cNvPr>
          <p:cNvCxnSpPr>
            <a:stCxn id="2" idx="2"/>
            <a:endCxn id="6" idx="0"/>
          </p:cNvCxnSpPr>
          <p:nvPr/>
        </p:nvCxnSpPr>
        <p:spPr>
          <a:xfrm>
            <a:off x="1746135" y="2133149"/>
            <a:ext cx="0" cy="2026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413C3FF-0C95-7DCE-EEC7-5C5CC738A7BB}"/>
              </a:ext>
            </a:extLst>
          </p:cNvPr>
          <p:cNvCxnSpPr>
            <a:cxnSpLocks/>
            <a:endCxn id="8" idx="0"/>
          </p:cNvCxnSpPr>
          <p:nvPr/>
        </p:nvCxnSpPr>
        <p:spPr>
          <a:xfrm>
            <a:off x="1746135" y="2898957"/>
            <a:ext cx="2538" cy="1367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A8D8D75-1D75-497D-92B9-E0B0C89E7C06}"/>
              </a:ext>
            </a:extLst>
          </p:cNvPr>
          <p:cNvCxnSpPr>
            <a:cxnSpLocks/>
            <a:stCxn id="8" idx="4"/>
            <a:endCxn id="10" idx="1"/>
          </p:cNvCxnSpPr>
          <p:nvPr/>
        </p:nvCxnSpPr>
        <p:spPr>
          <a:xfrm>
            <a:off x="1565793" y="3774349"/>
            <a:ext cx="30250" cy="2005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1552956-2FB6-A38E-1CF6-F36556ECA05E}"/>
              </a:ext>
            </a:extLst>
          </p:cNvPr>
          <p:cNvCxnSpPr>
            <a:cxnSpLocks/>
            <a:endCxn id="12" idx="0"/>
          </p:cNvCxnSpPr>
          <p:nvPr/>
        </p:nvCxnSpPr>
        <p:spPr>
          <a:xfrm flipH="1">
            <a:off x="1596043" y="4582944"/>
            <a:ext cx="23725" cy="2438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DC995157-797F-EB13-AB8E-6647787BE059}"/>
              </a:ext>
            </a:extLst>
          </p:cNvPr>
          <p:cNvCxnSpPr>
            <a:cxnSpLocks/>
            <a:endCxn id="14" idx="0"/>
          </p:cNvCxnSpPr>
          <p:nvPr/>
        </p:nvCxnSpPr>
        <p:spPr>
          <a:xfrm>
            <a:off x="1739376" y="5350060"/>
            <a:ext cx="6758" cy="1397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14E1EFE6-5F99-E15E-C107-017D3C15E42E}"/>
              </a:ext>
            </a:extLst>
          </p:cNvPr>
          <p:cNvCxnSpPr>
            <a:stCxn id="14" idx="1"/>
            <a:endCxn id="12" idx="1"/>
          </p:cNvCxnSpPr>
          <p:nvPr/>
        </p:nvCxnSpPr>
        <p:spPr>
          <a:xfrm rot="10800000" flipH="1">
            <a:off x="385731" y="5088451"/>
            <a:ext cx="518045" cy="921015"/>
          </a:xfrm>
          <a:prstGeom prst="bentConnector3">
            <a:avLst>
              <a:gd name="adj1" fmla="val -4412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D6B1BD5-EDB6-1240-9194-5130DB05A757}"/>
              </a:ext>
            </a:extLst>
          </p:cNvPr>
          <p:cNvSpPr txBox="1"/>
          <p:nvPr/>
        </p:nvSpPr>
        <p:spPr>
          <a:xfrm>
            <a:off x="172600" y="5392720"/>
            <a:ext cx="426259" cy="307777"/>
          </a:xfrm>
          <a:prstGeom prst="flowChartProcess">
            <a:avLst/>
          </a:prstGeom>
          <a:noFill/>
          <a:ln>
            <a:noFill/>
          </a:ln>
        </p:spPr>
        <p:txBody>
          <a:bodyPr wrap="square" rtlCol="0">
            <a:spAutoFit/>
          </a:bodyPr>
          <a:lstStyle/>
          <a:p>
            <a:pPr algn="ctr"/>
            <a:r>
              <a:rPr lang="en-US" dirty="0"/>
              <a:t>No</a:t>
            </a:r>
            <a:endParaRPr lang="en-IN" dirty="0"/>
          </a:p>
        </p:txBody>
      </p:sp>
      <p:cxnSp>
        <p:nvCxnSpPr>
          <p:cNvPr id="60" name="Connector: Elbow 59">
            <a:extLst>
              <a:ext uri="{FF2B5EF4-FFF2-40B4-BE49-F238E27FC236}">
                <a16:creationId xmlns:a16="http://schemas.microsoft.com/office/drawing/2014/main" id="{F7B9F749-EA99-B536-A89E-93F49AC387D9}"/>
              </a:ext>
            </a:extLst>
          </p:cNvPr>
          <p:cNvCxnSpPr>
            <a:stCxn id="14" idx="3"/>
            <a:endCxn id="16" idx="2"/>
          </p:cNvCxnSpPr>
          <p:nvPr/>
        </p:nvCxnSpPr>
        <p:spPr>
          <a:xfrm flipV="1">
            <a:off x="3106535" y="2054221"/>
            <a:ext cx="2391107" cy="395524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D07262AB-AA00-DE0B-C07F-660EF56548E6}"/>
              </a:ext>
            </a:extLst>
          </p:cNvPr>
          <p:cNvSpPr txBox="1"/>
          <p:nvPr/>
        </p:nvSpPr>
        <p:spPr>
          <a:xfrm>
            <a:off x="3246118" y="5748099"/>
            <a:ext cx="581312" cy="307777"/>
          </a:xfrm>
          <a:prstGeom prst="flowChartProcess">
            <a:avLst/>
          </a:prstGeom>
          <a:noFill/>
          <a:ln>
            <a:noFill/>
          </a:ln>
        </p:spPr>
        <p:txBody>
          <a:bodyPr wrap="square" rtlCol="0">
            <a:spAutoFit/>
          </a:bodyPr>
          <a:lstStyle/>
          <a:p>
            <a:pPr algn="ctr"/>
            <a:r>
              <a:rPr lang="en-US" dirty="0"/>
              <a:t>Yes</a:t>
            </a:r>
            <a:endParaRPr lang="en-IN" dirty="0"/>
          </a:p>
        </p:txBody>
      </p:sp>
      <p:cxnSp>
        <p:nvCxnSpPr>
          <p:cNvPr id="66" name="Straight Arrow Connector 65">
            <a:extLst>
              <a:ext uri="{FF2B5EF4-FFF2-40B4-BE49-F238E27FC236}">
                <a16:creationId xmlns:a16="http://schemas.microsoft.com/office/drawing/2014/main" id="{B8BB399A-9DF4-CDFA-0833-A4C3AAF4056B}"/>
              </a:ext>
            </a:extLst>
          </p:cNvPr>
          <p:cNvCxnSpPr>
            <a:endCxn id="18" idx="0"/>
          </p:cNvCxnSpPr>
          <p:nvPr/>
        </p:nvCxnSpPr>
        <p:spPr>
          <a:xfrm>
            <a:off x="6217919" y="2223544"/>
            <a:ext cx="86360" cy="1599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F925022-8A0B-94BD-F892-53D86F11E13F}"/>
              </a:ext>
            </a:extLst>
          </p:cNvPr>
          <p:cNvCxnSpPr>
            <a:stCxn id="18" idx="2"/>
            <a:endCxn id="20" idx="1"/>
          </p:cNvCxnSpPr>
          <p:nvPr/>
        </p:nvCxnSpPr>
        <p:spPr>
          <a:xfrm>
            <a:off x="6304279" y="2691241"/>
            <a:ext cx="0" cy="1677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9E2C0EF-B524-3B1D-C60A-0D96D61F07AD}"/>
              </a:ext>
            </a:extLst>
          </p:cNvPr>
          <p:cNvCxnSpPr>
            <a:stCxn id="20" idx="3"/>
            <a:endCxn id="22" idx="0"/>
          </p:cNvCxnSpPr>
          <p:nvPr/>
        </p:nvCxnSpPr>
        <p:spPr>
          <a:xfrm>
            <a:off x="6304279" y="3470386"/>
            <a:ext cx="20091" cy="1637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43BC05AD-3D58-9BFB-498E-A30887DF3AFD}"/>
              </a:ext>
            </a:extLst>
          </p:cNvPr>
          <p:cNvCxnSpPr>
            <a:stCxn id="22" idx="2"/>
            <a:endCxn id="24" idx="0"/>
          </p:cNvCxnSpPr>
          <p:nvPr/>
        </p:nvCxnSpPr>
        <p:spPr>
          <a:xfrm flipH="1">
            <a:off x="6304279" y="3941917"/>
            <a:ext cx="20091" cy="919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DC928FCF-AA7E-4C48-88BB-45E08309A31C}"/>
              </a:ext>
            </a:extLst>
          </p:cNvPr>
          <p:cNvCxnSpPr>
            <a:stCxn id="24" idx="2"/>
            <a:endCxn id="26" idx="0"/>
          </p:cNvCxnSpPr>
          <p:nvPr/>
        </p:nvCxnSpPr>
        <p:spPr>
          <a:xfrm>
            <a:off x="6304279" y="5073235"/>
            <a:ext cx="0" cy="1427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A1F6F9A0-F3A1-29F0-F054-1994106E1DE9}"/>
              </a:ext>
            </a:extLst>
          </p:cNvPr>
          <p:cNvCxnSpPr>
            <a:stCxn id="26" idx="2"/>
            <a:endCxn id="32" idx="1"/>
          </p:cNvCxnSpPr>
          <p:nvPr/>
        </p:nvCxnSpPr>
        <p:spPr>
          <a:xfrm>
            <a:off x="6304279" y="6255315"/>
            <a:ext cx="20091" cy="794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DB1A8432-4582-313C-8305-5EE139F2B49B}"/>
              </a:ext>
            </a:extLst>
          </p:cNvPr>
          <p:cNvCxnSpPr>
            <a:stCxn id="24" idx="3"/>
            <a:endCxn id="28" idx="2"/>
          </p:cNvCxnSpPr>
          <p:nvPr/>
        </p:nvCxnSpPr>
        <p:spPr>
          <a:xfrm flipV="1">
            <a:off x="7248929" y="4542226"/>
            <a:ext cx="461104" cy="113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AA3FA1FF-99A3-E0E6-B727-287B70A8A259}"/>
              </a:ext>
            </a:extLst>
          </p:cNvPr>
          <p:cNvCxnSpPr>
            <a:stCxn id="26" idx="3"/>
            <a:endCxn id="30" idx="2"/>
          </p:cNvCxnSpPr>
          <p:nvPr/>
        </p:nvCxnSpPr>
        <p:spPr>
          <a:xfrm flipV="1">
            <a:off x="7367963" y="5700497"/>
            <a:ext cx="359134" cy="351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0FC3E2A8-DC46-8B18-0ACE-97720C14DAD0}"/>
              </a:ext>
            </a:extLst>
          </p:cNvPr>
          <p:cNvCxnSpPr>
            <a:stCxn id="28" idx="5"/>
            <a:endCxn id="34" idx="0"/>
          </p:cNvCxnSpPr>
          <p:nvPr/>
        </p:nvCxnSpPr>
        <p:spPr>
          <a:xfrm>
            <a:off x="9379781" y="4542226"/>
            <a:ext cx="1604103" cy="28461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D8057B6F-3FC2-CFBC-567A-1EFE207CD3AF}"/>
              </a:ext>
            </a:extLst>
          </p:cNvPr>
          <p:cNvCxnSpPr>
            <a:stCxn id="30" idx="5"/>
            <a:endCxn id="34" idx="1"/>
          </p:cNvCxnSpPr>
          <p:nvPr/>
        </p:nvCxnSpPr>
        <p:spPr>
          <a:xfrm flipV="1">
            <a:off x="9533359" y="4980729"/>
            <a:ext cx="379682" cy="71976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BBBE36F6-D0A8-607F-D5E9-216F7D3BEB21}"/>
              </a:ext>
            </a:extLst>
          </p:cNvPr>
          <p:cNvCxnSpPr>
            <a:cxnSpLocks/>
          </p:cNvCxnSpPr>
          <p:nvPr/>
        </p:nvCxnSpPr>
        <p:spPr>
          <a:xfrm flipV="1">
            <a:off x="7148634" y="5312183"/>
            <a:ext cx="2599898" cy="1246330"/>
          </a:xfrm>
          <a:prstGeom prst="bentConnector3">
            <a:avLst>
              <a:gd name="adj1" fmla="val 9982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5A72F1B3-7FFE-B257-CC63-FCED8E66ADE9}"/>
              </a:ext>
            </a:extLst>
          </p:cNvPr>
          <p:cNvCxnSpPr>
            <a:stCxn id="34" idx="2"/>
            <a:endCxn id="36" idx="0"/>
          </p:cNvCxnSpPr>
          <p:nvPr/>
        </p:nvCxnSpPr>
        <p:spPr>
          <a:xfrm flipH="1">
            <a:off x="10983883" y="5134617"/>
            <a:ext cx="1" cy="7673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DEEF3E66-4FAE-3AA3-F4D7-C5085F628F87}"/>
              </a:ext>
            </a:extLst>
          </p:cNvPr>
          <p:cNvSpPr txBox="1"/>
          <p:nvPr/>
        </p:nvSpPr>
        <p:spPr>
          <a:xfrm>
            <a:off x="7084466" y="4234449"/>
            <a:ext cx="581312" cy="307777"/>
          </a:xfrm>
          <a:prstGeom prst="flowChartProcess">
            <a:avLst/>
          </a:prstGeom>
          <a:noFill/>
          <a:ln>
            <a:noFill/>
          </a:ln>
        </p:spPr>
        <p:txBody>
          <a:bodyPr wrap="square" rtlCol="0">
            <a:spAutoFit/>
          </a:bodyPr>
          <a:lstStyle/>
          <a:p>
            <a:pPr algn="ctr"/>
            <a:r>
              <a:rPr lang="en-US" dirty="0"/>
              <a:t>Yes</a:t>
            </a:r>
            <a:endParaRPr lang="en-IN" dirty="0"/>
          </a:p>
        </p:txBody>
      </p:sp>
      <p:sp>
        <p:nvSpPr>
          <p:cNvPr id="98" name="TextBox 97">
            <a:extLst>
              <a:ext uri="{FF2B5EF4-FFF2-40B4-BE49-F238E27FC236}">
                <a16:creationId xmlns:a16="http://schemas.microsoft.com/office/drawing/2014/main" id="{63BB582F-D82A-588B-D1C5-29E388BCAD63}"/>
              </a:ext>
            </a:extLst>
          </p:cNvPr>
          <p:cNvSpPr txBox="1"/>
          <p:nvPr/>
        </p:nvSpPr>
        <p:spPr>
          <a:xfrm>
            <a:off x="7200760" y="5401010"/>
            <a:ext cx="581312" cy="307777"/>
          </a:xfrm>
          <a:prstGeom prst="flowChartProcess">
            <a:avLst/>
          </a:prstGeom>
          <a:noFill/>
          <a:ln>
            <a:noFill/>
          </a:ln>
        </p:spPr>
        <p:txBody>
          <a:bodyPr wrap="square" rtlCol="0">
            <a:spAutoFit/>
          </a:bodyPr>
          <a:lstStyle/>
          <a:p>
            <a:pPr algn="ctr"/>
            <a:r>
              <a:rPr lang="en-US" dirty="0"/>
              <a:t>Yes</a:t>
            </a:r>
            <a:endParaRPr lang="en-IN" dirty="0"/>
          </a:p>
        </p:txBody>
      </p:sp>
      <p:sp>
        <p:nvSpPr>
          <p:cNvPr id="100" name="TextBox 99">
            <a:extLst>
              <a:ext uri="{FF2B5EF4-FFF2-40B4-BE49-F238E27FC236}">
                <a16:creationId xmlns:a16="http://schemas.microsoft.com/office/drawing/2014/main" id="{842277A4-14A8-1126-1A7B-4A2D9A37739A}"/>
              </a:ext>
            </a:extLst>
          </p:cNvPr>
          <p:cNvSpPr txBox="1"/>
          <p:nvPr/>
        </p:nvSpPr>
        <p:spPr>
          <a:xfrm>
            <a:off x="6376242" y="5022114"/>
            <a:ext cx="426259" cy="307777"/>
          </a:xfrm>
          <a:prstGeom prst="flowChartProcess">
            <a:avLst/>
          </a:prstGeom>
          <a:noFill/>
          <a:ln>
            <a:noFill/>
          </a:ln>
        </p:spPr>
        <p:txBody>
          <a:bodyPr wrap="square" rtlCol="0">
            <a:spAutoFit/>
          </a:bodyPr>
          <a:lstStyle/>
          <a:p>
            <a:pPr algn="ctr"/>
            <a:r>
              <a:rPr lang="en-US" dirty="0"/>
              <a:t>No</a:t>
            </a:r>
            <a:endParaRPr lang="en-IN" dirty="0"/>
          </a:p>
        </p:txBody>
      </p:sp>
      <p:sp>
        <p:nvSpPr>
          <p:cNvPr id="102" name="TextBox 101">
            <a:extLst>
              <a:ext uri="{FF2B5EF4-FFF2-40B4-BE49-F238E27FC236}">
                <a16:creationId xmlns:a16="http://schemas.microsoft.com/office/drawing/2014/main" id="{74C09569-B657-BF51-E884-5AF47F9BE445}"/>
              </a:ext>
            </a:extLst>
          </p:cNvPr>
          <p:cNvSpPr txBox="1"/>
          <p:nvPr/>
        </p:nvSpPr>
        <p:spPr>
          <a:xfrm>
            <a:off x="6512385" y="6081937"/>
            <a:ext cx="426259" cy="307777"/>
          </a:xfrm>
          <a:prstGeom prst="flowChartProcess">
            <a:avLst/>
          </a:prstGeom>
          <a:noFill/>
          <a:ln>
            <a:noFill/>
          </a:ln>
        </p:spPr>
        <p:txBody>
          <a:bodyPr wrap="square" rtlCol="0">
            <a:spAutoFit/>
          </a:bodyPr>
          <a:lstStyle/>
          <a:p>
            <a:pPr algn="ctr"/>
            <a:r>
              <a:rPr lang="en-US" dirty="0"/>
              <a:t>No</a:t>
            </a:r>
            <a:endParaRPr lang="en-IN" dirty="0"/>
          </a:p>
        </p:txBody>
      </p:sp>
    </p:spTree>
    <p:extLst>
      <p:ext uri="{BB962C8B-B14F-4D97-AF65-F5344CB8AC3E}">
        <p14:creationId xmlns:p14="http://schemas.microsoft.com/office/powerpoint/2010/main" val="2647735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53C30-66BD-76F9-43E6-C0D809659D6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1408F9-FEF1-DA7E-4D42-F5A166270A71}"/>
              </a:ext>
            </a:extLst>
          </p:cNvPr>
          <p:cNvSpPr>
            <a:spLocks noGrp="1"/>
          </p:cNvSpPr>
          <p:nvPr>
            <p:ph type="ctrTitle"/>
          </p:nvPr>
        </p:nvSpPr>
        <p:spPr>
          <a:xfrm>
            <a:off x="1524000" y="1122363"/>
            <a:ext cx="9144000" cy="990917"/>
          </a:xfrm>
        </p:spPr>
        <p:txBody>
          <a:bodyPr>
            <a:normAutofit/>
          </a:bodyPr>
          <a:lstStyle/>
          <a:p>
            <a:r>
              <a:rPr lang="en-US" dirty="0"/>
              <a:t>ER Diagram</a:t>
            </a:r>
            <a:endParaRPr lang="en-IN" dirty="0"/>
          </a:p>
        </p:txBody>
      </p:sp>
      <p:sp>
        <p:nvSpPr>
          <p:cNvPr id="5" name="Subtitle 4">
            <a:extLst>
              <a:ext uri="{FF2B5EF4-FFF2-40B4-BE49-F238E27FC236}">
                <a16:creationId xmlns:a16="http://schemas.microsoft.com/office/drawing/2014/main" id="{1ECF0C6B-13E1-F6DA-9CE4-2EC26B01FE57}"/>
              </a:ext>
            </a:extLst>
          </p:cNvPr>
          <p:cNvSpPr>
            <a:spLocks noGrp="1"/>
          </p:cNvSpPr>
          <p:nvPr>
            <p:ph type="subTitle" idx="1"/>
          </p:nvPr>
        </p:nvSpPr>
        <p:spPr>
          <a:xfrm>
            <a:off x="843280" y="2042159"/>
            <a:ext cx="11115040" cy="3693478"/>
          </a:xfrm>
        </p:spPr>
        <p:txBody>
          <a:bodyPr>
            <a:normAutofit/>
          </a:bodyPr>
          <a:lstStyle/>
          <a:p>
            <a:pPr algn="l">
              <a:buFont typeface="Arial" panose="020B0604020202020204" pitchFamily="34" charset="0"/>
              <a:buChar char="•"/>
            </a:pPr>
            <a:r>
              <a:rPr lang="en-US" dirty="0"/>
              <a:t>Database </a:t>
            </a:r>
            <a:r>
              <a:rPr lang="en-US" dirty="0" err="1"/>
              <a:t>epilepsy_mlops_db</a:t>
            </a:r>
            <a:endParaRPr lang="en-US" dirty="0"/>
          </a:p>
          <a:p>
            <a:pPr marL="50800" indent="0" algn="l"/>
            <a:endParaRPr lang="en-IN" dirty="0"/>
          </a:p>
        </p:txBody>
      </p:sp>
      <p:pic>
        <p:nvPicPr>
          <p:cNvPr id="3" name="Picture 2">
            <a:extLst>
              <a:ext uri="{FF2B5EF4-FFF2-40B4-BE49-F238E27FC236}">
                <a16:creationId xmlns:a16="http://schemas.microsoft.com/office/drawing/2014/main" id="{3A667A7E-5915-3CFE-DFFF-2B5E072ED87C}"/>
              </a:ext>
            </a:extLst>
          </p:cNvPr>
          <p:cNvPicPr>
            <a:picLocks noChangeAspect="1"/>
          </p:cNvPicPr>
          <p:nvPr/>
        </p:nvPicPr>
        <p:blipFill>
          <a:blip r:embed="rId2"/>
          <a:stretch>
            <a:fillRect/>
          </a:stretch>
        </p:blipFill>
        <p:spPr>
          <a:xfrm>
            <a:off x="2748280" y="2593716"/>
            <a:ext cx="6695440" cy="3736990"/>
          </a:xfrm>
          <a:prstGeom prst="rect">
            <a:avLst/>
          </a:prstGeom>
        </p:spPr>
      </p:pic>
    </p:spTree>
    <p:extLst>
      <p:ext uri="{BB962C8B-B14F-4D97-AF65-F5344CB8AC3E}">
        <p14:creationId xmlns:p14="http://schemas.microsoft.com/office/powerpoint/2010/main" val="1284429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4F3F2-B309-3768-4D2E-E05B79B512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CFAC51-8862-4257-6AC0-2EBB11024004}"/>
              </a:ext>
            </a:extLst>
          </p:cNvPr>
          <p:cNvSpPr>
            <a:spLocks noGrp="1"/>
          </p:cNvSpPr>
          <p:nvPr>
            <p:ph type="ctrTitle"/>
          </p:nvPr>
        </p:nvSpPr>
        <p:spPr>
          <a:xfrm>
            <a:off x="1524000" y="1122363"/>
            <a:ext cx="9144000" cy="990917"/>
          </a:xfrm>
        </p:spPr>
        <p:txBody>
          <a:bodyPr>
            <a:normAutofit/>
          </a:bodyPr>
          <a:lstStyle/>
          <a:p>
            <a:r>
              <a:rPr lang="en-US" dirty="0"/>
              <a:t>Mathematical Model</a:t>
            </a:r>
            <a:endParaRPr lang="en-IN" dirty="0"/>
          </a:p>
        </p:txBody>
      </p:sp>
      <mc:AlternateContent xmlns:mc="http://schemas.openxmlformats.org/markup-compatibility/2006" xmlns:a14="http://schemas.microsoft.com/office/drawing/2010/main">
        <mc:Choice Requires="a14">
          <p:sp>
            <p:nvSpPr>
              <p:cNvPr id="5" name="Subtitle 4">
                <a:extLst>
                  <a:ext uri="{FF2B5EF4-FFF2-40B4-BE49-F238E27FC236}">
                    <a16:creationId xmlns:a16="http://schemas.microsoft.com/office/drawing/2014/main" id="{ABFE86F7-F81D-77E6-EDCB-45F6404F4878}"/>
                  </a:ext>
                </a:extLst>
              </p:cNvPr>
              <p:cNvSpPr>
                <a:spLocks noGrp="1"/>
              </p:cNvSpPr>
              <p:nvPr>
                <p:ph type="subTitle" idx="1"/>
              </p:nvPr>
            </p:nvSpPr>
            <p:spPr>
              <a:xfrm>
                <a:off x="843280" y="2042159"/>
                <a:ext cx="11115040" cy="3693478"/>
              </a:xfrm>
            </p:spPr>
            <p:txBody>
              <a:bodyPr>
                <a:normAutofit lnSpcReduction="10000"/>
              </a:bodyPr>
              <a:lstStyle/>
              <a:p>
                <a:pPr algn="l">
                  <a:buFont typeface="Arial" panose="020B0604020202020204" pitchFamily="34" charset="0"/>
                  <a:buChar char="•"/>
                </a:pPr>
                <a:r>
                  <a:rPr lang="en-IN" dirty="0"/>
                  <a:t>Core Diagnostic Logic (Bayes' Theorem)</a:t>
                </a:r>
              </a:p>
              <a:p>
                <a:pPr marL="50800" indent="0" algn="l"/>
                <a:r>
                  <a:rPr lang="en-IN" sz="2000" b="1" dirty="0"/>
                  <a:t>Concept:</a:t>
                </a:r>
                <a:r>
                  <a:rPr lang="en-IN" sz="2000" dirty="0"/>
                  <a:t> The foundational logic of the LIF Engine. It updates the baseline risk of a seizure by incorporating new daily telemetry.</a:t>
                </a:r>
              </a:p>
              <a:p>
                <a:pPr marL="50800" indent="0" algn="l"/>
                <a:endParaRPr lang="en-IN" sz="2000" dirty="0"/>
              </a:p>
              <a:p>
                <a:pPr marL="50800" indent="0"/>
                <a:r>
                  <a:rPr lang="en-US" dirty="0"/>
                  <a:t>P(S|E) = </a:t>
                </a:r>
                <a14:m>
                  <m:oMath xmlns:m="http://schemas.openxmlformats.org/officeDocument/2006/math">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𝑃</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𝐸</m:t>
                            </m:r>
                          </m:e>
                          <m:e>
                            <m:r>
                              <a:rPr lang="en-US" sz="2800" b="0" i="1" smtClean="0">
                                <a:latin typeface="Cambria Math" panose="02040503050406030204" pitchFamily="18" charset="0"/>
                              </a:rPr>
                              <m:t>𝑆</m:t>
                            </m:r>
                          </m:e>
                        </m:d>
                        <m:r>
                          <a:rPr lang="en-US" sz="2800" b="0" i="1" smtClean="0">
                            <a:latin typeface="Cambria Math" panose="02040503050406030204" pitchFamily="18" charset="0"/>
                          </a:rPr>
                          <m:t>𝑃</m:t>
                        </m:r>
                        <m:r>
                          <a:rPr lang="en-US" sz="2800" b="0" i="1" smtClean="0">
                            <a:latin typeface="Cambria Math" panose="02040503050406030204" pitchFamily="18" charset="0"/>
                          </a:rPr>
                          <m:t>(</m:t>
                        </m:r>
                        <m:r>
                          <a:rPr lang="en-US" sz="2800" b="0" i="1" smtClean="0">
                            <a:latin typeface="Cambria Math" panose="02040503050406030204" pitchFamily="18" charset="0"/>
                          </a:rPr>
                          <m:t>𝑆</m:t>
                        </m:r>
                        <m:r>
                          <a:rPr lang="en-US" sz="2800" b="0" i="1" smtClean="0">
                            <a:latin typeface="Cambria Math" panose="02040503050406030204" pitchFamily="18" charset="0"/>
                          </a:rPr>
                          <m:t>)</m:t>
                        </m:r>
                      </m:num>
                      <m:den>
                        <m:r>
                          <a:rPr lang="en-US" sz="2800" b="0" i="1" smtClean="0">
                            <a:latin typeface="Cambria Math" panose="02040503050406030204" pitchFamily="18" charset="0"/>
                          </a:rPr>
                          <m:t>𝑃</m:t>
                        </m:r>
                        <m:r>
                          <a:rPr lang="en-US" sz="2800" b="0" i="1" smtClean="0">
                            <a:latin typeface="Cambria Math" panose="02040503050406030204" pitchFamily="18" charset="0"/>
                          </a:rPr>
                          <m:t>(</m:t>
                        </m:r>
                        <m:r>
                          <a:rPr lang="en-US" sz="2800" b="0" i="1" smtClean="0">
                            <a:latin typeface="Cambria Math" panose="02040503050406030204" pitchFamily="18" charset="0"/>
                          </a:rPr>
                          <m:t>𝐸</m:t>
                        </m:r>
                        <m:r>
                          <a:rPr lang="en-US" sz="2800" b="0" i="1" smtClean="0">
                            <a:latin typeface="Cambria Math" panose="02040503050406030204" pitchFamily="18" charset="0"/>
                          </a:rPr>
                          <m:t>)</m:t>
                        </m:r>
                      </m:den>
                    </m:f>
                  </m:oMath>
                </a14:m>
                <a:endParaRPr lang="en-US" dirty="0"/>
              </a:p>
              <a:p>
                <a:pPr marL="50800" indent="0"/>
                <a:endParaRPr lang="en-US" dirty="0"/>
              </a:p>
              <a:p>
                <a:pPr marL="50800" indent="0" algn="just"/>
                <a:r>
                  <a:rPr lang="en-IN" sz="2000" b="1" dirty="0"/>
                  <a:t>Application in LIF Engine:</a:t>
                </a:r>
                <a:r>
                  <a:rPr lang="en-IN" sz="2000" dirty="0"/>
                  <a:t> This is the core equation driving the dashboard. It calculates the final </a:t>
                </a:r>
                <a:r>
                  <a:rPr lang="en-IN" sz="2000" b="1" dirty="0"/>
                  <a:t>Posterior Probability</a:t>
                </a:r>
                <a:r>
                  <a:rPr lang="en-IN" sz="2000" dirty="0"/>
                  <a:t> </a:t>
                </a:r>
                <a14:m>
                  <m:oMath xmlns:m="http://schemas.openxmlformats.org/officeDocument/2006/math">
                    <m:r>
                      <a:rPr lang="en-IN" sz="2000" i="1">
                        <a:latin typeface="Cambria Math" panose="02040503050406030204" pitchFamily="18" charset="0"/>
                      </a:rPr>
                      <m:t>𝑃</m:t>
                    </m:r>
                    <m:d>
                      <m:dPr>
                        <m:ctrlPr>
                          <a:rPr lang="en-IN" sz="2000" i="1">
                            <a:latin typeface="Cambria Math" panose="02040503050406030204" pitchFamily="18" charset="0"/>
                          </a:rPr>
                        </m:ctrlPr>
                      </m:dPr>
                      <m:e>
                        <m:r>
                          <a:rPr lang="en-IN" sz="2000" i="1">
                            <a:latin typeface="Cambria Math" panose="02040503050406030204" pitchFamily="18" charset="0"/>
                          </a:rPr>
                          <m:t>𝑆</m:t>
                        </m:r>
                        <m:r>
                          <a:rPr lang="en-IN" sz="2000">
                            <a:latin typeface="Cambria Math" panose="02040503050406030204" pitchFamily="18" charset="0"/>
                          </a:rPr>
                          <m:t>|</m:t>
                        </m:r>
                        <m:r>
                          <a:rPr lang="en-IN" sz="2000" i="1">
                            <a:latin typeface="Cambria Math" panose="02040503050406030204" pitchFamily="18" charset="0"/>
                          </a:rPr>
                          <m:t>𝐸</m:t>
                        </m:r>
                      </m:e>
                    </m:d>
                  </m:oMath>
                </a14:m>
                <a:r>
                  <a:rPr lang="en-IN" sz="2000" dirty="0"/>
                  <a:t>—the percentage displayed on screen—by </a:t>
                </a:r>
                <a:r>
                  <a:rPr lang="en-IN" sz="2000" dirty="0" err="1"/>
                  <a:t>analyzing</a:t>
                </a:r>
                <a:r>
                  <a:rPr lang="en-IN" sz="2000" dirty="0"/>
                  <a:t> the patient's daily inputs (Evidence) against their historical baseline (Prior).</a:t>
                </a:r>
                <a:endParaRPr lang="en-US" dirty="0"/>
              </a:p>
            </p:txBody>
          </p:sp>
        </mc:Choice>
        <mc:Fallback xmlns="">
          <p:sp>
            <p:nvSpPr>
              <p:cNvPr id="5" name="Subtitle 4">
                <a:extLst>
                  <a:ext uri="{FF2B5EF4-FFF2-40B4-BE49-F238E27FC236}">
                    <a16:creationId xmlns:a16="http://schemas.microsoft.com/office/drawing/2014/main" id="{ABFE86F7-F81D-77E6-EDCB-45F6404F4878}"/>
                  </a:ext>
                </a:extLst>
              </p:cNvPr>
              <p:cNvSpPr>
                <a:spLocks noGrp="1" noRot="1" noChangeAspect="1" noMove="1" noResize="1" noEditPoints="1" noAdjustHandles="1" noChangeArrowheads="1" noChangeShapeType="1" noTextEdit="1"/>
              </p:cNvSpPr>
              <p:nvPr>
                <p:ph type="subTitle" idx="1"/>
              </p:nvPr>
            </p:nvSpPr>
            <p:spPr>
              <a:xfrm>
                <a:off x="843280" y="2042159"/>
                <a:ext cx="11115040" cy="3693478"/>
              </a:xfrm>
              <a:blipFill>
                <a:blip r:embed="rId2"/>
                <a:stretch>
                  <a:fillRect l="-274" r="-548"/>
                </a:stretch>
              </a:blipFill>
            </p:spPr>
            <p:txBody>
              <a:bodyPr/>
              <a:lstStyle/>
              <a:p>
                <a:r>
                  <a:rPr lang="en-IN">
                    <a:noFill/>
                  </a:rPr>
                  <a:t> </a:t>
                </a:r>
              </a:p>
            </p:txBody>
          </p:sp>
        </mc:Fallback>
      </mc:AlternateContent>
    </p:spTree>
    <p:extLst>
      <p:ext uri="{BB962C8B-B14F-4D97-AF65-F5344CB8AC3E}">
        <p14:creationId xmlns:p14="http://schemas.microsoft.com/office/powerpoint/2010/main" val="769227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5A187-9B0E-058B-20F0-A44B08FD44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5DAC05-6029-7A03-C00B-BEF82923B8B5}"/>
              </a:ext>
            </a:extLst>
          </p:cNvPr>
          <p:cNvSpPr>
            <a:spLocks noGrp="1"/>
          </p:cNvSpPr>
          <p:nvPr>
            <p:ph type="ctrTitle"/>
          </p:nvPr>
        </p:nvSpPr>
        <p:spPr>
          <a:xfrm>
            <a:off x="1524000" y="1122363"/>
            <a:ext cx="9144000" cy="990917"/>
          </a:xfrm>
        </p:spPr>
        <p:txBody>
          <a:bodyPr>
            <a:normAutofit/>
          </a:bodyPr>
          <a:lstStyle/>
          <a:p>
            <a:r>
              <a:rPr lang="en-US" dirty="0"/>
              <a:t>Mathematical Model</a:t>
            </a:r>
            <a:endParaRPr lang="en-IN" dirty="0"/>
          </a:p>
        </p:txBody>
      </p:sp>
      <mc:AlternateContent xmlns:mc="http://schemas.openxmlformats.org/markup-compatibility/2006" xmlns:a14="http://schemas.microsoft.com/office/drawing/2010/main">
        <mc:Choice Requires="a14">
          <p:sp>
            <p:nvSpPr>
              <p:cNvPr id="5" name="Subtitle 4">
                <a:extLst>
                  <a:ext uri="{FF2B5EF4-FFF2-40B4-BE49-F238E27FC236}">
                    <a16:creationId xmlns:a16="http://schemas.microsoft.com/office/drawing/2014/main" id="{F8983ABB-05C4-E4B4-949E-D122802DF1BE}"/>
                  </a:ext>
                </a:extLst>
              </p:cNvPr>
              <p:cNvSpPr>
                <a:spLocks noGrp="1"/>
              </p:cNvSpPr>
              <p:nvPr>
                <p:ph type="subTitle" idx="1"/>
              </p:nvPr>
            </p:nvSpPr>
            <p:spPr>
              <a:xfrm>
                <a:off x="843280" y="2042159"/>
                <a:ext cx="11115040" cy="3693478"/>
              </a:xfrm>
            </p:spPr>
            <p:txBody>
              <a:bodyPr>
                <a:normAutofit lnSpcReduction="10000"/>
              </a:bodyPr>
              <a:lstStyle/>
              <a:p>
                <a:pPr algn="l">
                  <a:buFont typeface="Arial" panose="020B0604020202020204" pitchFamily="34" charset="0"/>
                  <a:buChar char="•"/>
                </a:pPr>
                <a:r>
                  <a:rPr lang="en-IN" dirty="0"/>
                  <a:t>Network Architecture (Joint Probability Distribution)</a:t>
                </a:r>
              </a:p>
              <a:p>
                <a:pPr marL="50800" indent="0" algn="l"/>
                <a:r>
                  <a:rPr lang="en-IN" sz="2000" b="1" dirty="0"/>
                  <a:t>Concept:</a:t>
                </a:r>
                <a:r>
                  <a:rPr lang="en-IN" sz="2000" dirty="0"/>
                  <a:t> Managing multi-variable complexity. Because it is impossible to calculate a single probability for every combination of sleep, stress, food, and fatigue, the Bayesian Network breaks the problem down into a Directed Acyclic Graph (DAG).</a:t>
                </a:r>
              </a:p>
              <a:p>
                <a:pPr marL="50800" indent="0" algn="l"/>
                <a:endParaRPr lang="en-US" dirty="0"/>
              </a:p>
              <a:p>
                <a:pPr marL="50800" indent="0"/>
                <a:r>
                  <a:rPr lang="en-US" dirty="0"/>
                  <a:t>P(X1, X2, …, </a:t>
                </a:r>
                <a:r>
                  <a:rPr lang="en-US" dirty="0" err="1"/>
                  <a:t>Xn</a:t>
                </a:r>
                <a:r>
                  <a:rPr lang="en-US" dirty="0"/>
                  <a:t>) = </a:t>
                </a:r>
                <a14:m>
                  <m:oMath xmlns:m="http://schemas.openxmlformats.org/officeDocument/2006/math">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m:rPr>
                            <m:brk m:alnAt="23"/>
                          </m:rP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𝑋𝑖</m:t>
                        </m:r>
                        <m:r>
                          <a:rPr lang="en-US" b="0" i="1" smtClean="0">
                            <a:latin typeface="Cambria Math" panose="02040503050406030204" pitchFamily="18" charset="0"/>
                          </a:rPr>
                          <m:t>|</m:t>
                        </m:r>
                        <m:r>
                          <a:rPr lang="en-US" b="0" i="1" smtClean="0">
                            <a:latin typeface="Cambria Math" panose="02040503050406030204" pitchFamily="18" charset="0"/>
                          </a:rPr>
                          <m:t>𝑃𝑎𝑟𝑒𝑛𝑡𝑠</m:t>
                        </m:r>
                        <m:d>
                          <m:dPr>
                            <m:ctrlPr>
                              <a:rPr lang="en-US" b="0" i="1" smtClean="0">
                                <a:latin typeface="Cambria Math" panose="02040503050406030204" pitchFamily="18" charset="0"/>
                              </a:rPr>
                            </m:ctrlPr>
                          </m:dPr>
                          <m:e>
                            <m:r>
                              <a:rPr lang="en-US" b="0" i="1" smtClean="0">
                                <a:latin typeface="Cambria Math" panose="02040503050406030204" pitchFamily="18" charset="0"/>
                              </a:rPr>
                              <m:t>𝑋𝑖</m:t>
                            </m:r>
                          </m:e>
                        </m:d>
                        <m:r>
                          <a:rPr lang="en-US" b="0" i="1" smtClean="0">
                            <a:latin typeface="Cambria Math" panose="02040503050406030204" pitchFamily="18" charset="0"/>
                          </a:rPr>
                          <m:t>)</m:t>
                        </m:r>
                      </m:e>
                    </m:nary>
                  </m:oMath>
                </a14:m>
                <a:endParaRPr lang="en-US" dirty="0"/>
              </a:p>
              <a:p>
                <a:pPr marL="50800" indent="0" algn="just"/>
                <a:endParaRPr lang="en-IN" sz="2000" b="1" dirty="0"/>
              </a:p>
              <a:p>
                <a:pPr marL="50800" indent="0" algn="just"/>
                <a:r>
                  <a:rPr lang="en-IN" sz="2000" b="1" dirty="0"/>
                  <a:t>Application in LIF Engine:</a:t>
                </a:r>
                <a:r>
                  <a:rPr lang="en-IN" sz="2000" dirty="0"/>
                  <a:t> This dictates the structure of your </a:t>
                </a:r>
                <a:r>
                  <a:rPr lang="en-IN" dirty="0"/>
                  <a:t>.</a:t>
                </a:r>
                <a:r>
                  <a:rPr lang="en-IN" dirty="0" err="1"/>
                  <a:t>pkl</a:t>
                </a:r>
                <a:r>
                  <a:rPr lang="en-IN" sz="2000" dirty="0"/>
                  <a:t> model. It allows the algorithm to independently weigh how a specific trigger (like a Heavy Diet) connects to the target outcome (</a:t>
                </a:r>
                <a:r>
                  <a:rPr lang="en-IN" dirty="0" err="1"/>
                  <a:t>seizure_experienced</a:t>
                </a:r>
                <a:r>
                  <a:rPr lang="en-IN" sz="2000" dirty="0"/>
                  <a:t>).</a:t>
                </a:r>
                <a:endParaRPr lang="en-US" dirty="0"/>
              </a:p>
            </p:txBody>
          </p:sp>
        </mc:Choice>
        <mc:Fallback xmlns="">
          <p:sp>
            <p:nvSpPr>
              <p:cNvPr id="5" name="Subtitle 4">
                <a:extLst>
                  <a:ext uri="{FF2B5EF4-FFF2-40B4-BE49-F238E27FC236}">
                    <a16:creationId xmlns:a16="http://schemas.microsoft.com/office/drawing/2014/main" id="{F8983ABB-05C4-E4B4-949E-D122802DF1BE}"/>
                  </a:ext>
                </a:extLst>
              </p:cNvPr>
              <p:cNvSpPr>
                <a:spLocks noGrp="1" noRot="1" noChangeAspect="1" noMove="1" noResize="1" noEditPoints="1" noAdjustHandles="1" noChangeArrowheads="1" noChangeShapeType="1" noTextEdit="1"/>
              </p:cNvSpPr>
              <p:nvPr>
                <p:ph type="subTitle" idx="1"/>
              </p:nvPr>
            </p:nvSpPr>
            <p:spPr>
              <a:xfrm>
                <a:off x="843280" y="2042159"/>
                <a:ext cx="11115040" cy="3693478"/>
              </a:xfrm>
              <a:blipFill>
                <a:blip r:embed="rId2"/>
                <a:stretch>
                  <a:fillRect l="-274" r="-548"/>
                </a:stretch>
              </a:blipFill>
            </p:spPr>
            <p:txBody>
              <a:bodyPr/>
              <a:lstStyle/>
              <a:p>
                <a:r>
                  <a:rPr lang="en-IN">
                    <a:noFill/>
                  </a:rPr>
                  <a:t> </a:t>
                </a:r>
              </a:p>
            </p:txBody>
          </p:sp>
        </mc:Fallback>
      </mc:AlternateContent>
    </p:spTree>
    <p:extLst>
      <p:ext uri="{BB962C8B-B14F-4D97-AF65-F5344CB8AC3E}">
        <p14:creationId xmlns:p14="http://schemas.microsoft.com/office/powerpoint/2010/main" val="1935692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04FA5-1019-CDD9-548C-3BC80A2DFD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B93F810-47F6-6AA6-F51C-86AADCD2A23C}"/>
              </a:ext>
            </a:extLst>
          </p:cNvPr>
          <p:cNvSpPr>
            <a:spLocks noGrp="1"/>
          </p:cNvSpPr>
          <p:nvPr>
            <p:ph type="ctrTitle"/>
          </p:nvPr>
        </p:nvSpPr>
        <p:spPr>
          <a:xfrm>
            <a:off x="1524000" y="1122363"/>
            <a:ext cx="9144000" cy="990917"/>
          </a:xfrm>
        </p:spPr>
        <p:txBody>
          <a:bodyPr>
            <a:normAutofit/>
          </a:bodyPr>
          <a:lstStyle/>
          <a:p>
            <a:r>
              <a:rPr lang="en-US" dirty="0"/>
              <a:t>Mathematical Model</a:t>
            </a:r>
            <a:endParaRPr lang="en-IN" dirty="0"/>
          </a:p>
        </p:txBody>
      </p:sp>
      <mc:AlternateContent xmlns:mc="http://schemas.openxmlformats.org/markup-compatibility/2006" xmlns:a14="http://schemas.microsoft.com/office/drawing/2010/main">
        <mc:Choice Requires="a14">
          <p:sp>
            <p:nvSpPr>
              <p:cNvPr id="5" name="Subtitle 4">
                <a:extLst>
                  <a:ext uri="{FF2B5EF4-FFF2-40B4-BE49-F238E27FC236}">
                    <a16:creationId xmlns:a16="http://schemas.microsoft.com/office/drawing/2014/main" id="{34A027BE-8AE6-2E5C-49F1-DBD460328416}"/>
                  </a:ext>
                </a:extLst>
              </p:cNvPr>
              <p:cNvSpPr>
                <a:spLocks noGrp="1"/>
              </p:cNvSpPr>
              <p:nvPr>
                <p:ph type="subTitle" idx="1"/>
              </p:nvPr>
            </p:nvSpPr>
            <p:spPr>
              <a:xfrm>
                <a:off x="843280" y="2042158"/>
                <a:ext cx="11236960" cy="3901441"/>
              </a:xfrm>
            </p:spPr>
            <p:txBody>
              <a:bodyPr>
                <a:normAutofit fontScale="85000" lnSpcReduction="10000"/>
              </a:bodyPr>
              <a:lstStyle/>
              <a:p>
                <a:pPr algn="l">
                  <a:buFont typeface="Arial" panose="020B0604020202020204" pitchFamily="34" charset="0"/>
                  <a:buChar char="•"/>
                </a:pPr>
                <a:r>
                  <a:rPr lang="en-IN" dirty="0"/>
                  <a:t>Automated Learning &amp; Smoothing (MLE &amp; Laplace)</a:t>
                </a:r>
              </a:p>
              <a:p>
                <a:pPr marL="50800" indent="0" algn="l"/>
                <a:r>
                  <a:rPr lang="en-IN" sz="2000" b="1" dirty="0"/>
                  <a:t>Concept:</a:t>
                </a:r>
                <a:r>
                  <a:rPr lang="en-IN" sz="2000" dirty="0"/>
                  <a:t> Translating PostgreSQL database rows into mathematical probability weights, while protecting against system crashes when encountering new data.</a:t>
                </a:r>
              </a:p>
              <a:p>
                <a:pPr marL="50800" indent="0" algn="l"/>
                <a:r>
                  <a:rPr lang="en-IN" b="1" dirty="0"/>
                  <a:t>Maximum Likelihood Estimation (MLE):</a:t>
                </a:r>
                <a:endParaRPr lang="en-IN" dirty="0"/>
              </a:p>
              <a:p>
                <a:pPr/>
                <a14:m>
                  <m:oMathPara xmlns:m="http://schemas.openxmlformats.org/officeDocument/2006/math">
                    <m:oMath>
                      <m:sSub>
                        <m:sSubPr>
                          <m:ctrlPr>
                            <a:rPr lang="en-IN" i="1">
                              <a:latin typeface="Cambria Math" panose="02040503050406030204" pitchFamily="18" charset="0"/>
                            </a:rPr>
                          </m:ctrlPr>
                        </m:sSubPr>
                        <m:e>
                          <m:acc>
                            <m:accPr>
                              <m:chr m:val="ˆ"/>
                              <m:ctrlPr>
                                <a:rPr lang="en-IN" i="1">
                                  <a:latin typeface="Cambria Math" panose="02040503050406030204" pitchFamily="18" charset="0"/>
                                </a:rPr>
                              </m:ctrlPr>
                            </m:accPr>
                            <m:e>
                              <m:r>
                                <a:rPr lang="en-IN" i="1">
                                  <a:latin typeface="Cambria Math" panose="02040503050406030204" pitchFamily="18" charset="0"/>
                                </a:rPr>
                                <m:t>𝜃</m:t>
                              </m:r>
                            </m:e>
                          </m:acc>
                        </m:e>
                        <m:sub>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𝑢</m:t>
                          </m:r>
                        </m:sub>
                      </m:sSub>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𝑁</m:t>
                          </m:r>
                          <m:d>
                            <m:dPr>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𝑢</m:t>
                              </m:r>
                            </m:e>
                          </m:d>
                        </m:num>
                        <m:den>
                          <m:r>
                            <a:rPr lang="en-IN" i="1">
                              <a:latin typeface="Cambria Math" panose="02040503050406030204" pitchFamily="18" charset="0"/>
                            </a:rPr>
                            <m:t>𝑁</m:t>
                          </m:r>
                          <m:d>
                            <m:dPr>
                              <m:ctrlPr>
                                <a:rPr lang="en-IN" i="1">
                                  <a:latin typeface="Cambria Math" panose="02040503050406030204" pitchFamily="18" charset="0"/>
                                </a:rPr>
                              </m:ctrlPr>
                            </m:dPr>
                            <m:e>
                              <m:r>
                                <a:rPr lang="en-IN" i="1">
                                  <a:latin typeface="Cambria Math" panose="02040503050406030204" pitchFamily="18" charset="0"/>
                                </a:rPr>
                                <m:t>𝑢</m:t>
                              </m:r>
                            </m:e>
                          </m:d>
                        </m:den>
                      </m:f>
                    </m:oMath>
                  </m:oMathPara>
                </a14:m>
                <a:endParaRPr lang="en-IN" b="1" dirty="0"/>
              </a:p>
              <a:p>
                <a:pPr algn="l"/>
                <a:r>
                  <a:rPr lang="en-IN" b="1" dirty="0"/>
                  <a:t>Additive (Laplace) Smoothing:</a:t>
                </a:r>
                <a:endParaRPr lang="en-IN" dirty="0"/>
              </a:p>
              <a:p>
                <a:pPr/>
                <a14:m>
                  <m:oMathPara xmlns:m="http://schemas.openxmlformats.org/officeDocument/2006/math">
                    <m:oMath>
                      <m:sSub>
                        <m:sSubPr>
                          <m:ctrlPr>
                            <a:rPr lang="en-IN" i="1">
                              <a:latin typeface="Cambria Math" panose="02040503050406030204" pitchFamily="18" charset="0"/>
                            </a:rPr>
                          </m:ctrlPr>
                        </m:sSubPr>
                        <m:e>
                          <m:acc>
                            <m:accPr>
                              <m:chr m:val="ˆ"/>
                              <m:ctrlPr>
                                <a:rPr lang="en-IN" i="1">
                                  <a:latin typeface="Cambria Math" panose="02040503050406030204" pitchFamily="18" charset="0"/>
                                </a:rPr>
                              </m:ctrlPr>
                            </m:accPr>
                            <m:e>
                              <m:r>
                                <a:rPr lang="en-IN" i="1">
                                  <a:latin typeface="Cambria Math" panose="02040503050406030204" pitchFamily="18" charset="0"/>
                                </a:rPr>
                                <m:t>𝜃</m:t>
                              </m:r>
                            </m:e>
                          </m:acc>
                        </m:e>
                        <m:sub>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𝑢</m:t>
                          </m:r>
                        </m:sub>
                      </m:sSub>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𝑁</m:t>
                          </m:r>
                          <m:d>
                            <m:dPr>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𝑢</m:t>
                              </m:r>
                            </m:e>
                          </m:d>
                          <m:r>
                            <a:rPr lang="en-IN">
                              <a:latin typeface="Cambria Math" panose="02040503050406030204" pitchFamily="18" charset="0"/>
                            </a:rPr>
                            <m:t>+</m:t>
                          </m:r>
                          <m:r>
                            <a:rPr lang="en-IN" i="1">
                              <a:latin typeface="Cambria Math" panose="02040503050406030204" pitchFamily="18" charset="0"/>
                            </a:rPr>
                            <m:t>𝛼</m:t>
                          </m:r>
                        </m:num>
                        <m:den>
                          <m:r>
                            <a:rPr lang="en-IN" i="1">
                              <a:latin typeface="Cambria Math" panose="02040503050406030204" pitchFamily="18" charset="0"/>
                            </a:rPr>
                            <m:t>𝑁</m:t>
                          </m:r>
                          <m:d>
                            <m:dPr>
                              <m:ctrlPr>
                                <a:rPr lang="en-IN" i="1">
                                  <a:latin typeface="Cambria Math" panose="02040503050406030204" pitchFamily="18" charset="0"/>
                                </a:rPr>
                              </m:ctrlPr>
                            </m:dPr>
                            <m:e>
                              <m:r>
                                <a:rPr lang="en-IN" i="1">
                                  <a:latin typeface="Cambria Math" panose="02040503050406030204" pitchFamily="18" charset="0"/>
                                </a:rPr>
                                <m:t>𝑢</m:t>
                              </m:r>
                            </m:e>
                          </m:d>
                          <m:r>
                            <a:rPr lang="en-IN">
                              <a:latin typeface="Cambria Math" panose="02040503050406030204" pitchFamily="18" charset="0"/>
                            </a:rPr>
                            <m:t>+</m:t>
                          </m:r>
                          <m:r>
                            <a:rPr lang="en-IN" i="1">
                              <a:latin typeface="Cambria Math" panose="02040503050406030204" pitchFamily="18" charset="0"/>
                            </a:rPr>
                            <m:t>𝛼</m:t>
                          </m:r>
                          <m:r>
                            <a:rPr lang="en-IN" i="1">
                              <a:latin typeface="Cambria Math" panose="02040503050406030204" pitchFamily="18" charset="0"/>
                            </a:rPr>
                            <m:t>𝑑</m:t>
                          </m:r>
                        </m:den>
                      </m:f>
                    </m:oMath>
                  </m:oMathPara>
                </a14:m>
                <a:endParaRPr lang="en-IN" sz="2000" b="1" dirty="0"/>
              </a:p>
              <a:p>
                <a:pPr marL="50800" indent="0" algn="just"/>
                <a:r>
                  <a:rPr lang="en-IN" sz="2000" b="1" dirty="0"/>
                  <a:t>Application in LIF Engine:</a:t>
                </a:r>
                <a:r>
                  <a:rPr lang="en-IN" sz="2000" dirty="0"/>
                  <a:t> Executed by your train.py script. MLE counts the historical occurrences of seizures in your database to build the weights. When you added the new "Exhaustion" symptom, the Laplace smoothing formula actively intervened to output a safe 50% baseline instead of a mathematical error.</a:t>
                </a:r>
                <a:endParaRPr lang="en-US" dirty="0"/>
              </a:p>
            </p:txBody>
          </p:sp>
        </mc:Choice>
        <mc:Fallback xmlns="">
          <p:sp>
            <p:nvSpPr>
              <p:cNvPr id="5" name="Subtitle 4">
                <a:extLst>
                  <a:ext uri="{FF2B5EF4-FFF2-40B4-BE49-F238E27FC236}">
                    <a16:creationId xmlns:a16="http://schemas.microsoft.com/office/drawing/2014/main" id="{34A027BE-8AE6-2E5C-49F1-DBD460328416}"/>
                  </a:ext>
                </a:extLst>
              </p:cNvPr>
              <p:cNvSpPr>
                <a:spLocks noGrp="1" noRot="1" noChangeAspect="1" noMove="1" noResize="1" noEditPoints="1" noAdjustHandles="1" noChangeArrowheads="1" noChangeShapeType="1" noTextEdit="1"/>
              </p:cNvSpPr>
              <p:nvPr>
                <p:ph type="subTitle" idx="1"/>
              </p:nvPr>
            </p:nvSpPr>
            <p:spPr>
              <a:xfrm>
                <a:off x="843280" y="2042158"/>
                <a:ext cx="11236960" cy="3901441"/>
              </a:xfrm>
              <a:blipFill>
                <a:blip r:embed="rId2"/>
                <a:stretch>
                  <a:fillRect l="-271" t="-156" r="-325"/>
                </a:stretch>
              </a:blipFill>
            </p:spPr>
            <p:txBody>
              <a:bodyPr/>
              <a:lstStyle/>
              <a:p>
                <a:r>
                  <a:rPr lang="en-IN">
                    <a:noFill/>
                  </a:rPr>
                  <a:t> </a:t>
                </a:r>
              </a:p>
            </p:txBody>
          </p:sp>
        </mc:Fallback>
      </mc:AlternateContent>
    </p:spTree>
    <p:extLst>
      <p:ext uri="{BB962C8B-B14F-4D97-AF65-F5344CB8AC3E}">
        <p14:creationId xmlns:p14="http://schemas.microsoft.com/office/powerpoint/2010/main" val="843662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AFF5C-2E21-1180-43B1-04863729CA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9DB65C-2635-F49E-3F75-9D6367EE408A}"/>
              </a:ext>
            </a:extLst>
          </p:cNvPr>
          <p:cNvSpPr>
            <a:spLocks noGrp="1"/>
          </p:cNvSpPr>
          <p:nvPr>
            <p:ph type="ctrTitle"/>
          </p:nvPr>
        </p:nvSpPr>
        <p:spPr>
          <a:xfrm>
            <a:off x="1524000" y="1122363"/>
            <a:ext cx="9144000" cy="990917"/>
          </a:xfrm>
        </p:spPr>
        <p:txBody>
          <a:bodyPr>
            <a:normAutofit/>
          </a:bodyPr>
          <a:lstStyle/>
          <a:p>
            <a:r>
              <a:rPr lang="en-US" dirty="0"/>
              <a:t>Mathematical Model</a:t>
            </a:r>
            <a:endParaRPr lang="en-IN" dirty="0"/>
          </a:p>
        </p:txBody>
      </p:sp>
      <mc:AlternateContent xmlns:mc="http://schemas.openxmlformats.org/markup-compatibility/2006" xmlns:a14="http://schemas.microsoft.com/office/drawing/2010/main">
        <mc:Choice Requires="a14">
          <p:sp>
            <p:nvSpPr>
              <p:cNvPr id="5" name="Subtitle 4">
                <a:extLst>
                  <a:ext uri="{FF2B5EF4-FFF2-40B4-BE49-F238E27FC236}">
                    <a16:creationId xmlns:a16="http://schemas.microsoft.com/office/drawing/2014/main" id="{76C478B1-F5C5-FE16-527A-96DE44152989}"/>
                  </a:ext>
                </a:extLst>
              </p:cNvPr>
              <p:cNvSpPr>
                <a:spLocks noGrp="1"/>
              </p:cNvSpPr>
              <p:nvPr>
                <p:ph type="subTitle" idx="1"/>
              </p:nvPr>
            </p:nvSpPr>
            <p:spPr>
              <a:xfrm>
                <a:off x="843280" y="2042158"/>
                <a:ext cx="11236960" cy="3901441"/>
              </a:xfrm>
            </p:spPr>
            <p:txBody>
              <a:bodyPr>
                <a:normAutofit lnSpcReduction="10000"/>
              </a:bodyPr>
              <a:lstStyle/>
              <a:p>
                <a:pPr algn="l">
                  <a:buFont typeface="Arial" panose="020B0604020202020204" pitchFamily="34" charset="0"/>
                  <a:buChar char="•"/>
                </a:pPr>
                <a:r>
                  <a:rPr lang="en-IN" dirty="0"/>
                  <a:t>Live Forecasting (Variable Elimination Algorithm)</a:t>
                </a:r>
              </a:p>
              <a:p>
                <a:pPr marL="50800" indent="0" algn="l"/>
                <a:r>
                  <a:rPr lang="en-IN" sz="2000" b="1" dirty="0"/>
                  <a:t>Concept:</a:t>
                </a:r>
                <a:r>
                  <a:rPr lang="en-IN" sz="2000" dirty="0"/>
                  <a:t> The exact inference engine used to deliver real-time results in the UI, even if the patient leaves certain form fields blank.</a:t>
                </a:r>
              </a:p>
              <a:p>
                <a:pPr marL="50800" indent="0" algn="l"/>
                <a:endParaRPr lang="en-IN" i="1" dirty="0"/>
              </a:p>
              <a:p>
                <a:pPr marL="50800" indent="0" algn="l"/>
                <a14:m>
                  <m:oMathPara xmlns:m="http://schemas.openxmlformats.org/officeDocument/2006/math">
                    <m:o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𝑄</m:t>
                          </m:r>
                          <m:r>
                            <a:rPr lang="en-IN">
                              <a:latin typeface="Cambria Math" panose="02040503050406030204" pitchFamily="18" charset="0"/>
                            </a:rPr>
                            <m:t>|</m:t>
                          </m:r>
                          <m:r>
                            <a:rPr lang="en-IN" i="1">
                              <a:latin typeface="Cambria Math" panose="02040503050406030204" pitchFamily="18" charset="0"/>
                            </a:rPr>
                            <m:t>𝐸</m:t>
                          </m:r>
                        </m:e>
                      </m:d>
                      <m:r>
                        <a:rPr lang="en-IN">
                          <a:latin typeface="Cambria Math" panose="02040503050406030204" pitchFamily="18" charset="0"/>
                        </a:rPr>
                        <m:t>=</m:t>
                      </m:r>
                      <m:r>
                        <a:rPr lang="en-IN" i="1">
                          <a:latin typeface="Cambria Math" panose="02040503050406030204" pitchFamily="18" charset="0"/>
                        </a:rPr>
                        <m:t>𝛼</m:t>
                      </m:r>
                      <m:nary>
                        <m:naryPr>
                          <m:chr m:val="∑"/>
                          <m:limLoc m:val="undOvr"/>
                          <m:supHide m:val="on"/>
                          <m:ctrlPr>
                            <a:rPr lang="en-IN" i="1">
                              <a:latin typeface="Cambria Math" panose="02040503050406030204" pitchFamily="18" charset="0"/>
                            </a:rPr>
                          </m:ctrlPr>
                        </m:naryPr>
                        <m:sub>
                          <m:r>
                            <a:rPr lang="en-IN" i="1">
                              <a:latin typeface="Cambria Math" panose="02040503050406030204" pitchFamily="18" charset="0"/>
                            </a:rPr>
                            <m:t>𝑍</m:t>
                          </m:r>
                        </m:sub>
                        <m:sup/>
                        <m:e>
                          <m:nary>
                            <m:naryPr>
                              <m:chr m:val="∏"/>
                              <m:limLoc m:val="undOvr"/>
                              <m:supHide m:val="on"/>
                              <m:ctrlPr>
                                <a:rPr lang="en-IN" i="1">
                                  <a:latin typeface="Cambria Math" panose="02040503050406030204" pitchFamily="18" charset="0"/>
                                </a:rPr>
                              </m:ctrlPr>
                            </m:naryPr>
                            <m:sub>
                              <m:r>
                                <a:rPr lang="en-IN" i="1">
                                  <a:latin typeface="Cambria Math" panose="02040503050406030204" pitchFamily="18" charset="0"/>
                                </a:rPr>
                                <m:t>𝑖</m:t>
                              </m:r>
                            </m:sub>
                            <m:sup/>
                            <m:e>
                              <m:sSub>
                                <m:sSubPr>
                                  <m:ctrlPr>
                                    <a:rPr lang="en-IN" i="1">
                                      <a:latin typeface="Cambria Math" panose="02040503050406030204" pitchFamily="18" charset="0"/>
                                    </a:rPr>
                                  </m:ctrlPr>
                                </m:sSubPr>
                                <m:e>
                                  <m:r>
                                    <a:rPr lang="en-IN" i="1">
                                      <a:latin typeface="Cambria Math" panose="02040503050406030204" pitchFamily="18" charset="0"/>
                                    </a:rPr>
                                    <m:t>𝜙</m:t>
                                  </m:r>
                                </m:e>
                                <m:sub>
                                  <m:r>
                                    <a:rPr lang="en-IN" i="1">
                                      <a:latin typeface="Cambria Math" panose="02040503050406030204" pitchFamily="18" charset="0"/>
                                    </a:rPr>
                                    <m:t>𝑖</m:t>
                                  </m:r>
                                </m:sub>
                              </m:sSub>
                            </m:e>
                          </m:nary>
                        </m:e>
                      </m:nary>
                    </m:oMath>
                  </m:oMathPara>
                </a14:m>
                <a:endParaRPr lang="en-IN" sz="2000" b="1" dirty="0"/>
              </a:p>
              <a:p>
                <a:pPr marL="50800" indent="0" algn="l"/>
                <a:endParaRPr lang="en-IN" sz="2000" b="1" dirty="0"/>
              </a:p>
              <a:p>
                <a:pPr marL="50800" indent="0" algn="just"/>
                <a:r>
                  <a:rPr lang="en-IN" b="1" dirty="0"/>
                  <a:t>Application in LIF Engine:</a:t>
                </a:r>
                <a:r>
                  <a:rPr lang="en-IN" sz="2000" dirty="0"/>
                  <a:t> Executed instantly when you click the </a:t>
                </a:r>
                <a:r>
                  <a:rPr lang="en-IN" sz="2000" b="1" dirty="0"/>
                  <a:t>"Calculate Threshold Risk"</a:t>
                </a:r>
                <a:r>
                  <a:rPr lang="en-IN" sz="2000" dirty="0"/>
                  <a:t> button. The algorithm marginalizes (sums out) the hidden variables </a:t>
                </a:r>
                <a14:m>
                  <m:oMath xmlns:m="http://schemas.openxmlformats.org/officeDocument/2006/math">
                    <m:r>
                      <a:rPr lang="en-IN" i="1">
                        <a:latin typeface="Cambria Math" panose="02040503050406030204" pitchFamily="18" charset="0"/>
                      </a:rPr>
                      <m:t>𝑍</m:t>
                    </m:r>
                    <m:r>
                      <a:rPr lang="en-US" b="0" i="1" smtClean="0">
                        <a:latin typeface="Cambria Math" panose="02040503050406030204" pitchFamily="18" charset="0"/>
                      </a:rPr>
                      <m:t> </m:t>
                    </m:r>
                  </m:oMath>
                </a14:m>
                <a:r>
                  <a:rPr lang="en-IN" sz="2000" dirty="0"/>
                  <a:t>that aren't present in today's log, delivering a precise probability based only on the provided evidence </a:t>
                </a:r>
                <a14:m>
                  <m:oMath xmlns:m="http://schemas.openxmlformats.org/officeDocument/2006/math">
                    <m:r>
                      <a:rPr lang="en-IN" i="1">
                        <a:latin typeface="Cambria Math" panose="02040503050406030204" pitchFamily="18" charset="0"/>
                      </a:rPr>
                      <m:t>𝐸</m:t>
                    </m:r>
                  </m:oMath>
                </a14:m>
                <a:r>
                  <a:rPr lang="en-IN" sz="2000" dirty="0"/>
                  <a:t>.</a:t>
                </a:r>
                <a:endParaRPr lang="en-US" dirty="0"/>
              </a:p>
            </p:txBody>
          </p:sp>
        </mc:Choice>
        <mc:Fallback xmlns="">
          <p:sp>
            <p:nvSpPr>
              <p:cNvPr id="5" name="Subtitle 4">
                <a:extLst>
                  <a:ext uri="{FF2B5EF4-FFF2-40B4-BE49-F238E27FC236}">
                    <a16:creationId xmlns:a16="http://schemas.microsoft.com/office/drawing/2014/main" id="{76C478B1-F5C5-FE16-527A-96DE44152989}"/>
                  </a:ext>
                </a:extLst>
              </p:cNvPr>
              <p:cNvSpPr>
                <a:spLocks noGrp="1" noRot="1" noChangeAspect="1" noMove="1" noResize="1" noEditPoints="1" noAdjustHandles="1" noChangeArrowheads="1" noChangeShapeType="1" noTextEdit="1"/>
              </p:cNvSpPr>
              <p:nvPr>
                <p:ph type="subTitle" idx="1"/>
              </p:nvPr>
            </p:nvSpPr>
            <p:spPr>
              <a:xfrm>
                <a:off x="843280" y="2042158"/>
                <a:ext cx="11236960" cy="3901441"/>
              </a:xfrm>
              <a:blipFill>
                <a:blip r:embed="rId2"/>
                <a:stretch>
                  <a:fillRect l="-380" r="-542"/>
                </a:stretch>
              </a:blipFill>
            </p:spPr>
            <p:txBody>
              <a:bodyPr/>
              <a:lstStyle/>
              <a:p>
                <a:r>
                  <a:rPr lang="en-IN">
                    <a:noFill/>
                  </a:rPr>
                  <a:t> </a:t>
                </a:r>
              </a:p>
            </p:txBody>
          </p:sp>
        </mc:Fallback>
      </mc:AlternateContent>
    </p:spTree>
    <p:extLst>
      <p:ext uri="{BB962C8B-B14F-4D97-AF65-F5344CB8AC3E}">
        <p14:creationId xmlns:p14="http://schemas.microsoft.com/office/powerpoint/2010/main" val="3235294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CD1939-DF0F-AECD-8BBE-F187B3A2D271}"/>
              </a:ext>
            </a:extLst>
          </p:cNvPr>
          <p:cNvSpPr>
            <a:spLocks noGrp="1"/>
          </p:cNvSpPr>
          <p:nvPr>
            <p:ph type="ctrTitle"/>
          </p:nvPr>
        </p:nvSpPr>
        <p:spPr>
          <a:xfrm>
            <a:off x="721361" y="1122363"/>
            <a:ext cx="11236958" cy="990917"/>
          </a:xfrm>
        </p:spPr>
        <p:txBody>
          <a:bodyPr>
            <a:noAutofit/>
          </a:bodyPr>
          <a:lstStyle/>
          <a:p>
            <a:r>
              <a:rPr lang="en-IN" dirty="0"/>
              <a:t>Docker Containerization Design</a:t>
            </a:r>
          </a:p>
        </p:txBody>
      </p:sp>
      <p:sp>
        <p:nvSpPr>
          <p:cNvPr id="5" name="Subtitle 4">
            <a:extLst>
              <a:ext uri="{FF2B5EF4-FFF2-40B4-BE49-F238E27FC236}">
                <a16:creationId xmlns:a16="http://schemas.microsoft.com/office/drawing/2014/main" id="{F9081CE9-0631-E39F-466C-F74EA105B9EA}"/>
              </a:ext>
            </a:extLst>
          </p:cNvPr>
          <p:cNvSpPr>
            <a:spLocks noGrp="1"/>
          </p:cNvSpPr>
          <p:nvPr>
            <p:ph type="subTitle" idx="1"/>
          </p:nvPr>
        </p:nvSpPr>
        <p:spPr>
          <a:xfrm>
            <a:off x="721361" y="2042159"/>
            <a:ext cx="11236959" cy="846557"/>
          </a:xfrm>
          <a:ln>
            <a:solidFill>
              <a:schemeClr val="tx1"/>
            </a:solidFill>
          </a:ln>
        </p:spPr>
        <p:txBody>
          <a:bodyPr>
            <a:normAutofit/>
          </a:bodyPr>
          <a:lstStyle/>
          <a:p>
            <a:pPr marL="50800" indent="0">
              <a:lnSpc>
                <a:spcPct val="100000"/>
              </a:lnSpc>
              <a:spcBef>
                <a:spcPts val="0"/>
              </a:spcBef>
              <a:buClr>
                <a:srgbClr val="000000"/>
              </a:buClr>
            </a:pPr>
            <a:r>
              <a:rPr lang="en-US" sz="1400" dirty="0">
                <a:solidFill>
                  <a:srgbClr val="000000"/>
                </a:solidFill>
                <a:latin typeface="Fira Sans" panose="020B0503050000020004" pitchFamily="34" charset="0"/>
                <a:cs typeface="Arial"/>
                <a:sym typeface="Arial"/>
              </a:rPr>
              <a:t>External Environment</a:t>
            </a:r>
          </a:p>
          <a:p>
            <a:pPr marL="50800" indent="0" algn="l"/>
            <a:r>
              <a:rPr lang="en-US" sz="1200" dirty="0"/>
              <a:t>				           			</a:t>
            </a:r>
          </a:p>
        </p:txBody>
      </p:sp>
      <p:sp>
        <p:nvSpPr>
          <p:cNvPr id="2" name="Subtitle 4">
            <a:extLst>
              <a:ext uri="{FF2B5EF4-FFF2-40B4-BE49-F238E27FC236}">
                <a16:creationId xmlns:a16="http://schemas.microsoft.com/office/drawing/2014/main" id="{66960DC7-9F53-2FE5-7458-995303722D36}"/>
              </a:ext>
            </a:extLst>
          </p:cNvPr>
          <p:cNvSpPr txBox="1">
            <a:spLocks/>
          </p:cNvSpPr>
          <p:nvPr/>
        </p:nvSpPr>
        <p:spPr>
          <a:xfrm>
            <a:off x="721361" y="3385233"/>
            <a:ext cx="11236959" cy="2899189"/>
          </a:xfrm>
          <a:prstGeom prst="rect">
            <a:avLst/>
          </a:prstGeom>
          <a:noFill/>
          <a:ln>
            <a:solidFill>
              <a:schemeClr val="tx1"/>
            </a:solidFill>
            <a:prstDash val="sysDot"/>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rgbClr val="4D4D4C"/>
              </a:buClr>
              <a:buSzPts val="2400"/>
              <a:buFont typeface="Arial"/>
              <a:buNone/>
              <a:defRPr sz="2400" b="0" i="0" u="none" strike="noStrike" cap="none">
                <a:solidFill>
                  <a:srgbClr val="4D4D4C"/>
                </a:solidFill>
                <a:latin typeface="Fira Sans"/>
                <a:ea typeface="Fira Sans"/>
                <a:cs typeface="Fira Sans"/>
                <a:sym typeface="Fira Sans"/>
              </a:defRPr>
            </a:lvl1pPr>
            <a:lvl2pPr marL="914400" marR="0" lvl="1" indent="-381000" algn="ctr" rtl="0">
              <a:lnSpc>
                <a:spcPct val="90000"/>
              </a:lnSpc>
              <a:spcBef>
                <a:spcPts val="500"/>
              </a:spcBef>
              <a:spcAft>
                <a:spcPts val="0"/>
              </a:spcAft>
              <a:buClr>
                <a:srgbClr val="4D4D4C"/>
              </a:buClr>
              <a:buSzPts val="2000"/>
              <a:buFont typeface="Arial"/>
              <a:buNone/>
              <a:defRPr sz="2000" b="0" i="0" u="none" strike="noStrike" cap="none">
                <a:solidFill>
                  <a:srgbClr val="4D4D4C"/>
                </a:solidFill>
                <a:latin typeface="Fira Sans"/>
                <a:ea typeface="Fira Sans"/>
                <a:cs typeface="Fira Sans"/>
                <a:sym typeface="Fira Sans"/>
              </a:defRPr>
            </a:lvl2pPr>
            <a:lvl3pPr marL="1371600" marR="0" lvl="2" indent="-355600" algn="ctr" rtl="0">
              <a:lnSpc>
                <a:spcPct val="90000"/>
              </a:lnSpc>
              <a:spcBef>
                <a:spcPts val="500"/>
              </a:spcBef>
              <a:spcAft>
                <a:spcPts val="0"/>
              </a:spcAft>
              <a:buClr>
                <a:srgbClr val="4D4D4C"/>
              </a:buClr>
              <a:buSzPts val="1800"/>
              <a:buFont typeface="Arial"/>
              <a:buNone/>
              <a:defRPr sz="1800" b="0" i="0" u="none" strike="noStrike" cap="none">
                <a:solidFill>
                  <a:srgbClr val="4D4D4C"/>
                </a:solidFill>
                <a:latin typeface="Fira Sans"/>
                <a:ea typeface="Fira Sans"/>
                <a:cs typeface="Fira Sans"/>
                <a:sym typeface="Fira Sans"/>
              </a:defRPr>
            </a:lvl3pPr>
            <a:lvl4pPr marL="1828800" marR="0" lvl="3"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4pPr>
            <a:lvl5pPr marL="2286000" marR="0" lvl="4"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50800" indent="0"/>
            <a:r>
              <a:rPr lang="en-US" sz="1400" dirty="0">
                <a:solidFill>
                  <a:srgbClr val="000000"/>
                </a:solidFill>
                <a:latin typeface="Fira Sans" panose="020B0503050000020004" pitchFamily="34" charset="0"/>
                <a:cs typeface="Arial"/>
              </a:rPr>
              <a:t>Docker Engine (docker-compose)</a:t>
            </a:r>
          </a:p>
          <a:p>
            <a:pPr marL="50800" indent="0" algn="l"/>
            <a:r>
              <a:rPr lang="en-US" sz="1200" dirty="0"/>
              <a:t>   Persistent Docker Volumes			           		</a:t>
            </a:r>
            <a:r>
              <a:rPr lang="en-US" sz="1400" dirty="0">
                <a:solidFill>
                  <a:srgbClr val="000000"/>
                </a:solidFill>
                <a:latin typeface="Fira Sans" panose="020B0503050000020004" pitchFamily="34" charset="0"/>
                <a:cs typeface="Arial"/>
              </a:rPr>
              <a:t>Isolated Microservices (</a:t>
            </a:r>
            <a:r>
              <a:rPr lang="en-US" sz="1400" dirty="0" err="1">
                <a:solidFill>
                  <a:srgbClr val="000000"/>
                </a:solidFill>
                <a:latin typeface="Fira Sans" panose="020B0503050000020004" pitchFamily="34" charset="0"/>
                <a:cs typeface="Arial"/>
              </a:rPr>
              <a:t>lif</a:t>
            </a:r>
            <a:r>
              <a:rPr lang="en-US" sz="1400" dirty="0">
                <a:solidFill>
                  <a:srgbClr val="000000"/>
                </a:solidFill>
                <a:latin typeface="Fira Sans" panose="020B0503050000020004" pitchFamily="34" charset="0"/>
                <a:cs typeface="Arial"/>
              </a:rPr>
              <a:t>-network)</a:t>
            </a:r>
          </a:p>
        </p:txBody>
      </p:sp>
      <p:sp>
        <p:nvSpPr>
          <p:cNvPr id="3" name="Rectangle: Rounded Corners 2">
            <a:extLst>
              <a:ext uri="{FF2B5EF4-FFF2-40B4-BE49-F238E27FC236}">
                <a16:creationId xmlns:a16="http://schemas.microsoft.com/office/drawing/2014/main" id="{010A66B9-692D-A0DE-BF5F-5A9EA3990F9A}"/>
              </a:ext>
            </a:extLst>
          </p:cNvPr>
          <p:cNvSpPr/>
          <p:nvPr/>
        </p:nvSpPr>
        <p:spPr>
          <a:xfrm>
            <a:off x="721361" y="3675507"/>
            <a:ext cx="2354348" cy="260891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459B6062-A2BC-C9EB-FFE3-E28A849290DE}"/>
              </a:ext>
            </a:extLst>
          </p:cNvPr>
          <p:cNvSpPr txBox="1"/>
          <p:nvPr/>
        </p:nvSpPr>
        <p:spPr>
          <a:xfrm>
            <a:off x="846052" y="4073235"/>
            <a:ext cx="2104966" cy="1055608"/>
          </a:xfrm>
          <a:prstGeom prst="roundRect">
            <a:avLst/>
          </a:prstGeom>
          <a:noFill/>
          <a:ln>
            <a:solidFill>
              <a:schemeClr val="tx1"/>
            </a:solidFill>
          </a:ln>
        </p:spPr>
        <p:txBody>
          <a:bodyPr wrap="square" rtlCol="0">
            <a:spAutoFit/>
          </a:bodyPr>
          <a:lstStyle/>
          <a:p>
            <a:pPr algn="ctr"/>
            <a:endParaRPr lang="en-US" dirty="0"/>
          </a:p>
          <a:p>
            <a:pPr algn="ctr"/>
            <a:endParaRPr lang="en-US" dirty="0"/>
          </a:p>
          <a:p>
            <a:pPr algn="ctr"/>
            <a:r>
              <a:rPr lang="en-US" dirty="0" err="1">
                <a:latin typeface="Fira Sans" panose="020B0503050000020004" pitchFamily="34" charset="0"/>
              </a:rPr>
              <a:t>pg_data_volume</a:t>
            </a:r>
            <a:endParaRPr lang="en-US" dirty="0">
              <a:latin typeface="Fira Sans" panose="020B0503050000020004" pitchFamily="34" charset="0"/>
            </a:endParaRPr>
          </a:p>
          <a:p>
            <a:pPr algn="ctr"/>
            <a:r>
              <a:rPr lang="en-US" dirty="0">
                <a:latin typeface="Fira Sans" panose="020B0503050000020004" pitchFamily="34" charset="0"/>
              </a:rPr>
              <a:t>PostgreSQL Storage</a:t>
            </a:r>
            <a:endParaRPr lang="en-IN" dirty="0">
              <a:latin typeface="Fira Sans" panose="020B0503050000020004" pitchFamily="34" charset="0"/>
            </a:endParaRPr>
          </a:p>
        </p:txBody>
      </p:sp>
      <p:sp>
        <p:nvSpPr>
          <p:cNvPr id="8" name="Cylinder 7">
            <a:extLst>
              <a:ext uri="{FF2B5EF4-FFF2-40B4-BE49-F238E27FC236}">
                <a16:creationId xmlns:a16="http://schemas.microsoft.com/office/drawing/2014/main" id="{649D04AC-00A1-1D48-E06B-1160DE5B703C}"/>
              </a:ext>
            </a:extLst>
          </p:cNvPr>
          <p:cNvSpPr/>
          <p:nvPr/>
        </p:nvSpPr>
        <p:spPr>
          <a:xfrm>
            <a:off x="1629295" y="4156364"/>
            <a:ext cx="465512" cy="382385"/>
          </a:xfrm>
          <a:prstGeom prst="ca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821D23F6-D977-7B84-D54A-E0B326CED454}"/>
              </a:ext>
            </a:extLst>
          </p:cNvPr>
          <p:cNvSpPr txBox="1"/>
          <p:nvPr/>
        </p:nvSpPr>
        <p:spPr>
          <a:xfrm>
            <a:off x="846052" y="5234136"/>
            <a:ext cx="2104966" cy="817245"/>
          </a:xfrm>
          <a:prstGeom prst="roundRect">
            <a:avLst/>
          </a:prstGeom>
          <a:noFill/>
          <a:ln>
            <a:solidFill>
              <a:schemeClr val="tx1"/>
            </a:solidFill>
          </a:ln>
        </p:spPr>
        <p:txBody>
          <a:bodyPr wrap="square" rtlCol="0">
            <a:spAutoFit/>
          </a:bodyPr>
          <a:lstStyle/>
          <a:p>
            <a:pPr algn="ctr"/>
            <a:endParaRPr lang="en-US" dirty="0"/>
          </a:p>
          <a:p>
            <a:pPr algn="ctr"/>
            <a:r>
              <a:rPr lang="en-US" dirty="0" err="1">
                <a:latin typeface="Fira Sans" panose="020B0503050000020004" pitchFamily="34" charset="0"/>
              </a:rPr>
              <a:t>model_volume</a:t>
            </a:r>
            <a:endParaRPr lang="en-US" dirty="0">
              <a:latin typeface="Fira Sans" panose="020B0503050000020004" pitchFamily="34" charset="0"/>
            </a:endParaRPr>
          </a:p>
          <a:p>
            <a:pPr algn="ctr"/>
            <a:r>
              <a:rPr lang="en-US" dirty="0">
                <a:latin typeface="Fira Sans" panose="020B0503050000020004" pitchFamily="34" charset="0"/>
              </a:rPr>
              <a:t>(Shared inference.pkl)</a:t>
            </a:r>
          </a:p>
        </p:txBody>
      </p:sp>
      <p:sp>
        <p:nvSpPr>
          <p:cNvPr id="12" name="Rectangle: Rounded Corners 11">
            <a:extLst>
              <a:ext uri="{FF2B5EF4-FFF2-40B4-BE49-F238E27FC236}">
                <a16:creationId xmlns:a16="http://schemas.microsoft.com/office/drawing/2014/main" id="{F298C697-7DE4-F4CE-71C8-1E1E7E1A7D77}"/>
              </a:ext>
            </a:extLst>
          </p:cNvPr>
          <p:cNvSpPr/>
          <p:nvPr/>
        </p:nvSpPr>
        <p:spPr>
          <a:xfrm>
            <a:off x="4854633" y="3808512"/>
            <a:ext cx="6916188" cy="247591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4E0A3357-7B77-3727-5621-504740EBDA4C}"/>
              </a:ext>
            </a:extLst>
          </p:cNvPr>
          <p:cNvSpPr txBox="1"/>
          <p:nvPr/>
        </p:nvSpPr>
        <p:spPr>
          <a:xfrm>
            <a:off x="5043517" y="4073235"/>
            <a:ext cx="2421312" cy="817245"/>
          </a:xfrm>
          <a:prstGeom prst="roundRect">
            <a:avLst/>
          </a:prstGeom>
          <a:noFill/>
          <a:ln>
            <a:solidFill>
              <a:schemeClr val="tx1"/>
            </a:solidFill>
          </a:ln>
        </p:spPr>
        <p:txBody>
          <a:bodyPr wrap="square" rtlCol="0">
            <a:spAutoFit/>
          </a:bodyPr>
          <a:lstStyle/>
          <a:p>
            <a:pPr algn="ctr"/>
            <a:r>
              <a:rPr lang="en-US" dirty="0" err="1">
                <a:latin typeface="Fira Sans" panose="020B0503050000020004" pitchFamily="34" charset="0"/>
              </a:rPr>
              <a:t>lif</a:t>
            </a:r>
            <a:r>
              <a:rPr lang="en-US" dirty="0">
                <a:latin typeface="Fira Sans" panose="020B0503050000020004" pitchFamily="34" charset="0"/>
              </a:rPr>
              <a:t>-frontend</a:t>
            </a:r>
          </a:p>
          <a:p>
            <a:pPr algn="ctr"/>
            <a:r>
              <a:rPr lang="en-US" dirty="0" err="1">
                <a:latin typeface="Fira Sans" panose="020B0503050000020004" pitchFamily="34" charset="0"/>
              </a:rPr>
              <a:t>Streamlit</a:t>
            </a:r>
            <a:r>
              <a:rPr lang="en-US" dirty="0">
                <a:latin typeface="Fira Sans" panose="020B0503050000020004" pitchFamily="34" charset="0"/>
              </a:rPr>
              <a:t> Dashboard</a:t>
            </a:r>
          </a:p>
          <a:p>
            <a:pPr algn="ctr"/>
            <a:r>
              <a:rPr lang="en-US" dirty="0">
                <a:latin typeface="Fira Sans" panose="020B0503050000020004" pitchFamily="34" charset="0"/>
              </a:rPr>
              <a:t>Exposed port: 8501, 8080</a:t>
            </a:r>
          </a:p>
        </p:txBody>
      </p:sp>
      <p:sp>
        <p:nvSpPr>
          <p:cNvPr id="16" name="TextBox 15">
            <a:extLst>
              <a:ext uri="{FF2B5EF4-FFF2-40B4-BE49-F238E27FC236}">
                <a16:creationId xmlns:a16="http://schemas.microsoft.com/office/drawing/2014/main" id="{4D721B24-4DEF-741A-2286-1F58249AA41F}"/>
              </a:ext>
            </a:extLst>
          </p:cNvPr>
          <p:cNvSpPr txBox="1"/>
          <p:nvPr/>
        </p:nvSpPr>
        <p:spPr>
          <a:xfrm>
            <a:off x="5043517" y="5202197"/>
            <a:ext cx="2421312" cy="817245"/>
          </a:xfrm>
          <a:prstGeom prst="roundRect">
            <a:avLst/>
          </a:prstGeom>
          <a:noFill/>
          <a:ln>
            <a:solidFill>
              <a:schemeClr val="tx1"/>
            </a:solidFill>
          </a:ln>
        </p:spPr>
        <p:txBody>
          <a:bodyPr wrap="square" rtlCol="0">
            <a:spAutoFit/>
          </a:bodyPr>
          <a:lstStyle/>
          <a:p>
            <a:pPr algn="ctr"/>
            <a:r>
              <a:rPr lang="en-US" dirty="0" err="1">
                <a:latin typeface="Fira Sans" panose="020B0503050000020004" pitchFamily="34" charset="0"/>
              </a:rPr>
              <a:t>lif</a:t>
            </a:r>
            <a:r>
              <a:rPr lang="en-US" dirty="0">
                <a:latin typeface="Fira Sans" panose="020B0503050000020004" pitchFamily="34" charset="0"/>
              </a:rPr>
              <a:t>-database</a:t>
            </a:r>
          </a:p>
          <a:p>
            <a:pPr algn="ctr"/>
            <a:r>
              <a:rPr lang="en-US" dirty="0">
                <a:latin typeface="Fira Sans" panose="020B0503050000020004" pitchFamily="34" charset="0"/>
              </a:rPr>
              <a:t>PostgreSQL 15</a:t>
            </a:r>
          </a:p>
          <a:p>
            <a:pPr algn="ctr"/>
            <a:r>
              <a:rPr lang="en-US" dirty="0">
                <a:latin typeface="Fira Sans" panose="020B0503050000020004" pitchFamily="34" charset="0"/>
              </a:rPr>
              <a:t>Internal Port: 5432</a:t>
            </a:r>
          </a:p>
        </p:txBody>
      </p:sp>
      <p:sp>
        <p:nvSpPr>
          <p:cNvPr id="18" name="TextBox 17">
            <a:extLst>
              <a:ext uri="{FF2B5EF4-FFF2-40B4-BE49-F238E27FC236}">
                <a16:creationId xmlns:a16="http://schemas.microsoft.com/office/drawing/2014/main" id="{51B1219B-B406-3940-114E-F13F925B719A}"/>
              </a:ext>
            </a:extLst>
          </p:cNvPr>
          <p:cNvSpPr txBox="1"/>
          <p:nvPr/>
        </p:nvSpPr>
        <p:spPr>
          <a:xfrm>
            <a:off x="8924636" y="5202197"/>
            <a:ext cx="2421312" cy="817245"/>
          </a:xfrm>
          <a:prstGeom prst="roundRect">
            <a:avLst/>
          </a:prstGeom>
          <a:noFill/>
          <a:ln>
            <a:solidFill>
              <a:schemeClr val="tx1"/>
            </a:solidFill>
          </a:ln>
        </p:spPr>
        <p:txBody>
          <a:bodyPr wrap="square" rtlCol="0">
            <a:spAutoFit/>
          </a:bodyPr>
          <a:lstStyle/>
          <a:p>
            <a:pPr algn="ctr"/>
            <a:r>
              <a:rPr lang="en-US" dirty="0" err="1">
                <a:latin typeface="Fira Sans" panose="020B0503050000020004" pitchFamily="34" charset="0"/>
              </a:rPr>
              <a:t>lif</a:t>
            </a:r>
            <a:r>
              <a:rPr lang="en-US" dirty="0">
                <a:latin typeface="Fira Sans" panose="020B0503050000020004" pitchFamily="34" charset="0"/>
              </a:rPr>
              <a:t>-ml-worker</a:t>
            </a:r>
          </a:p>
          <a:p>
            <a:pPr algn="ctr"/>
            <a:r>
              <a:rPr lang="en-US" dirty="0">
                <a:latin typeface="Fira Sans" panose="020B0503050000020004" pitchFamily="34" charset="0"/>
              </a:rPr>
              <a:t>Headless Python Environment</a:t>
            </a:r>
          </a:p>
        </p:txBody>
      </p:sp>
      <p:sp>
        <p:nvSpPr>
          <p:cNvPr id="20" name="TextBox 19">
            <a:extLst>
              <a:ext uri="{FF2B5EF4-FFF2-40B4-BE49-F238E27FC236}">
                <a16:creationId xmlns:a16="http://schemas.microsoft.com/office/drawing/2014/main" id="{37F92398-42B7-DB81-9FC2-922997774686}"/>
              </a:ext>
            </a:extLst>
          </p:cNvPr>
          <p:cNvSpPr txBox="1"/>
          <p:nvPr/>
        </p:nvSpPr>
        <p:spPr>
          <a:xfrm>
            <a:off x="884151" y="2465437"/>
            <a:ext cx="2421312" cy="340519"/>
          </a:xfrm>
          <a:prstGeom prst="roundRect">
            <a:avLst/>
          </a:prstGeom>
          <a:noFill/>
          <a:ln>
            <a:solidFill>
              <a:schemeClr val="tx1"/>
            </a:solidFill>
          </a:ln>
        </p:spPr>
        <p:txBody>
          <a:bodyPr wrap="square" rtlCol="0">
            <a:spAutoFit/>
          </a:bodyPr>
          <a:lstStyle/>
          <a:p>
            <a:pPr algn="ctr"/>
            <a:r>
              <a:rPr lang="en-US" dirty="0">
                <a:latin typeface="Fira Sans" panose="020B0503050000020004" pitchFamily="34" charset="0"/>
              </a:rPr>
              <a:t>Patient/User</a:t>
            </a:r>
          </a:p>
        </p:txBody>
      </p:sp>
      <p:sp>
        <p:nvSpPr>
          <p:cNvPr id="22" name="TextBox 21">
            <a:extLst>
              <a:ext uri="{FF2B5EF4-FFF2-40B4-BE49-F238E27FC236}">
                <a16:creationId xmlns:a16="http://schemas.microsoft.com/office/drawing/2014/main" id="{5831F70A-9452-F186-3C52-AFF323C8EE9F}"/>
              </a:ext>
            </a:extLst>
          </p:cNvPr>
          <p:cNvSpPr txBox="1"/>
          <p:nvPr/>
        </p:nvSpPr>
        <p:spPr>
          <a:xfrm>
            <a:off x="4885344" y="2465437"/>
            <a:ext cx="2421312" cy="340519"/>
          </a:xfrm>
          <a:prstGeom prst="roundRect">
            <a:avLst/>
          </a:prstGeom>
          <a:noFill/>
          <a:ln>
            <a:solidFill>
              <a:schemeClr val="tx1"/>
            </a:solidFill>
          </a:ln>
        </p:spPr>
        <p:txBody>
          <a:bodyPr wrap="square" rtlCol="0">
            <a:spAutoFit/>
          </a:bodyPr>
          <a:lstStyle/>
          <a:p>
            <a:pPr algn="ctr"/>
            <a:r>
              <a:rPr lang="en-US" dirty="0">
                <a:latin typeface="Fira Sans" panose="020B0503050000020004" pitchFamily="34" charset="0"/>
              </a:rPr>
              <a:t>Google Fit API</a:t>
            </a:r>
          </a:p>
        </p:txBody>
      </p:sp>
      <p:sp>
        <p:nvSpPr>
          <p:cNvPr id="24" name="TextBox 23">
            <a:extLst>
              <a:ext uri="{FF2B5EF4-FFF2-40B4-BE49-F238E27FC236}">
                <a16:creationId xmlns:a16="http://schemas.microsoft.com/office/drawing/2014/main" id="{CED8F9E2-9791-4D4B-2036-0E8775986029}"/>
              </a:ext>
            </a:extLst>
          </p:cNvPr>
          <p:cNvSpPr txBox="1"/>
          <p:nvPr/>
        </p:nvSpPr>
        <p:spPr>
          <a:xfrm>
            <a:off x="8621105" y="2439537"/>
            <a:ext cx="3028373" cy="340519"/>
          </a:xfrm>
          <a:prstGeom prst="roundRect">
            <a:avLst/>
          </a:prstGeom>
          <a:noFill/>
          <a:ln>
            <a:solidFill>
              <a:schemeClr val="tx1"/>
            </a:solidFill>
          </a:ln>
        </p:spPr>
        <p:txBody>
          <a:bodyPr wrap="square" rtlCol="0">
            <a:spAutoFit/>
          </a:bodyPr>
          <a:lstStyle/>
          <a:p>
            <a:pPr algn="ctr"/>
            <a:r>
              <a:rPr lang="en-US" dirty="0">
                <a:latin typeface="Fira Sans" panose="020B0503050000020004" pitchFamily="34" charset="0"/>
              </a:rPr>
              <a:t>CI/CD Trigger / GitHub Actions</a:t>
            </a:r>
          </a:p>
        </p:txBody>
      </p:sp>
      <p:cxnSp>
        <p:nvCxnSpPr>
          <p:cNvPr id="30" name="Connector: Elbow 29">
            <a:extLst>
              <a:ext uri="{FF2B5EF4-FFF2-40B4-BE49-F238E27FC236}">
                <a16:creationId xmlns:a16="http://schemas.microsoft.com/office/drawing/2014/main" id="{174864AB-28CD-DA20-077C-A5B6679853B8}"/>
              </a:ext>
            </a:extLst>
          </p:cNvPr>
          <p:cNvCxnSpPr>
            <a:cxnSpLocks/>
          </p:cNvCxnSpPr>
          <p:nvPr/>
        </p:nvCxnSpPr>
        <p:spPr>
          <a:xfrm>
            <a:off x="2185555" y="2805956"/>
            <a:ext cx="2857962" cy="170271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1F344D0-C7F2-8E92-9C90-1A993E279612}"/>
              </a:ext>
            </a:extLst>
          </p:cNvPr>
          <p:cNvSpPr txBox="1"/>
          <p:nvPr/>
        </p:nvSpPr>
        <p:spPr>
          <a:xfrm>
            <a:off x="3763926" y="4077084"/>
            <a:ext cx="966016" cy="461665"/>
          </a:xfrm>
          <a:prstGeom prst="rect">
            <a:avLst/>
          </a:prstGeom>
          <a:noFill/>
        </p:spPr>
        <p:txBody>
          <a:bodyPr wrap="square" rtlCol="0">
            <a:spAutoFit/>
          </a:bodyPr>
          <a:lstStyle/>
          <a:p>
            <a:r>
              <a:rPr lang="en-US" sz="1200" dirty="0">
                <a:latin typeface="Fira Sans" panose="020B0503050000020004" pitchFamily="34" charset="0"/>
              </a:rPr>
              <a:t>Access UI (Port 8501)</a:t>
            </a:r>
            <a:endParaRPr lang="en-IN" sz="1200" dirty="0">
              <a:latin typeface="Fira Sans" panose="020B0503050000020004" pitchFamily="34" charset="0"/>
            </a:endParaRPr>
          </a:p>
        </p:txBody>
      </p:sp>
      <p:cxnSp>
        <p:nvCxnSpPr>
          <p:cNvPr id="36" name="Connector: Elbow 35">
            <a:extLst>
              <a:ext uri="{FF2B5EF4-FFF2-40B4-BE49-F238E27FC236}">
                <a16:creationId xmlns:a16="http://schemas.microsoft.com/office/drawing/2014/main" id="{7C2065BE-AF27-F325-3472-51502C787364}"/>
              </a:ext>
            </a:extLst>
          </p:cNvPr>
          <p:cNvCxnSpPr/>
          <p:nvPr/>
        </p:nvCxnSpPr>
        <p:spPr>
          <a:xfrm rot="10800000" flipV="1">
            <a:off x="2951019" y="4601039"/>
            <a:ext cx="2092499" cy="248152"/>
          </a:xfrm>
          <a:prstGeom prst="bentConnector3">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F0703CD-EC53-F9DD-A631-F376449A5A9B}"/>
              </a:ext>
            </a:extLst>
          </p:cNvPr>
          <p:cNvSpPr txBox="1"/>
          <p:nvPr/>
        </p:nvSpPr>
        <p:spPr>
          <a:xfrm>
            <a:off x="3100702" y="4815634"/>
            <a:ext cx="1629240" cy="461665"/>
          </a:xfrm>
          <a:prstGeom prst="rect">
            <a:avLst/>
          </a:prstGeom>
          <a:noFill/>
        </p:spPr>
        <p:txBody>
          <a:bodyPr wrap="square" rtlCol="0">
            <a:spAutoFit/>
          </a:bodyPr>
          <a:lstStyle/>
          <a:p>
            <a:r>
              <a:rPr lang="en-US" sz="1200" dirty="0">
                <a:latin typeface="Fira Sans" panose="020B0503050000020004" pitchFamily="34" charset="0"/>
              </a:rPr>
              <a:t>Hot – reloads .pkl for inference</a:t>
            </a:r>
            <a:endParaRPr lang="en-IN" sz="1200" dirty="0">
              <a:latin typeface="Fira Sans" panose="020B0503050000020004" pitchFamily="34" charset="0"/>
            </a:endParaRPr>
          </a:p>
        </p:txBody>
      </p:sp>
      <p:cxnSp>
        <p:nvCxnSpPr>
          <p:cNvPr id="43" name="Straight Arrow Connector 42">
            <a:extLst>
              <a:ext uri="{FF2B5EF4-FFF2-40B4-BE49-F238E27FC236}">
                <a16:creationId xmlns:a16="http://schemas.microsoft.com/office/drawing/2014/main" id="{F1618114-AA6C-4ADA-2FFD-9812E714B232}"/>
              </a:ext>
            </a:extLst>
          </p:cNvPr>
          <p:cNvCxnSpPr/>
          <p:nvPr/>
        </p:nvCxnSpPr>
        <p:spPr>
          <a:xfrm>
            <a:off x="2951018" y="5645888"/>
            <a:ext cx="209249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BB54A8A-2349-0D1D-2EC1-8F86DDE88A0A}"/>
              </a:ext>
            </a:extLst>
          </p:cNvPr>
          <p:cNvSpPr txBox="1"/>
          <p:nvPr/>
        </p:nvSpPr>
        <p:spPr>
          <a:xfrm>
            <a:off x="3182647" y="5612569"/>
            <a:ext cx="1629240" cy="461665"/>
          </a:xfrm>
          <a:prstGeom prst="rect">
            <a:avLst/>
          </a:prstGeom>
          <a:noFill/>
        </p:spPr>
        <p:txBody>
          <a:bodyPr wrap="square" rtlCol="0">
            <a:spAutoFit/>
          </a:bodyPr>
          <a:lstStyle/>
          <a:p>
            <a:r>
              <a:rPr lang="en-US" sz="1200" dirty="0">
                <a:latin typeface="Fira Sans" panose="020B0503050000020004" pitchFamily="34" charset="0"/>
              </a:rPr>
              <a:t>Mounts &amp; Persists Data</a:t>
            </a:r>
            <a:endParaRPr lang="en-IN" sz="1200" dirty="0">
              <a:latin typeface="Fira Sans" panose="020B0503050000020004" pitchFamily="34" charset="0"/>
            </a:endParaRPr>
          </a:p>
        </p:txBody>
      </p:sp>
      <p:cxnSp>
        <p:nvCxnSpPr>
          <p:cNvPr id="47" name="Straight Arrow Connector 46">
            <a:extLst>
              <a:ext uri="{FF2B5EF4-FFF2-40B4-BE49-F238E27FC236}">
                <a16:creationId xmlns:a16="http://schemas.microsoft.com/office/drawing/2014/main" id="{49436445-FAEB-9EA4-AD40-9B41E3D8FB64}"/>
              </a:ext>
            </a:extLst>
          </p:cNvPr>
          <p:cNvCxnSpPr/>
          <p:nvPr/>
        </p:nvCxnSpPr>
        <p:spPr>
          <a:xfrm>
            <a:off x="5837274" y="2805956"/>
            <a:ext cx="0" cy="5792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E6699CA4-83D9-0F9E-6236-0962C0A00BDF}"/>
              </a:ext>
            </a:extLst>
          </p:cNvPr>
          <p:cNvCxnSpPr>
            <a:stCxn id="2" idx="0"/>
          </p:cNvCxnSpPr>
          <p:nvPr/>
        </p:nvCxnSpPr>
        <p:spPr>
          <a:xfrm flipH="1" flipV="1">
            <a:off x="6339840" y="2780056"/>
            <a:ext cx="1" cy="6051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0BF87166-FECD-F7DE-9518-EC9C6F84F5C7}"/>
              </a:ext>
            </a:extLst>
          </p:cNvPr>
          <p:cNvSpPr txBox="1"/>
          <p:nvPr/>
        </p:nvSpPr>
        <p:spPr>
          <a:xfrm>
            <a:off x="4440409" y="2972648"/>
            <a:ext cx="1584241" cy="276999"/>
          </a:xfrm>
          <a:prstGeom prst="rect">
            <a:avLst/>
          </a:prstGeom>
          <a:noFill/>
        </p:spPr>
        <p:txBody>
          <a:bodyPr wrap="square" rtlCol="0">
            <a:spAutoFit/>
          </a:bodyPr>
          <a:lstStyle/>
          <a:p>
            <a:r>
              <a:rPr lang="en-US" sz="1200" dirty="0">
                <a:latin typeface="Fira Sans" panose="020B0503050000020004" pitchFamily="34" charset="0"/>
              </a:rPr>
              <a:t>Request </a:t>
            </a:r>
            <a:r>
              <a:rPr lang="en-US" sz="1200" dirty="0" err="1">
                <a:latin typeface="Fira Sans" panose="020B0503050000020004" pitchFamily="34" charset="0"/>
              </a:rPr>
              <a:t>Oauth</a:t>
            </a:r>
            <a:r>
              <a:rPr lang="en-US" sz="1200" dirty="0">
                <a:latin typeface="Fira Sans" panose="020B0503050000020004" pitchFamily="34" charset="0"/>
              </a:rPr>
              <a:t> 2.0</a:t>
            </a:r>
            <a:endParaRPr lang="en-IN" sz="1200" dirty="0">
              <a:latin typeface="Fira Sans" panose="020B0503050000020004" pitchFamily="34" charset="0"/>
            </a:endParaRPr>
          </a:p>
        </p:txBody>
      </p:sp>
      <p:sp>
        <p:nvSpPr>
          <p:cNvPr id="53" name="TextBox 52">
            <a:extLst>
              <a:ext uri="{FF2B5EF4-FFF2-40B4-BE49-F238E27FC236}">
                <a16:creationId xmlns:a16="http://schemas.microsoft.com/office/drawing/2014/main" id="{23B1A079-AC3C-98E4-12FE-86B0C5E2D538}"/>
              </a:ext>
            </a:extLst>
          </p:cNvPr>
          <p:cNvSpPr txBox="1"/>
          <p:nvPr/>
        </p:nvSpPr>
        <p:spPr>
          <a:xfrm>
            <a:off x="6339840" y="2929970"/>
            <a:ext cx="1584241" cy="461665"/>
          </a:xfrm>
          <a:prstGeom prst="rect">
            <a:avLst/>
          </a:prstGeom>
          <a:noFill/>
        </p:spPr>
        <p:txBody>
          <a:bodyPr wrap="square" rtlCol="0">
            <a:spAutoFit/>
          </a:bodyPr>
          <a:lstStyle/>
          <a:p>
            <a:r>
              <a:rPr lang="en-US" sz="1200" dirty="0">
                <a:latin typeface="Fira Sans" panose="020B0503050000020004" pitchFamily="34" charset="0"/>
              </a:rPr>
              <a:t>Return Telemetry (Steps/Sleep)</a:t>
            </a:r>
            <a:endParaRPr lang="en-IN" sz="1200" dirty="0">
              <a:latin typeface="Fira Sans" panose="020B0503050000020004" pitchFamily="34" charset="0"/>
            </a:endParaRPr>
          </a:p>
        </p:txBody>
      </p:sp>
      <p:cxnSp>
        <p:nvCxnSpPr>
          <p:cNvPr id="54" name="Straight Arrow Connector 53">
            <a:extLst>
              <a:ext uri="{FF2B5EF4-FFF2-40B4-BE49-F238E27FC236}">
                <a16:creationId xmlns:a16="http://schemas.microsoft.com/office/drawing/2014/main" id="{6CFFC746-79AE-00FF-374C-4BC788CB3C08}"/>
              </a:ext>
            </a:extLst>
          </p:cNvPr>
          <p:cNvCxnSpPr>
            <a:cxnSpLocks/>
            <a:endCxn id="16" idx="0"/>
          </p:cNvCxnSpPr>
          <p:nvPr/>
        </p:nvCxnSpPr>
        <p:spPr>
          <a:xfrm>
            <a:off x="6254173" y="4849192"/>
            <a:ext cx="0" cy="3530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EB75E10-E361-7757-9E1B-59902D1D8661}"/>
              </a:ext>
            </a:extLst>
          </p:cNvPr>
          <p:cNvSpPr txBox="1"/>
          <p:nvPr/>
        </p:nvSpPr>
        <p:spPr>
          <a:xfrm>
            <a:off x="6254173" y="4896882"/>
            <a:ext cx="2843524" cy="276999"/>
          </a:xfrm>
          <a:prstGeom prst="rect">
            <a:avLst/>
          </a:prstGeom>
          <a:noFill/>
        </p:spPr>
        <p:txBody>
          <a:bodyPr wrap="square" rtlCol="0">
            <a:spAutoFit/>
          </a:bodyPr>
          <a:lstStyle/>
          <a:p>
            <a:r>
              <a:rPr lang="en-US" sz="1200" dirty="0">
                <a:latin typeface="Fira Sans" panose="020B0503050000020004" pitchFamily="34" charset="0"/>
              </a:rPr>
              <a:t>Save Logs &amp; Dictionary Maps (UPSERT)</a:t>
            </a:r>
            <a:endParaRPr lang="en-IN" sz="1200" dirty="0">
              <a:latin typeface="Fira Sans" panose="020B0503050000020004" pitchFamily="34" charset="0"/>
            </a:endParaRPr>
          </a:p>
        </p:txBody>
      </p:sp>
      <p:cxnSp>
        <p:nvCxnSpPr>
          <p:cNvPr id="59" name="Straight Arrow Connector 58">
            <a:extLst>
              <a:ext uri="{FF2B5EF4-FFF2-40B4-BE49-F238E27FC236}">
                <a16:creationId xmlns:a16="http://schemas.microsoft.com/office/drawing/2014/main" id="{C5432DE9-7322-6BDD-45EF-6C5939550101}"/>
              </a:ext>
            </a:extLst>
          </p:cNvPr>
          <p:cNvCxnSpPr>
            <a:stCxn id="18" idx="1"/>
            <a:endCxn id="16" idx="3"/>
          </p:cNvCxnSpPr>
          <p:nvPr/>
        </p:nvCxnSpPr>
        <p:spPr>
          <a:xfrm flipH="1">
            <a:off x="7464829" y="5610820"/>
            <a:ext cx="14598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08B2431D-4470-DD60-7CDC-8F1E0194B154}"/>
              </a:ext>
            </a:extLst>
          </p:cNvPr>
          <p:cNvSpPr txBox="1"/>
          <p:nvPr/>
        </p:nvSpPr>
        <p:spPr>
          <a:xfrm>
            <a:off x="7464829" y="5411925"/>
            <a:ext cx="1484107" cy="461665"/>
          </a:xfrm>
          <a:prstGeom prst="rect">
            <a:avLst/>
          </a:prstGeom>
          <a:noFill/>
        </p:spPr>
        <p:txBody>
          <a:bodyPr wrap="square" rtlCol="0">
            <a:spAutoFit/>
          </a:bodyPr>
          <a:lstStyle/>
          <a:p>
            <a:r>
              <a:rPr lang="en-US" sz="1200" dirty="0">
                <a:latin typeface="Fira Sans" panose="020B0503050000020004" pitchFamily="34" charset="0"/>
              </a:rPr>
              <a:t>Fetch 2 lakh+ Rows</a:t>
            </a:r>
          </a:p>
          <a:p>
            <a:r>
              <a:rPr lang="en-US" sz="1200" dirty="0">
                <a:latin typeface="Fira Sans" panose="020B0503050000020004" pitchFamily="34" charset="0"/>
              </a:rPr>
              <a:t>For MLE (SQL)</a:t>
            </a:r>
            <a:endParaRPr lang="en-IN" sz="1200" dirty="0">
              <a:latin typeface="Fira Sans" panose="020B0503050000020004" pitchFamily="34" charset="0"/>
            </a:endParaRPr>
          </a:p>
        </p:txBody>
      </p:sp>
      <p:cxnSp>
        <p:nvCxnSpPr>
          <p:cNvPr id="63" name="Straight Arrow Connector 62">
            <a:extLst>
              <a:ext uri="{FF2B5EF4-FFF2-40B4-BE49-F238E27FC236}">
                <a16:creationId xmlns:a16="http://schemas.microsoft.com/office/drawing/2014/main" id="{4EFDA4EF-569C-0BBC-8DB9-C7FBEA643C90}"/>
              </a:ext>
            </a:extLst>
          </p:cNvPr>
          <p:cNvCxnSpPr>
            <a:stCxn id="24" idx="2"/>
            <a:endCxn id="18" idx="0"/>
          </p:cNvCxnSpPr>
          <p:nvPr/>
        </p:nvCxnSpPr>
        <p:spPr>
          <a:xfrm>
            <a:off x="10135292" y="2780056"/>
            <a:ext cx="0" cy="24221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E34A4D54-C28B-2D45-AB51-B8763669D0CF}"/>
              </a:ext>
            </a:extLst>
          </p:cNvPr>
          <p:cNvSpPr txBox="1"/>
          <p:nvPr/>
        </p:nvSpPr>
        <p:spPr>
          <a:xfrm>
            <a:off x="10118532" y="2931922"/>
            <a:ext cx="1930535" cy="276999"/>
          </a:xfrm>
          <a:prstGeom prst="rect">
            <a:avLst/>
          </a:prstGeom>
          <a:noFill/>
        </p:spPr>
        <p:txBody>
          <a:bodyPr wrap="square" rtlCol="0">
            <a:spAutoFit/>
          </a:bodyPr>
          <a:lstStyle/>
          <a:p>
            <a:r>
              <a:rPr lang="en-US" sz="1200" dirty="0">
                <a:latin typeface="Fira Sans" panose="020B0503050000020004" pitchFamily="34" charset="0"/>
              </a:rPr>
              <a:t>Trigger Model Retraining</a:t>
            </a:r>
            <a:endParaRPr lang="en-IN" sz="1200" dirty="0">
              <a:latin typeface="Fira Sans" panose="020B0503050000020004" pitchFamily="34" charset="0"/>
            </a:endParaRPr>
          </a:p>
        </p:txBody>
      </p:sp>
      <p:cxnSp>
        <p:nvCxnSpPr>
          <p:cNvPr id="67" name="Connector: Elbow 66">
            <a:extLst>
              <a:ext uri="{FF2B5EF4-FFF2-40B4-BE49-F238E27FC236}">
                <a16:creationId xmlns:a16="http://schemas.microsoft.com/office/drawing/2014/main" id="{A267FFB3-E2BB-292D-05BF-8EC9CCC3B680}"/>
              </a:ext>
            </a:extLst>
          </p:cNvPr>
          <p:cNvCxnSpPr/>
          <p:nvPr/>
        </p:nvCxnSpPr>
        <p:spPr>
          <a:xfrm rot="10800000" flipV="1">
            <a:off x="1898535" y="6051380"/>
            <a:ext cx="8236756" cy="22853"/>
          </a:xfrm>
          <a:prstGeom prst="bentConnector3">
            <a:avLst>
              <a:gd name="adj1" fmla="val -30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2A150F6B-FC49-7C2E-6707-62EAD35A979C}"/>
              </a:ext>
            </a:extLst>
          </p:cNvPr>
          <p:cNvSpPr txBox="1"/>
          <p:nvPr/>
        </p:nvSpPr>
        <p:spPr>
          <a:xfrm>
            <a:off x="5316915" y="6054160"/>
            <a:ext cx="2843524" cy="276999"/>
          </a:xfrm>
          <a:prstGeom prst="rect">
            <a:avLst/>
          </a:prstGeom>
          <a:noFill/>
        </p:spPr>
        <p:txBody>
          <a:bodyPr wrap="square" rtlCol="0">
            <a:spAutoFit/>
          </a:bodyPr>
          <a:lstStyle/>
          <a:p>
            <a:r>
              <a:rPr lang="en-US" sz="1200" dirty="0">
                <a:latin typeface="Fira Sans" panose="020B0503050000020004" pitchFamily="34" charset="0"/>
              </a:rPr>
              <a:t>Serializes new .pkl</a:t>
            </a:r>
            <a:endParaRPr lang="en-IN" sz="1200" dirty="0">
              <a:latin typeface="Fira Sans" panose="020B0503050000020004" pitchFamily="34" charset="0"/>
            </a:endParaRPr>
          </a:p>
        </p:txBody>
      </p:sp>
    </p:spTree>
    <p:extLst>
      <p:ext uri="{BB962C8B-B14F-4D97-AF65-F5344CB8AC3E}">
        <p14:creationId xmlns:p14="http://schemas.microsoft.com/office/powerpoint/2010/main" val="4014929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461B6-491B-4308-0BEA-500C7FC5A63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AFC2A1-BDFF-D3FC-739C-86F21656F6B8}"/>
              </a:ext>
            </a:extLst>
          </p:cNvPr>
          <p:cNvSpPr>
            <a:spLocks noGrp="1"/>
          </p:cNvSpPr>
          <p:nvPr>
            <p:ph type="ctrTitle"/>
          </p:nvPr>
        </p:nvSpPr>
        <p:spPr>
          <a:xfrm>
            <a:off x="721361" y="1122363"/>
            <a:ext cx="11236958" cy="990917"/>
          </a:xfrm>
        </p:spPr>
        <p:txBody>
          <a:bodyPr>
            <a:noAutofit/>
          </a:bodyPr>
          <a:lstStyle/>
          <a:p>
            <a:r>
              <a:rPr lang="en-IN" dirty="0"/>
              <a:t>CI/CD Pipeline Design</a:t>
            </a:r>
          </a:p>
        </p:txBody>
      </p:sp>
      <p:sp>
        <p:nvSpPr>
          <p:cNvPr id="5" name="Subtitle 4">
            <a:extLst>
              <a:ext uri="{FF2B5EF4-FFF2-40B4-BE49-F238E27FC236}">
                <a16:creationId xmlns:a16="http://schemas.microsoft.com/office/drawing/2014/main" id="{5158DE1E-DB26-B1D8-B98E-72C0333B199B}"/>
              </a:ext>
            </a:extLst>
          </p:cNvPr>
          <p:cNvSpPr>
            <a:spLocks noGrp="1"/>
          </p:cNvSpPr>
          <p:nvPr>
            <p:ph type="subTitle" idx="1"/>
          </p:nvPr>
        </p:nvSpPr>
        <p:spPr>
          <a:xfrm>
            <a:off x="843280" y="2042158"/>
            <a:ext cx="2744872" cy="4161871"/>
          </a:xfrm>
          <a:ln>
            <a:solidFill>
              <a:schemeClr val="tx1"/>
            </a:solidFill>
          </a:ln>
        </p:spPr>
        <p:txBody>
          <a:bodyPr>
            <a:normAutofit/>
          </a:bodyPr>
          <a:lstStyle/>
          <a:p>
            <a:pPr marL="50800" indent="0"/>
            <a:r>
              <a:rPr lang="en-US" sz="1400" dirty="0"/>
              <a:t>CI/CD Pipeline Triggers</a:t>
            </a:r>
          </a:p>
          <a:p>
            <a:pPr marL="50800" indent="0"/>
            <a:endParaRPr lang="en-US" sz="1400" dirty="0"/>
          </a:p>
        </p:txBody>
      </p:sp>
      <p:sp>
        <p:nvSpPr>
          <p:cNvPr id="2" name="TextBox 1">
            <a:extLst>
              <a:ext uri="{FF2B5EF4-FFF2-40B4-BE49-F238E27FC236}">
                <a16:creationId xmlns:a16="http://schemas.microsoft.com/office/drawing/2014/main" id="{16F608E7-631A-D142-8446-6B910F861775}"/>
              </a:ext>
            </a:extLst>
          </p:cNvPr>
          <p:cNvSpPr txBox="1"/>
          <p:nvPr/>
        </p:nvSpPr>
        <p:spPr>
          <a:xfrm>
            <a:off x="960699" y="2438083"/>
            <a:ext cx="2534855" cy="1055608"/>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Code Push / Merge</a:t>
            </a:r>
          </a:p>
          <a:p>
            <a:pPr algn="ctr"/>
            <a:r>
              <a:rPr lang="en-US" dirty="0">
                <a:solidFill>
                  <a:srgbClr val="4D4D4C"/>
                </a:solidFill>
                <a:latin typeface="Fira Sans"/>
                <a:sym typeface="Fira Sans"/>
              </a:rPr>
              <a:t>(GitHub)</a:t>
            </a:r>
          </a:p>
          <a:p>
            <a:pPr algn="ctr"/>
            <a:r>
              <a:rPr lang="en-US" dirty="0">
                <a:solidFill>
                  <a:srgbClr val="4D4D4C"/>
                </a:solidFill>
                <a:latin typeface="Fira Sans"/>
                <a:sym typeface="Fira Sans"/>
              </a:rPr>
              <a:t>Pushing app.py, train.py, or pipeline changes</a:t>
            </a:r>
            <a:endParaRPr lang="en-IN" dirty="0">
              <a:solidFill>
                <a:srgbClr val="4D4D4C"/>
              </a:solidFill>
              <a:latin typeface="Fira Sans"/>
              <a:sym typeface="Fira Sans"/>
            </a:endParaRPr>
          </a:p>
        </p:txBody>
      </p:sp>
      <p:sp>
        <p:nvSpPr>
          <p:cNvPr id="6" name="TextBox 5">
            <a:extLst>
              <a:ext uri="{FF2B5EF4-FFF2-40B4-BE49-F238E27FC236}">
                <a16:creationId xmlns:a16="http://schemas.microsoft.com/office/drawing/2014/main" id="{FB68AD7D-83E4-30FC-2F0F-BB5E8715C1D3}"/>
              </a:ext>
            </a:extLst>
          </p:cNvPr>
          <p:cNvSpPr txBox="1"/>
          <p:nvPr/>
        </p:nvSpPr>
        <p:spPr>
          <a:xfrm>
            <a:off x="948286" y="3739784"/>
            <a:ext cx="2534855" cy="1055608"/>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Database Insertion (PostgreSQL)</a:t>
            </a:r>
          </a:p>
          <a:p>
            <a:pPr algn="ctr"/>
            <a:r>
              <a:rPr lang="en-US" dirty="0">
                <a:solidFill>
                  <a:srgbClr val="4D4D4C"/>
                </a:solidFill>
                <a:latin typeface="Fira Sans"/>
                <a:sym typeface="Fira Sans"/>
              </a:rPr>
              <a:t>Daily logs or newly mapped items like ‘Exhaustion’.</a:t>
            </a:r>
            <a:endParaRPr lang="en-IN" dirty="0">
              <a:solidFill>
                <a:srgbClr val="4D4D4C"/>
              </a:solidFill>
              <a:latin typeface="Fira Sans"/>
              <a:sym typeface="Fira Sans"/>
            </a:endParaRPr>
          </a:p>
        </p:txBody>
      </p:sp>
      <p:sp>
        <p:nvSpPr>
          <p:cNvPr id="8" name="TextBox 7">
            <a:extLst>
              <a:ext uri="{FF2B5EF4-FFF2-40B4-BE49-F238E27FC236}">
                <a16:creationId xmlns:a16="http://schemas.microsoft.com/office/drawing/2014/main" id="{2926166C-AD36-C3DD-8A77-1F35BFBF7147}"/>
              </a:ext>
            </a:extLst>
          </p:cNvPr>
          <p:cNvSpPr txBox="1"/>
          <p:nvPr/>
        </p:nvSpPr>
        <p:spPr>
          <a:xfrm>
            <a:off x="948287" y="5041485"/>
            <a:ext cx="2534855" cy="817245"/>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Nightly CRON</a:t>
            </a:r>
          </a:p>
          <a:p>
            <a:pPr algn="ctr"/>
            <a:r>
              <a:rPr lang="en-US" dirty="0">
                <a:solidFill>
                  <a:srgbClr val="4D4D4C"/>
                </a:solidFill>
                <a:latin typeface="Fira Sans"/>
                <a:sym typeface="Fira Sans"/>
              </a:rPr>
              <a:t>Scheduled periodic retraining</a:t>
            </a:r>
            <a:endParaRPr lang="en-IN" dirty="0">
              <a:solidFill>
                <a:srgbClr val="4D4D4C"/>
              </a:solidFill>
              <a:latin typeface="Fira Sans"/>
              <a:sym typeface="Fira Sans"/>
            </a:endParaRPr>
          </a:p>
        </p:txBody>
      </p:sp>
      <p:sp>
        <p:nvSpPr>
          <p:cNvPr id="9" name="Subtitle 4">
            <a:extLst>
              <a:ext uri="{FF2B5EF4-FFF2-40B4-BE49-F238E27FC236}">
                <a16:creationId xmlns:a16="http://schemas.microsoft.com/office/drawing/2014/main" id="{F30A677C-04A5-0691-E247-BE44F1B158AE}"/>
              </a:ext>
            </a:extLst>
          </p:cNvPr>
          <p:cNvSpPr txBox="1">
            <a:spLocks/>
          </p:cNvSpPr>
          <p:nvPr/>
        </p:nvSpPr>
        <p:spPr>
          <a:xfrm>
            <a:off x="4051140" y="1991160"/>
            <a:ext cx="3576574" cy="4866840"/>
          </a:xfrm>
          <a:prstGeom prst="rect">
            <a:avLst/>
          </a:prstGeom>
          <a:noFill/>
          <a:ln>
            <a:solidFill>
              <a:schemeClr val="tx1"/>
            </a:solid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rgbClr val="4D4D4C"/>
              </a:buClr>
              <a:buSzPts val="2400"/>
              <a:buFont typeface="Arial"/>
              <a:buNone/>
              <a:defRPr sz="2400" b="0" i="0" u="none" strike="noStrike" cap="none">
                <a:solidFill>
                  <a:srgbClr val="4D4D4C"/>
                </a:solidFill>
                <a:latin typeface="Fira Sans"/>
                <a:ea typeface="Fira Sans"/>
                <a:cs typeface="Fira Sans"/>
                <a:sym typeface="Fira Sans"/>
              </a:defRPr>
            </a:lvl1pPr>
            <a:lvl2pPr marL="914400" marR="0" lvl="1" indent="-381000" algn="ctr" rtl="0">
              <a:lnSpc>
                <a:spcPct val="90000"/>
              </a:lnSpc>
              <a:spcBef>
                <a:spcPts val="500"/>
              </a:spcBef>
              <a:spcAft>
                <a:spcPts val="0"/>
              </a:spcAft>
              <a:buClr>
                <a:srgbClr val="4D4D4C"/>
              </a:buClr>
              <a:buSzPts val="2000"/>
              <a:buFont typeface="Arial"/>
              <a:buNone/>
              <a:defRPr sz="2000" b="0" i="0" u="none" strike="noStrike" cap="none">
                <a:solidFill>
                  <a:srgbClr val="4D4D4C"/>
                </a:solidFill>
                <a:latin typeface="Fira Sans"/>
                <a:ea typeface="Fira Sans"/>
                <a:cs typeface="Fira Sans"/>
                <a:sym typeface="Fira Sans"/>
              </a:defRPr>
            </a:lvl2pPr>
            <a:lvl3pPr marL="1371600" marR="0" lvl="2" indent="-355600" algn="ctr" rtl="0">
              <a:lnSpc>
                <a:spcPct val="90000"/>
              </a:lnSpc>
              <a:spcBef>
                <a:spcPts val="500"/>
              </a:spcBef>
              <a:spcAft>
                <a:spcPts val="0"/>
              </a:spcAft>
              <a:buClr>
                <a:srgbClr val="4D4D4C"/>
              </a:buClr>
              <a:buSzPts val="1800"/>
              <a:buFont typeface="Arial"/>
              <a:buNone/>
              <a:defRPr sz="1800" b="0" i="0" u="none" strike="noStrike" cap="none">
                <a:solidFill>
                  <a:srgbClr val="4D4D4C"/>
                </a:solidFill>
                <a:latin typeface="Fira Sans"/>
                <a:ea typeface="Fira Sans"/>
                <a:cs typeface="Fira Sans"/>
                <a:sym typeface="Fira Sans"/>
              </a:defRPr>
            </a:lvl3pPr>
            <a:lvl4pPr marL="1828800" marR="0" lvl="3"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4pPr>
            <a:lvl5pPr marL="2286000" marR="0" lvl="4"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50800" indent="0">
              <a:spcBef>
                <a:spcPts val="600"/>
              </a:spcBef>
            </a:pPr>
            <a:r>
              <a:rPr lang="en-US" sz="1400" dirty="0"/>
              <a:t>Jenkins Automation Server</a:t>
            </a:r>
          </a:p>
          <a:p>
            <a:pPr marL="50800" indent="0">
              <a:spcBef>
                <a:spcPts val="600"/>
              </a:spcBef>
            </a:pPr>
            <a:r>
              <a:rPr lang="en-US" sz="1400" dirty="0"/>
              <a:t>Pipeline Stages</a:t>
            </a:r>
          </a:p>
          <a:p>
            <a:pPr marL="50800" indent="0" algn="l"/>
            <a:r>
              <a:rPr lang="en-US" sz="1400" dirty="0"/>
              <a:t>    1.</a:t>
            </a:r>
          </a:p>
          <a:p>
            <a:pPr marL="50800" indent="0" algn="l"/>
            <a:endParaRPr lang="en-US" sz="1400" dirty="0"/>
          </a:p>
          <a:p>
            <a:pPr marL="50800" indent="0" algn="l"/>
            <a:endParaRPr lang="en-US" sz="1400" dirty="0"/>
          </a:p>
          <a:p>
            <a:pPr marL="50800" indent="0" algn="l"/>
            <a:r>
              <a:rPr lang="en-US" sz="1400" dirty="0"/>
              <a:t>    2.</a:t>
            </a:r>
          </a:p>
          <a:p>
            <a:pPr marL="50800" indent="0" algn="l"/>
            <a:endParaRPr lang="en-US" sz="1400" dirty="0"/>
          </a:p>
          <a:p>
            <a:pPr marL="50800" indent="0" algn="l"/>
            <a:endParaRPr lang="en-US" sz="1400" dirty="0"/>
          </a:p>
          <a:p>
            <a:pPr marL="50800" indent="0" algn="l"/>
            <a:r>
              <a:rPr lang="en-US" sz="1400" dirty="0"/>
              <a:t>   3.</a:t>
            </a:r>
          </a:p>
          <a:p>
            <a:pPr marL="50800" indent="0" algn="l"/>
            <a:endParaRPr lang="en-US" sz="1400" dirty="0"/>
          </a:p>
          <a:p>
            <a:pPr marL="50800" indent="0" algn="l"/>
            <a:endParaRPr lang="en-US" sz="1400" dirty="0"/>
          </a:p>
          <a:p>
            <a:pPr marL="50800" indent="0" algn="l"/>
            <a:endParaRPr lang="en-US" sz="1400" dirty="0"/>
          </a:p>
          <a:p>
            <a:pPr marL="50800" indent="0" algn="l"/>
            <a:r>
              <a:rPr lang="en-US" sz="1400" dirty="0"/>
              <a:t>   4.</a:t>
            </a:r>
          </a:p>
        </p:txBody>
      </p:sp>
      <p:cxnSp>
        <p:nvCxnSpPr>
          <p:cNvPr id="11" name="Straight Connector 10">
            <a:extLst>
              <a:ext uri="{FF2B5EF4-FFF2-40B4-BE49-F238E27FC236}">
                <a16:creationId xmlns:a16="http://schemas.microsoft.com/office/drawing/2014/main" id="{64F5CF0E-891F-8D93-80E2-D756EC5DEB91}"/>
              </a:ext>
            </a:extLst>
          </p:cNvPr>
          <p:cNvCxnSpPr>
            <a:cxnSpLocks/>
          </p:cNvCxnSpPr>
          <p:nvPr/>
        </p:nvCxnSpPr>
        <p:spPr>
          <a:xfrm>
            <a:off x="4427441" y="2333911"/>
            <a:ext cx="307886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A3873AB-05D8-93F9-6FD5-7993561E0DE8}"/>
              </a:ext>
            </a:extLst>
          </p:cNvPr>
          <p:cNvSpPr txBox="1"/>
          <p:nvPr/>
        </p:nvSpPr>
        <p:spPr>
          <a:xfrm>
            <a:off x="4637590" y="2572275"/>
            <a:ext cx="2916819" cy="817245"/>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Stage 1</a:t>
            </a:r>
            <a:r>
              <a:rPr lang="en-IN" dirty="0">
                <a:solidFill>
                  <a:srgbClr val="4D4D4C"/>
                </a:solidFill>
                <a:latin typeface="Fira Sans"/>
                <a:sym typeface="Fira Sans"/>
              </a:rPr>
              <a:t>: Checkout &amp; DVC Pull</a:t>
            </a:r>
          </a:p>
          <a:p>
            <a:pPr algn="ctr"/>
            <a:r>
              <a:rPr lang="en-IN" dirty="0">
                <a:solidFill>
                  <a:srgbClr val="4D4D4C"/>
                </a:solidFill>
                <a:latin typeface="Fira Sans"/>
                <a:sym typeface="Fira Sans"/>
              </a:rPr>
              <a:t>Pull Git source and gets dataset pointers using DVC</a:t>
            </a:r>
            <a:endParaRPr lang="en-US" dirty="0">
              <a:solidFill>
                <a:srgbClr val="4D4D4C"/>
              </a:solidFill>
              <a:latin typeface="Fira Sans"/>
              <a:sym typeface="Fira Sans"/>
            </a:endParaRPr>
          </a:p>
        </p:txBody>
      </p:sp>
      <p:sp>
        <p:nvSpPr>
          <p:cNvPr id="16" name="TextBox 15">
            <a:extLst>
              <a:ext uri="{FF2B5EF4-FFF2-40B4-BE49-F238E27FC236}">
                <a16:creationId xmlns:a16="http://schemas.microsoft.com/office/drawing/2014/main" id="{D5A8A100-8583-1A03-1D63-E8F2A68C4F68}"/>
              </a:ext>
            </a:extLst>
          </p:cNvPr>
          <p:cNvSpPr txBox="1"/>
          <p:nvPr/>
        </p:nvSpPr>
        <p:spPr>
          <a:xfrm>
            <a:off x="4637590" y="3402310"/>
            <a:ext cx="2916819" cy="817245"/>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Stage 2: Pre-training Validation</a:t>
            </a:r>
          </a:p>
          <a:p>
            <a:pPr algn="ctr"/>
            <a:r>
              <a:rPr lang="en-US" dirty="0">
                <a:solidFill>
                  <a:srgbClr val="4D4D4C"/>
                </a:solidFill>
                <a:latin typeface="Fira Sans"/>
                <a:sym typeface="Fira Sans"/>
              </a:rPr>
              <a:t>Verifies database schemas, clean data.</a:t>
            </a:r>
          </a:p>
        </p:txBody>
      </p:sp>
      <p:sp>
        <p:nvSpPr>
          <p:cNvPr id="18" name="TextBox 17">
            <a:extLst>
              <a:ext uri="{FF2B5EF4-FFF2-40B4-BE49-F238E27FC236}">
                <a16:creationId xmlns:a16="http://schemas.microsoft.com/office/drawing/2014/main" id="{DC61F888-6E6A-FE64-3F26-AB2B944D4874}"/>
              </a:ext>
            </a:extLst>
          </p:cNvPr>
          <p:cNvSpPr txBox="1"/>
          <p:nvPr/>
        </p:nvSpPr>
        <p:spPr>
          <a:xfrm>
            <a:off x="4644275" y="4228635"/>
            <a:ext cx="2916819" cy="1293971"/>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Stage 3: Automated ML Training</a:t>
            </a:r>
          </a:p>
          <a:p>
            <a:pPr algn="ctr"/>
            <a:r>
              <a:rPr lang="en-US" dirty="0">
                <a:solidFill>
                  <a:srgbClr val="4D4D4C"/>
                </a:solidFill>
                <a:latin typeface="Fira Sans"/>
                <a:sym typeface="Fira Sans"/>
              </a:rPr>
              <a:t>Jenkins worker triggers container running ‘</a:t>
            </a:r>
            <a:r>
              <a:rPr lang="en-US" dirty="0" err="1">
                <a:solidFill>
                  <a:srgbClr val="4D4D4C"/>
                </a:solidFill>
                <a:latin typeface="Fira Sans"/>
                <a:sym typeface="Fira Sans"/>
              </a:rPr>
              <a:t>lif</a:t>
            </a:r>
            <a:r>
              <a:rPr lang="en-US" dirty="0">
                <a:solidFill>
                  <a:srgbClr val="4D4D4C"/>
                </a:solidFill>
                <a:latin typeface="Fira Sans"/>
                <a:sym typeface="Fira Sans"/>
              </a:rPr>
              <a:t>-ml-worker’ to execute train.py on over 2L+ rows.</a:t>
            </a:r>
          </a:p>
        </p:txBody>
      </p:sp>
      <p:sp>
        <p:nvSpPr>
          <p:cNvPr id="20" name="TextBox 19">
            <a:extLst>
              <a:ext uri="{FF2B5EF4-FFF2-40B4-BE49-F238E27FC236}">
                <a16:creationId xmlns:a16="http://schemas.microsoft.com/office/drawing/2014/main" id="{D643A6AD-8DB4-E5D9-5342-0E1570E923DE}"/>
              </a:ext>
            </a:extLst>
          </p:cNvPr>
          <p:cNvSpPr txBox="1"/>
          <p:nvPr/>
        </p:nvSpPr>
        <p:spPr>
          <a:xfrm>
            <a:off x="4637589" y="5557043"/>
            <a:ext cx="2916819" cy="1293971"/>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Stage 4: Evaluation &amp; Artifact Registering</a:t>
            </a:r>
          </a:p>
          <a:p>
            <a:pPr algn="ctr"/>
            <a:r>
              <a:rPr lang="en-US" dirty="0">
                <a:solidFill>
                  <a:srgbClr val="4D4D4C"/>
                </a:solidFill>
                <a:latin typeface="Fira Sans"/>
                <a:sym typeface="Fira Sans"/>
              </a:rPr>
              <a:t>Confirms accuracy, evaluates </a:t>
            </a:r>
            <a:r>
              <a:rPr lang="en-US" dirty="0">
                <a:solidFill>
                  <a:schemeClr val="bg1"/>
                </a:solidFill>
                <a:latin typeface="Fira Sans"/>
                <a:sym typeface="Fira Sans"/>
              </a:rPr>
              <a:t>performance, serializes optimized ‘inference.pkl’.</a:t>
            </a:r>
          </a:p>
        </p:txBody>
      </p:sp>
      <p:cxnSp>
        <p:nvCxnSpPr>
          <p:cNvPr id="35" name="Connector: Elbow 34">
            <a:extLst>
              <a:ext uri="{FF2B5EF4-FFF2-40B4-BE49-F238E27FC236}">
                <a16:creationId xmlns:a16="http://schemas.microsoft.com/office/drawing/2014/main" id="{2017E8D7-3A92-2578-C33D-77D9A6A46798}"/>
              </a:ext>
            </a:extLst>
          </p:cNvPr>
          <p:cNvCxnSpPr/>
          <p:nvPr/>
        </p:nvCxnSpPr>
        <p:spPr>
          <a:xfrm rot="5400000">
            <a:off x="3501342" y="3512916"/>
            <a:ext cx="1527859" cy="10417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DBDCFFE1-D4BA-CE77-9A07-6616C47B3B71}"/>
              </a:ext>
            </a:extLst>
          </p:cNvPr>
          <p:cNvCxnSpPr>
            <a:cxnSpLocks/>
          </p:cNvCxnSpPr>
          <p:nvPr/>
        </p:nvCxnSpPr>
        <p:spPr>
          <a:xfrm rot="16200000" flipV="1">
            <a:off x="3484545" y="5151295"/>
            <a:ext cx="1579380" cy="86251"/>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178A75E3-BF1C-280A-4646-EE6963B9CFA5}"/>
              </a:ext>
            </a:extLst>
          </p:cNvPr>
          <p:cNvCxnSpPr/>
          <p:nvPr/>
        </p:nvCxnSpPr>
        <p:spPr>
          <a:xfrm flipH="1">
            <a:off x="4213185" y="3739784"/>
            <a:ext cx="104173" cy="4888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12A9756A-CAD3-B908-B50F-58D8A711774A}"/>
              </a:ext>
            </a:extLst>
          </p:cNvPr>
          <p:cNvCxnSpPr/>
          <p:nvPr/>
        </p:nvCxnSpPr>
        <p:spPr>
          <a:xfrm flipH="1" flipV="1">
            <a:off x="4231109" y="4328932"/>
            <a:ext cx="86249" cy="4664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9E70AE6A-B818-32BE-D1A2-DD5F4ACFCA20}"/>
              </a:ext>
            </a:extLst>
          </p:cNvPr>
          <p:cNvCxnSpPr>
            <a:cxnSpLocks/>
            <a:stCxn id="2" idx="3"/>
          </p:cNvCxnSpPr>
          <p:nvPr/>
        </p:nvCxnSpPr>
        <p:spPr>
          <a:xfrm>
            <a:off x="3495554" y="2965887"/>
            <a:ext cx="381965" cy="130170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8445DFD-2B37-FD16-218D-00DA966CFA05}"/>
              </a:ext>
            </a:extLst>
          </p:cNvPr>
          <p:cNvCxnSpPr>
            <a:stCxn id="6" idx="3"/>
          </p:cNvCxnSpPr>
          <p:nvPr/>
        </p:nvCxnSpPr>
        <p:spPr>
          <a:xfrm flipV="1">
            <a:off x="3483141" y="4228635"/>
            <a:ext cx="730044" cy="389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64DDE596-4C8C-494C-A9B6-39CD00522FAD}"/>
              </a:ext>
            </a:extLst>
          </p:cNvPr>
          <p:cNvCxnSpPr>
            <a:stCxn id="8" idx="3"/>
          </p:cNvCxnSpPr>
          <p:nvPr/>
        </p:nvCxnSpPr>
        <p:spPr>
          <a:xfrm flipV="1">
            <a:off x="3483142" y="4267588"/>
            <a:ext cx="394377" cy="118252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Subtitle 4">
            <a:extLst>
              <a:ext uri="{FF2B5EF4-FFF2-40B4-BE49-F238E27FC236}">
                <a16:creationId xmlns:a16="http://schemas.microsoft.com/office/drawing/2014/main" id="{402A7378-47C6-5AFA-778D-3F3F24FB8FD5}"/>
              </a:ext>
            </a:extLst>
          </p:cNvPr>
          <p:cNvSpPr txBox="1">
            <a:spLocks/>
          </p:cNvSpPr>
          <p:nvPr/>
        </p:nvSpPr>
        <p:spPr>
          <a:xfrm>
            <a:off x="8214163" y="1971310"/>
            <a:ext cx="3576574" cy="4383191"/>
          </a:xfrm>
          <a:prstGeom prst="rect">
            <a:avLst/>
          </a:prstGeom>
          <a:noFill/>
          <a:ln>
            <a:solidFill>
              <a:schemeClr val="tx1"/>
            </a:solid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rgbClr val="4D4D4C"/>
              </a:buClr>
              <a:buSzPts val="2400"/>
              <a:buFont typeface="Arial"/>
              <a:buNone/>
              <a:defRPr sz="2400" b="0" i="0" u="none" strike="noStrike" cap="none">
                <a:solidFill>
                  <a:srgbClr val="4D4D4C"/>
                </a:solidFill>
                <a:latin typeface="Fira Sans"/>
                <a:ea typeface="Fira Sans"/>
                <a:cs typeface="Fira Sans"/>
                <a:sym typeface="Fira Sans"/>
              </a:defRPr>
            </a:lvl1pPr>
            <a:lvl2pPr marL="914400" marR="0" lvl="1" indent="-381000" algn="ctr" rtl="0">
              <a:lnSpc>
                <a:spcPct val="90000"/>
              </a:lnSpc>
              <a:spcBef>
                <a:spcPts val="500"/>
              </a:spcBef>
              <a:spcAft>
                <a:spcPts val="0"/>
              </a:spcAft>
              <a:buClr>
                <a:srgbClr val="4D4D4C"/>
              </a:buClr>
              <a:buSzPts val="2000"/>
              <a:buFont typeface="Arial"/>
              <a:buNone/>
              <a:defRPr sz="2000" b="0" i="0" u="none" strike="noStrike" cap="none">
                <a:solidFill>
                  <a:srgbClr val="4D4D4C"/>
                </a:solidFill>
                <a:latin typeface="Fira Sans"/>
                <a:ea typeface="Fira Sans"/>
                <a:cs typeface="Fira Sans"/>
                <a:sym typeface="Fira Sans"/>
              </a:defRPr>
            </a:lvl2pPr>
            <a:lvl3pPr marL="1371600" marR="0" lvl="2" indent="-355600" algn="ctr" rtl="0">
              <a:lnSpc>
                <a:spcPct val="90000"/>
              </a:lnSpc>
              <a:spcBef>
                <a:spcPts val="500"/>
              </a:spcBef>
              <a:spcAft>
                <a:spcPts val="0"/>
              </a:spcAft>
              <a:buClr>
                <a:srgbClr val="4D4D4C"/>
              </a:buClr>
              <a:buSzPts val="1800"/>
              <a:buFont typeface="Arial"/>
              <a:buNone/>
              <a:defRPr sz="1800" b="0" i="0" u="none" strike="noStrike" cap="none">
                <a:solidFill>
                  <a:srgbClr val="4D4D4C"/>
                </a:solidFill>
                <a:latin typeface="Fira Sans"/>
                <a:ea typeface="Fira Sans"/>
                <a:cs typeface="Fira Sans"/>
                <a:sym typeface="Fira Sans"/>
              </a:defRPr>
            </a:lvl3pPr>
            <a:lvl4pPr marL="1828800" marR="0" lvl="3"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4pPr>
            <a:lvl5pPr marL="2286000" marR="0" lvl="4"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50800" indent="0">
              <a:spcBef>
                <a:spcPts val="600"/>
              </a:spcBef>
            </a:pPr>
            <a:r>
              <a:rPr lang="en-US" sz="1400" dirty="0"/>
              <a:t>Continuous Delivery (CD) / Deployment</a:t>
            </a:r>
          </a:p>
          <a:p>
            <a:pPr marL="50800" indent="0">
              <a:spcBef>
                <a:spcPts val="600"/>
              </a:spcBef>
            </a:pPr>
            <a:r>
              <a:rPr lang="en-US" sz="1400" dirty="0"/>
              <a:t>Deployment Process</a:t>
            </a:r>
          </a:p>
        </p:txBody>
      </p:sp>
      <p:sp>
        <p:nvSpPr>
          <p:cNvPr id="56" name="TextBox 55">
            <a:extLst>
              <a:ext uri="{FF2B5EF4-FFF2-40B4-BE49-F238E27FC236}">
                <a16:creationId xmlns:a16="http://schemas.microsoft.com/office/drawing/2014/main" id="{9E628F11-F561-F970-375C-FE98ADBE862D}"/>
              </a:ext>
            </a:extLst>
          </p:cNvPr>
          <p:cNvSpPr txBox="1"/>
          <p:nvPr/>
        </p:nvSpPr>
        <p:spPr>
          <a:xfrm>
            <a:off x="8391646" y="2572274"/>
            <a:ext cx="3275635" cy="578882"/>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DVC Commit</a:t>
            </a:r>
          </a:p>
          <a:p>
            <a:pPr algn="ctr"/>
            <a:r>
              <a:rPr lang="en-US" dirty="0">
                <a:solidFill>
                  <a:srgbClr val="4D4D4C"/>
                </a:solidFill>
                <a:latin typeface="Fira Sans"/>
                <a:sym typeface="Fira Sans"/>
              </a:rPr>
              <a:t>Records the dataset and mobile state</a:t>
            </a:r>
          </a:p>
        </p:txBody>
      </p:sp>
      <p:sp>
        <p:nvSpPr>
          <p:cNvPr id="58" name="TextBox 57">
            <a:extLst>
              <a:ext uri="{FF2B5EF4-FFF2-40B4-BE49-F238E27FC236}">
                <a16:creationId xmlns:a16="http://schemas.microsoft.com/office/drawing/2014/main" id="{C9454757-1EE1-796E-1330-D0B260B39C67}"/>
              </a:ext>
            </a:extLst>
          </p:cNvPr>
          <p:cNvSpPr txBox="1"/>
          <p:nvPr/>
        </p:nvSpPr>
        <p:spPr>
          <a:xfrm>
            <a:off x="8430352" y="3238543"/>
            <a:ext cx="3275635" cy="1293971"/>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Hot-Swap CD</a:t>
            </a:r>
          </a:p>
          <a:p>
            <a:pPr algn="ctr"/>
            <a:r>
              <a:rPr lang="en-US" dirty="0">
                <a:solidFill>
                  <a:srgbClr val="4D4D4C"/>
                </a:solidFill>
                <a:latin typeface="Fira Sans"/>
                <a:sym typeface="Fira Sans"/>
              </a:rPr>
              <a:t>Quietly pushes the new ‘inference.pkl’ to the shared ‘</a:t>
            </a:r>
            <a:r>
              <a:rPr lang="en-US" dirty="0" err="1">
                <a:solidFill>
                  <a:srgbClr val="4D4D4C"/>
                </a:solidFill>
                <a:latin typeface="Fira Sans"/>
                <a:sym typeface="Fira Sans"/>
              </a:rPr>
              <a:t>model_volume</a:t>
            </a:r>
            <a:r>
              <a:rPr lang="en-US" dirty="0">
                <a:solidFill>
                  <a:srgbClr val="4D4D4C"/>
                </a:solidFill>
                <a:latin typeface="Fira Sans"/>
                <a:sym typeface="Fira Sans"/>
              </a:rPr>
              <a:t>’, making it immediately active</a:t>
            </a:r>
          </a:p>
        </p:txBody>
      </p:sp>
      <p:sp>
        <p:nvSpPr>
          <p:cNvPr id="60" name="TextBox 59">
            <a:extLst>
              <a:ext uri="{FF2B5EF4-FFF2-40B4-BE49-F238E27FC236}">
                <a16:creationId xmlns:a16="http://schemas.microsoft.com/office/drawing/2014/main" id="{4845FBBC-C114-9E24-61E3-D11C809E265E}"/>
              </a:ext>
            </a:extLst>
          </p:cNvPr>
          <p:cNvSpPr txBox="1"/>
          <p:nvPr/>
        </p:nvSpPr>
        <p:spPr>
          <a:xfrm>
            <a:off x="8368623" y="4649224"/>
            <a:ext cx="3399091" cy="817245"/>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Live reload on ‘</a:t>
            </a:r>
            <a:r>
              <a:rPr lang="en-US" dirty="0" err="1">
                <a:solidFill>
                  <a:srgbClr val="4D4D4C"/>
                </a:solidFill>
                <a:latin typeface="Fira Sans"/>
                <a:sym typeface="Fira Sans"/>
              </a:rPr>
              <a:t>lif</a:t>
            </a:r>
            <a:r>
              <a:rPr lang="en-US" dirty="0">
                <a:solidFill>
                  <a:srgbClr val="4D4D4C"/>
                </a:solidFill>
                <a:latin typeface="Fira Sans"/>
                <a:sym typeface="Fira Sans"/>
              </a:rPr>
              <a:t>-frontend’ (Port 8501)</a:t>
            </a:r>
          </a:p>
          <a:p>
            <a:pPr algn="ctr"/>
            <a:r>
              <a:rPr lang="en-US" dirty="0">
                <a:solidFill>
                  <a:srgbClr val="4D4D4C"/>
                </a:solidFill>
                <a:latin typeface="Fira Sans"/>
                <a:sym typeface="Fira Sans"/>
              </a:rPr>
              <a:t>Running StreamLit app without downtime</a:t>
            </a:r>
          </a:p>
        </p:txBody>
      </p:sp>
      <p:sp>
        <p:nvSpPr>
          <p:cNvPr id="62" name="TextBox 61">
            <a:extLst>
              <a:ext uri="{FF2B5EF4-FFF2-40B4-BE49-F238E27FC236}">
                <a16:creationId xmlns:a16="http://schemas.microsoft.com/office/drawing/2014/main" id="{BB878CE9-2A97-C023-C919-5D0EF5EDA8DA}"/>
              </a:ext>
            </a:extLst>
          </p:cNvPr>
          <p:cNvSpPr txBox="1"/>
          <p:nvPr/>
        </p:nvSpPr>
        <p:spPr>
          <a:xfrm>
            <a:off x="8368623" y="5510941"/>
            <a:ext cx="3399091" cy="817245"/>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Alerts &amp; Notification Update</a:t>
            </a:r>
          </a:p>
          <a:p>
            <a:pPr algn="ctr"/>
            <a:r>
              <a:rPr lang="en-US" dirty="0">
                <a:solidFill>
                  <a:srgbClr val="4D4D4C"/>
                </a:solidFill>
                <a:latin typeface="Fira Sans"/>
                <a:sym typeface="Fira Sans"/>
              </a:rPr>
              <a:t>Sends status to console or Telegram/Stack</a:t>
            </a:r>
          </a:p>
        </p:txBody>
      </p:sp>
      <p:cxnSp>
        <p:nvCxnSpPr>
          <p:cNvPr id="64" name="Connector: Elbow 63">
            <a:extLst>
              <a:ext uri="{FF2B5EF4-FFF2-40B4-BE49-F238E27FC236}">
                <a16:creationId xmlns:a16="http://schemas.microsoft.com/office/drawing/2014/main" id="{2AE8DA5F-2087-49A8-EEF9-5C0962D51DE3}"/>
              </a:ext>
            </a:extLst>
          </p:cNvPr>
          <p:cNvCxnSpPr>
            <a:cxnSpLocks/>
            <a:stCxn id="16" idx="3"/>
            <a:endCxn id="56" idx="1"/>
          </p:cNvCxnSpPr>
          <p:nvPr/>
        </p:nvCxnSpPr>
        <p:spPr>
          <a:xfrm flipV="1">
            <a:off x="7554409" y="2861715"/>
            <a:ext cx="837237" cy="94921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2AA1E0D4-583B-FE40-7471-9811418EB249}"/>
              </a:ext>
            </a:extLst>
          </p:cNvPr>
          <p:cNvCxnSpPr>
            <a:stCxn id="18" idx="3"/>
            <a:endCxn id="58" idx="1"/>
          </p:cNvCxnSpPr>
          <p:nvPr/>
        </p:nvCxnSpPr>
        <p:spPr>
          <a:xfrm flipV="1">
            <a:off x="7561094" y="3885529"/>
            <a:ext cx="869258" cy="99009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99E42A1B-B9E2-3037-8F2A-A3DBA71E26D0}"/>
              </a:ext>
            </a:extLst>
          </p:cNvPr>
          <p:cNvCxnSpPr>
            <a:cxnSpLocks/>
            <a:endCxn id="62" idx="1"/>
          </p:cNvCxnSpPr>
          <p:nvPr/>
        </p:nvCxnSpPr>
        <p:spPr>
          <a:xfrm rot="16200000" flipH="1">
            <a:off x="7656280" y="5207221"/>
            <a:ext cx="1043944" cy="38074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35B25550-7D32-1621-F2D4-A635DAB6CA24}"/>
              </a:ext>
            </a:extLst>
          </p:cNvPr>
          <p:cNvCxnSpPr>
            <a:cxnSpLocks/>
          </p:cNvCxnSpPr>
          <p:nvPr/>
        </p:nvCxnSpPr>
        <p:spPr>
          <a:xfrm>
            <a:off x="7987881" y="4875619"/>
            <a:ext cx="380742" cy="1658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9971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4A29C-A497-7566-C907-A8455FB249A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34367BA-FE54-87E5-B3C1-FE3CD2E5B59F}"/>
              </a:ext>
            </a:extLst>
          </p:cNvPr>
          <p:cNvSpPr>
            <a:spLocks noGrp="1"/>
          </p:cNvSpPr>
          <p:nvPr>
            <p:ph type="ctrTitle"/>
          </p:nvPr>
        </p:nvSpPr>
        <p:spPr>
          <a:xfrm>
            <a:off x="721361" y="1122363"/>
            <a:ext cx="11236958" cy="990917"/>
          </a:xfrm>
        </p:spPr>
        <p:txBody>
          <a:bodyPr>
            <a:noAutofit/>
          </a:bodyPr>
          <a:lstStyle/>
          <a:p>
            <a:r>
              <a:rPr lang="en-IN" dirty="0"/>
              <a:t>DVC (Data Version Control)</a:t>
            </a:r>
          </a:p>
        </p:txBody>
      </p:sp>
      <p:sp>
        <p:nvSpPr>
          <p:cNvPr id="5" name="Subtitle 4">
            <a:extLst>
              <a:ext uri="{FF2B5EF4-FFF2-40B4-BE49-F238E27FC236}">
                <a16:creationId xmlns:a16="http://schemas.microsoft.com/office/drawing/2014/main" id="{52F2E750-67DC-9439-8933-D65A22C713E4}"/>
              </a:ext>
            </a:extLst>
          </p:cNvPr>
          <p:cNvSpPr>
            <a:spLocks noGrp="1"/>
          </p:cNvSpPr>
          <p:nvPr>
            <p:ph type="subTitle" idx="1"/>
          </p:nvPr>
        </p:nvSpPr>
        <p:spPr>
          <a:xfrm>
            <a:off x="721362" y="2002419"/>
            <a:ext cx="3133008" cy="4877631"/>
          </a:xfrm>
          <a:prstGeom prst="roundRect">
            <a:avLst/>
          </a:prstGeom>
          <a:solidFill>
            <a:schemeClr val="bg1"/>
          </a:solidFill>
          <a:ln>
            <a:solidFill>
              <a:schemeClr val="tx1"/>
            </a:solidFill>
          </a:ln>
        </p:spPr>
        <p:txBody>
          <a:bodyPr>
            <a:normAutofit/>
          </a:bodyPr>
          <a:lstStyle/>
          <a:p>
            <a:pPr marL="50800" indent="0"/>
            <a:r>
              <a:rPr lang="en-US" sz="1400" dirty="0"/>
              <a:t>Local Project Workspace</a:t>
            </a:r>
          </a:p>
          <a:p>
            <a:pPr marL="50800" indent="0"/>
            <a:endParaRPr lang="en-US" sz="1400" dirty="0"/>
          </a:p>
          <a:p>
            <a:pPr marL="50800" indent="0" algn="l"/>
            <a:endParaRPr lang="en-US" sz="1400" dirty="0"/>
          </a:p>
        </p:txBody>
      </p:sp>
      <p:sp>
        <p:nvSpPr>
          <p:cNvPr id="2" name="TextBox 1">
            <a:extLst>
              <a:ext uri="{FF2B5EF4-FFF2-40B4-BE49-F238E27FC236}">
                <a16:creationId xmlns:a16="http://schemas.microsoft.com/office/drawing/2014/main" id="{7C94E836-8B36-0C15-62DA-7D490694D62B}"/>
              </a:ext>
            </a:extLst>
          </p:cNvPr>
          <p:cNvSpPr txBox="1"/>
          <p:nvPr/>
        </p:nvSpPr>
        <p:spPr>
          <a:xfrm>
            <a:off x="1089886" y="2641244"/>
            <a:ext cx="2521415" cy="817245"/>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Local Workspace</a:t>
            </a:r>
          </a:p>
          <a:p>
            <a:pPr algn="ctr"/>
            <a:r>
              <a:rPr lang="en-IN" dirty="0">
                <a:solidFill>
                  <a:srgbClr val="4D4D4C"/>
                </a:solidFill>
                <a:latin typeface="Fira Sans"/>
                <a:sym typeface="Fira Sans"/>
              </a:rPr>
              <a:t>Workspace (Git + DVC)</a:t>
            </a:r>
          </a:p>
          <a:p>
            <a:pPr algn="ctr"/>
            <a:endParaRPr lang="en-IN" dirty="0">
              <a:solidFill>
                <a:srgbClr val="4D4D4C"/>
              </a:solidFill>
              <a:latin typeface="Fira Sans"/>
              <a:sym typeface="Fira Sans"/>
            </a:endParaRPr>
          </a:p>
        </p:txBody>
      </p:sp>
      <p:sp>
        <p:nvSpPr>
          <p:cNvPr id="3" name="TextBox 2">
            <a:extLst>
              <a:ext uri="{FF2B5EF4-FFF2-40B4-BE49-F238E27FC236}">
                <a16:creationId xmlns:a16="http://schemas.microsoft.com/office/drawing/2014/main" id="{0EB4D9E4-474E-92DB-7781-05BE7042A1CB}"/>
              </a:ext>
            </a:extLst>
          </p:cNvPr>
          <p:cNvSpPr txBox="1"/>
          <p:nvPr/>
        </p:nvSpPr>
        <p:spPr>
          <a:xfrm>
            <a:off x="1089885" y="3220126"/>
            <a:ext cx="2521415" cy="817245"/>
          </a:xfrm>
          <a:prstGeom prst="roundRect">
            <a:avLst/>
          </a:prstGeom>
          <a:solidFill>
            <a:schemeClr val="bg1"/>
          </a:solidFill>
          <a:ln>
            <a:solidFill>
              <a:schemeClr val="tx1"/>
            </a:solidFill>
          </a:ln>
        </p:spPr>
        <p:txBody>
          <a:bodyPr wrap="square" rtlCol="0">
            <a:spAutoFit/>
          </a:bodyPr>
          <a:lstStyle/>
          <a:p>
            <a:pPr algn="ctr"/>
            <a:r>
              <a:rPr lang="en-US" dirty="0">
                <a:solidFill>
                  <a:srgbClr val="4D4D4C"/>
                </a:solidFill>
                <a:latin typeface="Fira Sans"/>
                <a:sym typeface="Fira Sans"/>
              </a:rPr>
              <a:t>Code &amp; </a:t>
            </a:r>
            <a:r>
              <a:rPr lang="en-US" dirty="0" err="1">
                <a:solidFill>
                  <a:srgbClr val="4D4D4C"/>
                </a:solidFill>
                <a:latin typeface="Fira Sans"/>
                <a:sym typeface="Fira Sans"/>
              </a:rPr>
              <a:t>metapointers</a:t>
            </a:r>
            <a:endParaRPr lang="en-US" dirty="0">
              <a:solidFill>
                <a:srgbClr val="4D4D4C"/>
              </a:solidFill>
              <a:latin typeface="Fira Sans"/>
              <a:sym typeface="Fira Sans"/>
            </a:endParaRPr>
          </a:p>
          <a:p>
            <a:pPr algn="ctr"/>
            <a:r>
              <a:rPr lang="en-US" dirty="0">
                <a:solidFill>
                  <a:srgbClr val="4D4D4C"/>
                </a:solidFill>
                <a:latin typeface="Fira Sans"/>
                <a:sym typeface="Fira Sans"/>
              </a:rPr>
              <a:t>(Lightweight)</a:t>
            </a:r>
          </a:p>
          <a:p>
            <a:pPr algn="ctr"/>
            <a:endParaRPr lang="en-US" dirty="0">
              <a:solidFill>
                <a:srgbClr val="4D4D4C"/>
              </a:solidFill>
              <a:latin typeface="Fira Sans"/>
              <a:sym typeface="Fira Sans"/>
            </a:endParaRPr>
          </a:p>
        </p:txBody>
      </p:sp>
      <p:sp>
        <p:nvSpPr>
          <p:cNvPr id="7" name="TextBox 6">
            <a:extLst>
              <a:ext uri="{FF2B5EF4-FFF2-40B4-BE49-F238E27FC236}">
                <a16:creationId xmlns:a16="http://schemas.microsoft.com/office/drawing/2014/main" id="{8427B5EF-B31F-AB0A-E291-0FAE1D6409CE}"/>
              </a:ext>
            </a:extLst>
          </p:cNvPr>
          <p:cNvSpPr txBox="1"/>
          <p:nvPr/>
        </p:nvSpPr>
        <p:spPr>
          <a:xfrm>
            <a:off x="1089884" y="3764144"/>
            <a:ext cx="2521415" cy="1293971"/>
          </a:xfrm>
          <a:prstGeom prst="roundRect">
            <a:avLst/>
          </a:prstGeom>
          <a:solidFill>
            <a:schemeClr val="bg1"/>
          </a:solidFill>
          <a:ln>
            <a:solidFill>
              <a:schemeClr val="tx1"/>
            </a:solidFill>
          </a:ln>
        </p:spPr>
        <p:txBody>
          <a:bodyPr wrap="square" rtlCol="0">
            <a:spAutoFit/>
          </a:bodyPr>
          <a:lstStyle/>
          <a:p>
            <a:pPr algn="ctr"/>
            <a:r>
              <a:rPr lang="en-US" dirty="0">
                <a:solidFill>
                  <a:srgbClr val="4D4D4C"/>
                </a:solidFill>
                <a:latin typeface="Fira Sans"/>
                <a:sym typeface="Fira Sans"/>
              </a:rPr>
              <a:t>src/train.py</a:t>
            </a:r>
          </a:p>
          <a:p>
            <a:pPr algn="ctr"/>
            <a:r>
              <a:rPr lang="en-US" dirty="0">
                <a:solidFill>
                  <a:srgbClr val="4D4D4C"/>
                </a:solidFill>
                <a:latin typeface="Fira Sans"/>
                <a:sym typeface="Fira Sans"/>
              </a:rPr>
              <a:t>src/app.py</a:t>
            </a:r>
          </a:p>
          <a:p>
            <a:pPr algn="ctr"/>
            <a:r>
              <a:rPr lang="en-US" dirty="0" err="1">
                <a:solidFill>
                  <a:srgbClr val="4D4D4C"/>
                </a:solidFill>
                <a:latin typeface="Fira Sans"/>
                <a:sym typeface="Fira Sans"/>
              </a:rPr>
              <a:t>dvc.yaml</a:t>
            </a:r>
            <a:endParaRPr lang="en-US" dirty="0">
              <a:solidFill>
                <a:srgbClr val="4D4D4C"/>
              </a:solidFill>
              <a:latin typeface="Fira Sans"/>
              <a:sym typeface="Fira Sans"/>
            </a:endParaRPr>
          </a:p>
          <a:p>
            <a:pPr algn="ctr"/>
            <a:r>
              <a:rPr lang="en-US" dirty="0" err="1">
                <a:solidFill>
                  <a:srgbClr val="4D4D4C"/>
                </a:solidFill>
                <a:latin typeface="Fira Sans"/>
                <a:sym typeface="Fira Sans"/>
              </a:rPr>
              <a:t>daily_routine_logs.csv.dvc</a:t>
            </a:r>
            <a:endParaRPr lang="en-US" dirty="0">
              <a:solidFill>
                <a:srgbClr val="4D4D4C"/>
              </a:solidFill>
              <a:latin typeface="Fira Sans"/>
              <a:sym typeface="Fira Sans"/>
            </a:endParaRPr>
          </a:p>
          <a:p>
            <a:pPr algn="ctr"/>
            <a:r>
              <a:rPr lang="en-US" dirty="0" err="1">
                <a:solidFill>
                  <a:srgbClr val="4D4D4C"/>
                </a:solidFill>
                <a:latin typeface="Fira Sans"/>
                <a:sym typeface="Fira Sans"/>
              </a:rPr>
              <a:t>inference.pkl.dvc</a:t>
            </a:r>
            <a:endParaRPr lang="en-US" dirty="0">
              <a:solidFill>
                <a:srgbClr val="4D4D4C"/>
              </a:solidFill>
              <a:latin typeface="Fira Sans"/>
              <a:sym typeface="Fira Sans"/>
            </a:endParaRPr>
          </a:p>
        </p:txBody>
      </p:sp>
      <p:sp>
        <p:nvSpPr>
          <p:cNvPr id="9" name="TextBox 8">
            <a:extLst>
              <a:ext uri="{FF2B5EF4-FFF2-40B4-BE49-F238E27FC236}">
                <a16:creationId xmlns:a16="http://schemas.microsoft.com/office/drawing/2014/main" id="{9DE00CA5-0CCE-A2A0-15E9-3BAFB8239014}"/>
              </a:ext>
            </a:extLst>
          </p:cNvPr>
          <p:cNvSpPr txBox="1"/>
          <p:nvPr/>
        </p:nvSpPr>
        <p:spPr>
          <a:xfrm>
            <a:off x="1089884" y="5109353"/>
            <a:ext cx="2602440" cy="1770698"/>
          </a:xfrm>
          <a:prstGeom prst="roundRect">
            <a:avLst/>
          </a:prstGeom>
          <a:solidFill>
            <a:schemeClr val="bg1"/>
          </a:solidFill>
          <a:ln>
            <a:solidFill>
              <a:schemeClr val="tx1"/>
            </a:solidFill>
          </a:ln>
        </p:spPr>
        <p:txBody>
          <a:bodyPr wrap="square" rtlCol="0">
            <a:spAutoFit/>
          </a:bodyPr>
          <a:lstStyle/>
          <a:p>
            <a:pPr algn="ctr"/>
            <a:r>
              <a:rPr lang="en-US" dirty="0">
                <a:solidFill>
                  <a:srgbClr val="4D4D4C"/>
                </a:solidFill>
                <a:latin typeface="Fira Sans"/>
                <a:sym typeface="Fira Sans"/>
              </a:rPr>
              <a:t>Huge Data &amp; Models</a:t>
            </a:r>
          </a:p>
          <a:p>
            <a:pPr algn="ctr"/>
            <a:r>
              <a:rPr lang="en-US" dirty="0">
                <a:solidFill>
                  <a:srgbClr val="4D4D4C"/>
                </a:solidFill>
                <a:latin typeface="Fira Sans"/>
                <a:sym typeface="Fira Sans"/>
              </a:rPr>
              <a:t>(Heavy)</a:t>
            </a:r>
          </a:p>
          <a:p>
            <a:pPr algn="ctr"/>
            <a:r>
              <a:rPr lang="en-US" dirty="0">
                <a:solidFill>
                  <a:srgbClr val="4D4D4C"/>
                </a:solidFill>
                <a:latin typeface="Fira Sans"/>
                <a:sym typeface="Fira Sans"/>
              </a:rPr>
              <a:t>daily_routine_logs.csv</a:t>
            </a:r>
          </a:p>
          <a:p>
            <a:pPr algn="ctr"/>
            <a:r>
              <a:rPr lang="en-US" dirty="0">
                <a:solidFill>
                  <a:srgbClr val="4D4D4C"/>
                </a:solidFill>
                <a:latin typeface="Fira Sans"/>
                <a:sym typeface="Fira Sans"/>
              </a:rPr>
              <a:t>(2 lakhs+ Rows Data Snapshot)</a:t>
            </a:r>
          </a:p>
          <a:p>
            <a:pPr algn="ctr"/>
            <a:r>
              <a:rPr lang="en-US" dirty="0">
                <a:solidFill>
                  <a:srgbClr val="4D4D4C"/>
                </a:solidFill>
                <a:latin typeface="Fira Sans"/>
                <a:sym typeface="Fira Sans"/>
              </a:rPr>
              <a:t>Models/inference.pkl</a:t>
            </a:r>
          </a:p>
          <a:p>
            <a:pPr algn="ctr"/>
            <a:r>
              <a:rPr lang="en-US" dirty="0">
                <a:solidFill>
                  <a:srgbClr val="4D4D4C"/>
                </a:solidFill>
                <a:latin typeface="Fira Sans"/>
                <a:sym typeface="Fira Sans"/>
              </a:rPr>
              <a:t>(Bayesian weights)</a:t>
            </a:r>
          </a:p>
        </p:txBody>
      </p:sp>
      <p:sp>
        <p:nvSpPr>
          <p:cNvPr id="10" name="Rectangle: Rounded Corners 9">
            <a:extLst>
              <a:ext uri="{FF2B5EF4-FFF2-40B4-BE49-F238E27FC236}">
                <a16:creationId xmlns:a16="http://schemas.microsoft.com/office/drawing/2014/main" id="{7E32DDD1-67D3-3444-A6D4-8A3EF1498411}"/>
              </a:ext>
            </a:extLst>
          </p:cNvPr>
          <p:cNvSpPr/>
          <p:nvPr/>
        </p:nvSpPr>
        <p:spPr>
          <a:xfrm>
            <a:off x="1400537" y="5639341"/>
            <a:ext cx="2037144" cy="65975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89C20229-B9F4-03DF-F311-B96649A264FE}"/>
              </a:ext>
            </a:extLst>
          </p:cNvPr>
          <p:cNvSpPr/>
          <p:nvPr/>
        </p:nvSpPr>
        <p:spPr>
          <a:xfrm>
            <a:off x="1400537" y="6318162"/>
            <a:ext cx="2037144" cy="5109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Subtitle 4">
            <a:extLst>
              <a:ext uri="{FF2B5EF4-FFF2-40B4-BE49-F238E27FC236}">
                <a16:creationId xmlns:a16="http://schemas.microsoft.com/office/drawing/2014/main" id="{BA62A72A-D48E-E4B1-F957-0898449C426E}"/>
              </a:ext>
            </a:extLst>
          </p:cNvPr>
          <p:cNvSpPr txBox="1">
            <a:spLocks/>
          </p:cNvSpPr>
          <p:nvPr/>
        </p:nvSpPr>
        <p:spPr>
          <a:xfrm>
            <a:off x="4222892" y="1934356"/>
            <a:ext cx="3242779" cy="4877631"/>
          </a:xfrm>
          <a:prstGeom prst="roundRect">
            <a:avLst/>
          </a:prstGeom>
          <a:solidFill>
            <a:schemeClr val="bg1"/>
          </a:solidFill>
          <a:ln>
            <a:solidFill>
              <a:schemeClr val="tx1"/>
            </a:solid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rgbClr val="4D4D4C"/>
              </a:buClr>
              <a:buSzPts val="2400"/>
              <a:buFont typeface="Arial"/>
              <a:buNone/>
              <a:defRPr sz="2400" b="0" i="0" u="none" strike="noStrike" cap="none">
                <a:solidFill>
                  <a:srgbClr val="4D4D4C"/>
                </a:solidFill>
                <a:latin typeface="Fira Sans"/>
                <a:ea typeface="Fira Sans"/>
                <a:cs typeface="Fira Sans"/>
                <a:sym typeface="Fira Sans"/>
              </a:defRPr>
            </a:lvl1pPr>
            <a:lvl2pPr marL="914400" marR="0" lvl="1" indent="-381000" algn="ctr" rtl="0">
              <a:lnSpc>
                <a:spcPct val="90000"/>
              </a:lnSpc>
              <a:spcBef>
                <a:spcPts val="500"/>
              </a:spcBef>
              <a:spcAft>
                <a:spcPts val="0"/>
              </a:spcAft>
              <a:buClr>
                <a:srgbClr val="4D4D4C"/>
              </a:buClr>
              <a:buSzPts val="2000"/>
              <a:buFont typeface="Arial"/>
              <a:buNone/>
              <a:defRPr sz="2000" b="0" i="0" u="none" strike="noStrike" cap="none">
                <a:solidFill>
                  <a:srgbClr val="4D4D4C"/>
                </a:solidFill>
                <a:latin typeface="Fira Sans"/>
                <a:ea typeface="Fira Sans"/>
                <a:cs typeface="Fira Sans"/>
                <a:sym typeface="Fira Sans"/>
              </a:defRPr>
            </a:lvl2pPr>
            <a:lvl3pPr marL="1371600" marR="0" lvl="2" indent="-355600" algn="ctr" rtl="0">
              <a:lnSpc>
                <a:spcPct val="90000"/>
              </a:lnSpc>
              <a:spcBef>
                <a:spcPts val="500"/>
              </a:spcBef>
              <a:spcAft>
                <a:spcPts val="0"/>
              </a:spcAft>
              <a:buClr>
                <a:srgbClr val="4D4D4C"/>
              </a:buClr>
              <a:buSzPts val="1800"/>
              <a:buFont typeface="Arial"/>
              <a:buNone/>
              <a:defRPr sz="1800" b="0" i="0" u="none" strike="noStrike" cap="none">
                <a:solidFill>
                  <a:srgbClr val="4D4D4C"/>
                </a:solidFill>
                <a:latin typeface="Fira Sans"/>
                <a:ea typeface="Fira Sans"/>
                <a:cs typeface="Fira Sans"/>
                <a:sym typeface="Fira Sans"/>
              </a:defRPr>
            </a:lvl3pPr>
            <a:lvl4pPr marL="1828800" marR="0" lvl="3"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4pPr>
            <a:lvl5pPr marL="2286000" marR="0" lvl="4"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50800" indent="0"/>
            <a:r>
              <a:rPr lang="en-US" sz="1400" dirty="0"/>
              <a:t>Version Control Dual-Pipeline</a:t>
            </a:r>
          </a:p>
          <a:p>
            <a:pPr marL="50800" indent="0"/>
            <a:r>
              <a:rPr lang="en-US" sz="1400" dirty="0"/>
              <a:t>----------Git VCS Pipeline--------</a:t>
            </a:r>
          </a:p>
          <a:p>
            <a:pPr marL="50800" indent="0"/>
            <a:r>
              <a:rPr lang="en-US" sz="1400" dirty="0"/>
              <a:t>git commit &amp; git push</a:t>
            </a:r>
          </a:p>
          <a:p>
            <a:pPr marL="50800" indent="0"/>
            <a:endParaRPr lang="en-US" sz="1400" dirty="0"/>
          </a:p>
          <a:p>
            <a:pPr marL="50800" indent="0"/>
            <a:endParaRPr lang="en-US" sz="1400" dirty="0"/>
          </a:p>
          <a:p>
            <a:pPr marL="50800" indent="0"/>
            <a:endParaRPr lang="en-US" sz="1400" dirty="0"/>
          </a:p>
          <a:p>
            <a:pPr marL="50800" indent="0"/>
            <a:r>
              <a:rPr lang="en-US" sz="1400" dirty="0"/>
              <a:t>Pushes tiny text files only (&lt;1 MB)</a:t>
            </a:r>
          </a:p>
          <a:p>
            <a:pPr marL="50800" indent="0"/>
            <a:endParaRPr lang="en-US" sz="1400" dirty="0"/>
          </a:p>
          <a:p>
            <a:pPr marL="50800" indent="0"/>
            <a:r>
              <a:rPr lang="en-US" sz="1400" dirty="0"/>
              <a:t>---------DVC Data Pipeline---------dvc commit   Pushes heavy assets &amp; dvc push    by content-		   addressable hash</a:t>
            </a:r>
          </a:p>
        </p:txBody>
      </p:sp>
      <p:sp>
        <p:nvSpPr>
          <p:cNvPr id="15" name="TextBox 14">
            <a:extLst>
              <a:ext uri="{FF2B5EF4-FFF2-40B4-BE49-F238E27FC236}">
                <a16:creationId xmlns:a16="http://schemas.microsoft.com/office/drawing/2014/main" id="{763A3EE5-4CC6-AA99-BC0D-4A4CF069E1F2}"/>
              </a:ext>
            </a:extLst>
          </p:cNvPr>
          <p:cNvSpPr txBox="1"/>
          <p:nvPr/>
        </p:nvSpPr>
        <p:spPr>
          <a:xfrm>
            <a:off x="4402175" y="3202694"/>
            <a:ext cx="1292569" cy="817245"/>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Lightweight Code &amp; .dvc Pointers</a:t>
            </a:r>
            <a:endParaRPr lang="en-IN" dirty="0">
              <a:solidFill>
                <a:srgbClr val="4D4D4C"/>
              </a:solidFill>
              <a:latin typeface="Fira Sans"/>
              <a:sym typeface="Fira Sans"/>
            </a:endParaRPr>
          </a:p>
        </p:txBody>
      </p:sp>
      <p:sp>
        <p:nvSpPr>
          <p:cNvPr id="17" name="TextBox 16">
            <a:extLst>
              <a:ext uri="{FF2B5EF4-FFF2-40B4-BE49-F238E27FC236}">
                <a16:creationId xmlns:a16="http://schemas.microsoft.com/office/drawing/2014/main" id="{17D238BF-9883-6441-532C-5381FFB02810}"/>
              </a:ext>
            </a:extLst>
          </p:cNvPr>
          <p:cNvSpPr txBox="1"/>
          <p:nvPr/>
        </p:nvSpPr>
        <p:spPr>
          <a:xfrm>
            <a:off x="6063265" y="3321875"/>
            <a:ext cx="1292569" cy="578882"/>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Remote Code Repository</a:t>
            </a:r>
            <a:endParaRPr lang="en-IN" dirty="0">
              <a:solidFill>
                <a:srgbClr val="4D4D4C"/>
              </a:solidFill>
              <a:latin typeface="Fira Sans"/>
              <a:sym typeface="Fira Sans"/>
            </a:endParaRPr>
          </a:p>
        </p:txBody>
      </p:sp>
      <p:sp>
        <p:nvSpPr>
          <p:cNvPr id="19" name="TextBox 18">
            <a:extLst>
              <a:ext uri="{FF2B5EF4-FFF2-40B4-BE49-F238E27FC236}">
                <a16:creationId xmlns:a16="http://schemas.microsoft.com/office/drawing/2014/main" id="{ADD3C23F-5FBE-133B-07A6-1A616B08D4C0}"/>
              </a:ext>
            </a:extLst>
          </p:cNvPr>
          <p:cNvSpPr txBox="1"/>
          <p:nvPr/>
        </p:nvSpPr>
        <p:spPr>
          <a:xfrm>
            <a:off x="4391436" y="5639341"/>
            <a:ext cx="1048665" cy="1055608"/>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Heavy Large Data &amp; Models</a:t>
            </a:r>
            <a:endParaRPr lang="en-IN" dirty="0">
              <a:solidFill>
                <a:srgbClr val="4D4D4C"/>
              </a:solidFill>
              <a:latin typeface="Fira Sans"/>
              <a:sym typeface="Fira Sans"/>
            </a:endParaRPr>
          </a:p>
        </p:txBody>
      </p:sp>
      <p:sp>
        <p:nvSpPr>
          <p:cNvPr id="21" name="TextBox 20">
            <a:extLst>
              <a:ext uri="{FF2B5EF4-FFF2-40B4-BE49-F238E27FC236}">
                <a16:creationId xmlns:a16="http://schemas.microsoft.com/office/drawing/2014/main" id="{9CC3BBA4-E1CC-DB65-1833-80DC818FC8DC}"/>
              </a:ext>
            </a:extLst>
          </p:cNvPr>
          <p:cNvSpPr txBox="1"/>
          <p:nvPr/>
        </p:nvSpPr>
        <p:spPr>
          <a:xfrm>
            <a:off x="5545847" y="5563259"/>
            <a:ext cx="829938" cy="1248728"/>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Local DVC Cache (.dvc/</a:t>
            </a:r>
          </a:p>
          <a:p>
            <a:pPr algn="ctr"/>
            <a:r>
              <a:rPr lang="en-US" dirty="0">
                <a:solidFill>
                  <a:srgbClr val="4D4D4C"/>
                </a:solidFill>
                <a:latin typeface="Fira Sans"/>
                <a:sym typeface="Fira Sans"/>
              </a:rPr>
              <a:t>Cache)</a:t>
            </a:r>
            <a:endParaRPr lang="en-IN" dirty="0">
              <a:solidFill>
                <a:srgbClr val="4D4D4C"/>
              </a:solidFill>
              <a:latin typeface="Fira Sans"/>
              <a:sym typeface="Fira Sans"/>
            </a:endParaRPr>
          </a:p>
        </p:txBody>
      </p:sp>
      <p:sp>
        <p:nvSpPr>
          <p:cNvPr id="23" name="TextBox 22">
            <a:extLst>
              <a:ext uri="{FF2B5EF4-FFF2-40B4-BE49-F238E27FC236}">
                <a16:creationId xmlns:a16="http://schemas.microsoft.com/office/drawing/2014/main" id="{949A9690-5014-E585-D80E-8380302847F3}"/>
              </a:ext>
            </a:extLst>
          </p:cNvPr>
          <p:cNvSpPr txBox="1"/>
          <p:nvPr/>
        </p:nvSpPr>
        <p:spPr>
          <a:xfrm>
            <a:off x="6489557" y="5735637"/>
            <a:ext cx="899309" cy="817245"/>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Remote Large Storage</a:t>
            </a:r>
            <a:endParaRPr lang="en-IN" dirty="0">
              <a:solidFill>
                <a:srgbClr val="4D4D4C"/>
              </a:solidFill>
              <a:latin typeface="Fira Sans"/>
              <a:sym typeface="Fira Sans"/>
            </a:endParaRPr>
          </a:p>
        </p:txBody>
      </p:sp>
      <p:cxnSp>
        <p:nvCxnSpPr>
          <p:cNvPr id="25" name="Connector: Elbow 24">
            <a:extLst>
              <a:ext uri="{FF2B5EF4-FFF2-40B4-BE49-F238E27FC236}">
                <a16:creationId xmlns:a16="http://schemas.microsoft.com/office/drawing/2014/main" id="{391B0FB7-B1BC-E797-A4B6-0904E89DFD1B}"/>
              </a:ext>
            </a:extLst>
          </p:cNvPr>
          <p:cNvCxnSpPr>
            <a:stCxn id="7" idx="3"/>
            <a:endCxn id="15" idx="1"/>
          </p:cNvCxnSpPr>
          <p:nvPr/>
        </p:nvCxnSpPr>
        <p:spPr>
          <a:xfrm flipV="1">
            <a:off x="3611299" y="3611317"/>
            <a:ext cx="790876" cy="79981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3416A9E9-0CE6-DFDA-44DD-097ABFC08D14}"/>
              </a:ext>
            </a:extLst>
          </p:cNvPr>
          <p:cNvCxnSpPr>
            <a:stCxn id="7" idx="3"/>
            <a:endCxn id="19" idx="1"/>
          </p:cNvCxnSpPr>
          <p:nvPr/>
        </p:nvCxnSpPr>
        <p:spPr>
          <a:xfrm>
            <a:off x="3611299" y="4411130"/>
            <a:ext cx="780137" cy="175601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6AF187D-877E-412F-70CA-2876955FA6EB}"/>
              </a:ext>
            </a:extLst>
          </p:cNvPr>
          <p:cNvCxnSpPr>
            <a:stCxn id="15" idx="3"/>
            <a:endCxn id="17" idx="1"/>
          </p:cNvCxnSpPr>
          <p:nvPr/>
        </p:nvCxnSpPr>
        <p:spPr>
          <a:xfrm flipV="1">
            <a:off x="5694744" y="3611316"/>
            <a:ext cx="36852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3F226DC-C39A-C961-3C01-4E74B9BB4109}"/>
              </a:ext>
            </a:extLst>
          </p:cNvPr>
          <p:cNvCxnSpPr>
            <a:cxnSpLocks/>
            <a:stCxn id="19" idx="3"/>
            <a:endCxn id="21" idx="1"/>
          </p:cNvCxnSpPr>
          <p:nvPr/>
        </p:nvCxnSpPr>
        <p:spPr>
          <a:xfrm>
            <a:off x="5440101" y="6167145"/>
            <a:ext cx="105746" cy="204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2C0E1E6-BAB8-E877-4800-790372C67C50}"/>
              </a:ext>
            </a:extLst>
          </p:cNvPr>
          <p:cNvCxnSpPr>
            <a:cxnSpLocks/>
            <a:stCxn id="21" idx="3"/>
          </p:cNvCxnSpPr>
          <p:nvPr/>
        </p:nvCxnSpPr>
        <p:spPr>
          <a:xfrm flipV="1">
            <a:off x="6375785" y="6177384"/>
            <a:ext cx="112981" cy="102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Subtitle 4">
            <a:extLst>
              <a:ext uri="{FF2B5EF4-FFF2-40B4-BE49-F238E27FC236}">
                <a16:creationId xmlns:a16="http://schemas.microsoft.com/office/drawing/2014/main" id="{E560DA57-0C88-E1FA-963E-69D68201B9D9}"/>
              </a:ext>
            </a:extLst>
          </p:cNvPr>
          <p:cNvSpPr txBox="1">
            <a:spLocks/>
          </p:cNvSpPr>
          <p:nvPr/>
        </p:nvSpPr>
        <p:spPr>
          <a:xfrm>
            <a:off x="8281965" y="1951455"/>
            <a:ext cx="3844898" cy="4877631"/>
          </a:xfrm>
          <a:prstGeom prst="roundRect">
            <a:avLst/>
          </a:prstGeom>
          <a:solidFill>
            <a:schemeClr val="bg1"/>
          </a:solidFill>
          <a:ln>
            <a:solidFill>
              <a:schemeClr val="tx1"/>
            </a:solid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rgbClr val="4D4D4C"/>
              </a:buClr>
              <a:buSzPts val="2400"/>
              <a:buFont typeface="Arial"/>
              <a:buNone/>
              <a:defRPr sz="2400" b="0" i="0" u="none" strike="noStrike" cap="none">
                <a:solidFill>
                  <a:srgbClr val="4D4D4C"/>
                </a:solidFill>
                <a:latin typeface="Fira Sans"/>
                <a:ea typeface="Fira Sans"/>
                <a:cs typeface="Fira Sans"/>
                <a:sym typeface="Fira Sans"/>
              </a:defRPr>
            </a:lvl1pPr>
            <a:lvl2pPr marL="914400" marR="0" lvl="1" indent="-381000" algn="ctr" rtl="0">
              <a:lnSpc>
                <a:spcPct val="90000"/>
              </a:lnSpc>
              <a:spcBef>
                <a:spcPts val="500"/>
              </a:spcBef>
              <a:spcAft>
                <a:spcPts val="0"/>
              </a:spcAft>
              <a:buClr>
                <a:srgbClr val="4D4D4C"/>
              </a:buClr>
              <a:buSzPts val="2000"/>
              <a:buFont typeface="Arial"/>
              <a:buNone/>
              <a:defRPr sz="2000" b="0" i="0" u="none" strike="noStrike" cap="none">
                <a:solidFill>
                  <a:srgbClr val="4D4D4C"/>
                </a:solidFill>
                <a:latin typeface="Fira Sans"/>
                <a:ea typeface="Fira Sans"/>
                <a:cs typeface="Fira Sans"/>
                <a:sym typeface="Fira Sans"/>
              </a:defRPr>
            </a:lvl2pPr>
            <a:lvl3pPr marL="1371600" marR="0" lvl="2" indent="-355600" algn="ctr" rtl="0">
              <a:lnSpc>
                <a:spcPct val="90000"/>
              </a:lnSpc>
              <a:spcBef>
                <a:spcPts val="500"/>
              </a:spcBef>
              <a:spcAft>
                <a:spcPts val="0"/>
              </a:spcAft>
              <a:buClr>
                <a:srgbClr val="4D4D4C"/>
              </a:buClr>
              <a:buSzPts val="1800"/>
              <a:buFont typeface="Arial"/>
              <a:buNone/>
              <a:defRPr sz="1800" b="0" i="0" u="none" strike="noStrike" cap="none">
                <a:solidFill>
                  <a:srgbClr val="4D4D4C"/>
                </a:solidFill>
                <a:latin typeface="Fira Sans"/>
                <a:ea typeface="Fira Sans"/>
                <a:cs typeface="Fira Sans"/>
                <a:sym typeface="Fira Sans"/>
              </a:defRPr>
            </a:lvl3pPr>
            <a:lvl4pPr marL="1828800" marR="0" lvl="3"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4pPr>
            <a:lvl5pPr marL="2286000" marR="0" lvl="4"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50800" indent="0"/>
            <a:r>
              <a:rPr lang="en-US" sz="1400" dirty="0"/>
              <a:t>Remote Storage &amp; Repositories</a:t>
            </a:r>
          </a:p>
          <a:p>
            <a:pPr marL="50800" indent="0"/>
            <a:endParaRPr lang="en-US" sz="1400" dirty="0"/>
          </a:p>
        </p:txBody>
      </p:sp>
      <p:sp>
        <p:nvSpPr>
          <p:cNvPr id="45" name="TextBox 44">
            <a:extLst>
              <a:ext uri="{FF2B5EF4-FFF2-40B4-BE49-F238E27FC236}">
                <a16:creationId xmlns:a16="http://schemas.microsoft.com/office/drawing/2014/main" id="{A3756818-2BCA-90B6-C7BE-A163CED51F58}"/>
              </a:ext>
            </a:extLst>
          </p:cNvPr>
          <p:cNvSpPr txBox="1"/>
          <p:nvPr/>
        </p:nvSpPr>
        <p:spPr>
          <a:xfrm>
            <a:off x="8550161" y="2514701"/>
            <a:ext cx="3531949" cy="817245"/>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GitHub / Remote Git Repository</a:t>
            </a:r>
          </a:p>
          <a:p>
            <a:pPr algn="ctr"/>
            <a:r>
              <a:rPr lang="en-US" dirty="0" err="1">
                <a:solidFill>
                  <a:srgbClr val="4D4D4C"/>
                </a:solidFill>
                <a:latin typeface="Fira Sans"/>
                <a:sym typeface="Fira Sans"/>
              </a:rPr>
              <a:t>src</a:t>
            </a:r>
            <a:r>
              <a:rPr lang="en-US" dirty="0">
                <a:solidFill>
                  <a:srgbClr val="4D4D4C"/>
                </a:solidFill>
                <a:latin typeface="Fira Sans"/>
                <a:sym typeface="Fira Sans"/>
              </a:rPr>
              <a:t>/code    &amp;       .dvc</a:t>
            </a:r>
          </a:p>
          <a:p>
            <a:pPr algn="ctr"/>
            <a:r>
              <a:rPr lang="en-IN" dirty="0">
                <a:solidFill>
                  <a:srgbClr val="4D4D4C"/>
                </a:solidFill>
                <a:latin typeface="Fira Sans"/>
                <a:sym typeface="Fira Sans"/>
              </a:rPr>
              <a:t>Lightweight code &amp; Pointers</a:t>
            </a:r>
          </a:p>
        </p:txBody>
      </p:sp>
      <p:sp>
        <p:nvSpPr>
          <p:cNvPr id="47" name="TextBox 46">
            <a:extLst>
              <a:ext uri="{FF2B5EF4-FFF2-40B4-BE49-F238E27FC236}">
                <a16:creationId xmlns:a16="http://schemas.microsoft.com/office/drawing/2014/main" id="{ED35ADD5-DDFE-F8F0-B063-B0B57222E01A}"/>
              </a:ext>
            </a:extLst>
          </p:cNvPr>
          <p:cNvSpPr txBox="1"/>
          <p:nvPr/>
        </p:nvSpPr>
        <p:spPr>
          <a:xfrm>
            <a:off x="8550161" y="3415575"/>
            <a:ext cx="3526658" cy="1055608"/>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DVC Remote Storage</a:t>
            </a:r>
          </a:p>
          <a:p>
            <a:pPr algn="ctr"/>
            <a:r>
              <a:rPr lang="en-US" dirty="0">
                <a:solidFill>
                  <a:srgbClr val="4D4D4C"/>
                </a:solidFill>
                <a:latin typeface="Fira Sans"/>
                <a:sym typeface="Fira Sans"/>
              </a:rPr>
              <a:t>(Cloud / Remote)</a:t>
            </a:r>
          </a:p>
          <a:p>
            <a:pPr algn="ctr"/>
            <a:r>
              <a:rPr lang="en-US" dirty="0">
                <a:solidFill>
                  <a:srgbClr val="4D4D4C"/>
                </a:solidFill>
                <a:latin typeface="Fira Sans"/>
                <a:sym typeface="Fira Sans"/>
              </a:rPr>
              <a:t>Massive Dataset &amp; Binary Store</a:t>
            </a:r>
          </a:p>
          <a:p>
            <a:pPr algn="ctr"/>
            <a:r>
              <a:rPr lang="en-US" dirty="0">
                <a:solidFill>
                  <a:srgbClr val="4D4D4C"/>
                </a:solidFill>
                <a:latin typeface="Fira Sans"/>
                <a:sym typeface="Fira Sans"/>
              </a:rPr>
              <a:t>(e.g. AWS S3, G Drive, GCP Storage)</a:t>
            </a:r>
          </a:p>
        </p:txBody>
      </p:sp>
      <p:sp>
        <p:nvSpPr>
          <p:cNvPr id="49" name="TextBox 48">
            <a:extLst>
              <a:ext uri="{FF2B5EF4-FFF2-40B4-BE49-F238E27FC236}">
                <a16:creationId xmlns:a16="http://schemas.microsoft.com/office/drawing/2014/main" id="{0D360F4E-B2F9-EC51-3655-CB60A3F70822}"/>
              </a:ext>
            </a:extLst>
          </p:cNvPr>
          <p:cNvSpPr txBox="1"/>
          <p:nvPr/>
        </p:nvSpPr>
        <p:spPr>
          <a:xfrm>
            <a:off x="8555238" y="4492744"/>
            <a:ext cx="3261223" cy="2485787"/>
          </a:xfrm>
          <a:prstGeom prst="roundRect">
            <a:avLst/>
          </a:prstGeom>
          <a:noFill/>
          <a:ln>
            <a:solidFill>
              <a:schemeClr val="tx1"/>
            </a:solidFill>
          </a:ln>
        </p:spPr>
        <p:txBody>
          <a:bodyPr wrap="square" rtlCol="0">
            <a:spAutoFit/>
          </a:bodyPr>
          <a:lstStyle/>
          <a:p>
            <a:pPr algn="ctr"/>
            <a:r>
              <a:rPr lang="en-US" dirty="0">
                <a:solidFill>
                  <a:srgbClr val="4D4D4C"/>
                </a:solidFill>
                <a:latin typeface="Fira Sans"/>
                <a:sym typeface="Fira Sans"/>
              </a:rPr>
              <a:t>MLOps Data-Pipeline Reproducibility:</a:t>
            </a:r>
          </a:p>
          <a:p>
            <a:pPr algn="ctr"/>
            <a:r>
              <a:rPr lang="en-US" dirty="0">
                <a:solidFill>
                  <a:srgbClr val="4D4D4C"/>
                </a:solidFill>
                <a:latin typeface="Fira Sans"/>
                <a:sym typeface="Fira Sans"/>
              </a:rPr>
              <a:t>How they lock together</a:t>
            </a:r>
          </a:p>
          <a:p>
            <a:pPr marL="285750" indent="-285750">
              <a:buFont typeface="Arial" panose="020B0604020202020204" pitchFamily="34" charset="0"/>
              <a:buChar char="•"/>
            </a:pPr>
            <a:r>
              <a:rPr lang="en-US" dirty="0">
                <a:solidFill>
                  <a:srgbClr val="4D4D4C"/>
                </a:solidFill>
                <a:latin typeface="Fira Sans"/>
                <a:sym typeface="Fira Sans"/>
              </a:rPr>
              <a:t>Git tracks the metadata (.dvc) to know which code was used.</a:t>
            </a:r>
          </a:p>
          <a:p>
            <a:pPr marL="285750" indent="-285750">
              <a:buFont typeface="Arial" panose="020B0604020202020204" pitchFamily="34" charset="0"/>
              <a:buChar char="•"/>
            </a:pPr>
            <a:r>
              <a:rPr lang="en-US" dirty="0">
                <a:solidFill>
                  <a:srgbClr val="4D4D4C"/>
                </a:solidFill>
                <a:latin typeface="Fira Sans"/>
                <a:sym typeface="Fira Sans"/>
              </a:rPr>
              <a:t>DVC tracks the payload (Data/Models) by their unique hash.</a:t>
            </a:r>
          </a:p>
          <a:p>
            <a:pPr marL="285750" indent="-285750">
              <a:buFont typeface="Arial" panose="020B0604020202020204" pitchFamily="34" charset="0"/>
              <a:buChar char="•"/>
            </a:pPr>
            <a:r>
              <a:rPr lang="en-US" dirty="0">
                <a:solidFill>
                  <a:srgbClr val="4D4D4C"/>
                </a:solidFill>
                <a:latin typeface="Fira Sans"/>
                <a:sym typeface="Fira Sans"/>
              </a:rPr>
              <a:t>Command ‘dvc pull’ lets restore exact matching.</a:t>
            </a:r>
          </a:p>
        </p:txBody>
      </p:sp>
      <p:cxnSp>
        <p:nvCxnSpPr>
          <p:cNvPr id="51" name="Connector: Elbow 50">
            <a:extLst>
              <a:ext uri="{FF2B5EF4-FFF2-40B4-BE49-F238E27FC236}">
                <a16:creationId xmlns:a16="http://schemas.microsoft.com/office/drawing/2014/main" id="{5DE34BC7-138C-DD74-5A7C-D40E11C63926}"/>
              </a:ext>
            </a:extLst>
          </p:cNvPr>
          <p:cNvCxnSpPr>
            <a:stCxn id="17" idx="3"/>
            <a:endCxn id="45" idx="1"/>
          </p:cNvCxnSpPr>
          <p:nvPr/>
        </p:nvCxnSpPr>
        <p:spPr>
          <a:xfrm flipV="1">
            <a:off x="7355834" y="2923324"/>
            <a:ext cx="1194327" cy="68799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DD5D3A3C-D770-8F71-CAA3-B15BA93285DF}"/>
              </a:ext>
            </a:extLst>
          </p:cNvPr>
          <p:cNvCxnSpPr>
            <a:cxnSpLocks/>
            <a:stCxn id="23" idx="3"/>
            <a:endCxn id="47" idx="1"/>
          </p:cNvCxnSpPr>
          <p:nvPr/>
        </p:nvCxnSpPr>
        <p:spPr>
          <a:xfrm flipV="1">
            <a:off x="7388866" y="3943379"/>
            <a:ext cx="1161295" cy="220088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8929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78FE7-F3CE-773B-D766-0944678D93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A21771-25C3-0510-D1B5-0CFCEAC7A286}"/>
              </a:ext>
            </a:extLst>
          </p:cNvPr>
          <p:cNvSpPr>
            <a:spLocks noGrp="1"/>
          </p:cNvSpPr>
          <p:nvPr>
            <p:ph type="ctrTitle"/>
          </p:nvPr>
        </p:nvSpPr>
        <p:spPr>
          <a:xfrm>
            <a:off x="1524000" y="1122363"/>
            <a:ext cx="9144000" cy="990917"/>
          </a:xfrm>
        </p:spPr>
        <p:txBody>
          <a:bodyPr>
            <a:noAutofit/>
          </a:bodyPr>
          <a:lstStyle/>
          <a:p>
            <a:r>
              <a:rPr lang="en-IN" dirty="0"/>
              <a:t>Comparative Analysis:</a:t>
            </a:r>
          </a:p>
        </p:txBody>
      </p:sp>
      <p:sp>
        <p:nvSpPr>
          <p:cNvPr id="5" name="Subtitle 4">
            <a:extLst>
              <a:ext uri="{FF2B5EF4-FFF2-40B4-BE49-F238E27FC236}">
                <a16:creationId xmlns:a16="http://schemas.microsoft.com/office/drawing/2014/main" id="{2FC6B634-C831-FD6E-E67C-03D7DA40B641}"/>
              </a:ext>
            </a:extLst>
          </p:cNvPr>
          <p:cNvSpPr>
            <a:spLocks noGrp="1"/>
          </p:cNvSpPr>
          <p:nvPr>
            <p:ph type="subTitle" idx="1"/>
          </p:nvPr>
        </p:nvSpPr>
        <p:spPr>
          <a:xfrm>
            <a:off x="843280" y="2042159"/>
            <a:ext cx="11115040" cy="3693478"/>
          </a:xfrm>
        </p:spPr>
        <p:txBody>
          <a:bodyPr>
            <a:normAutofit/>
          </a:bodyPr>
          <a:lstStyle/>
          <a:p>
            <a:pPr marL="50800" indent="0" algn="l"/>
            <a:r>
              <a:rPr lang="en-IN" dirty="0"/>
              <a:t>Neuphony EEG vs. LIF Algorithm</a:t>
            </a:r>
            <a:endParaRPr lang="en-US" dirty="0"/>
          </a:p>
        </p:txBody>
      </p:sp>
      <p:graphicFrame>
        <p:nvGraphicFramePr>
          <p:cNvPr id="2" name="Table 1">
            <a:extLst>
              <a:ext uri="{FF2B5EF4-FFF2-40B4-BE49-F238E27FC236}">
                <a16:creationId xmlns:a16="http://schemas.microsoft.com/office/drawing/2014/main" id="{94E2A70F-6EE4-D87B-8DEA-CAF02A8C3003}"/>
              </a:ext>
            </a:extLst>
          </p:cNvPr>
          <p:cNvGraphicFramePr>
            <a:graphicFrameLocks noGrp="1"/>
          </p:cNvGraphicFramePr>
          <p:nvPr/>
        </p:nvGraphicFramePr>
        <p:xfrm>
          <a:off x="843280" y="2666684"/>
          <a:ext cx="11115039" cy="3693478"/>
        </p:xfrm>
        <a:graphic>
          <a:graphicData uri="http://schemas.openxmlformats.org/drawingml/2006/table">
            <a:tbl>
              <a:tblPr>
                <a:tableStyleId>{5C22544A-7EE6-4342-B048-85BDC9FD1C3A}</a:tableStyleId>
              </a:tblPr>
              <a:tblGrid>
                <a:gridCol w="3705013">
                  <a:extLst>
                    <a:ext uri="{9D8B030D-6E8A-4147-A177-3AD203B41FA5}">
                      <a16:colId xmlns:a16="http://schemas.microsoft.com/office/drawing/2014/main" val="2639533772"/>
                    </a:ext>
                  </a:extLst>
                </a:gridCol>
                <a:gridCol w="3705013">
                  <a:extLst>
                    <a:ext uri="{9D8B030D-6E8A-4147-A177-3AD203B41FA5}">
                      <a16:colId xmlns:a16="http://schemas.microsoft.com/office/drawing/2014/main" val="3157588703"/>
                    </a:ext>
                  </a:extLst>
                </a:gridCol>
                <a:gridCol w="3705013">
                  <a:extLst>
                    <a:ext uri="{9D8B030D-6E8A-4147-A177-3AD203B41FA5}">
                      <a16:colId xmlns:a16="http://schemas.microsoft.com/office/drawing/2014/main" val="4012515238"/>
                    </a:ext>
                  </a:extLst>
                </a:gridCol>
              </a:tblGrid>
              <a:tr h="341542">
                <a:tc>
                  <a:txBody>
                    <a:bodyPr/>
                    <a:lstStyle/>
                    <a:p>
                      <a:pPr marL="0" marR="0" rtl="0">
                        <a:spcAft>
                          <a:spcPts val="2400"/>
                        </a:spcAft>
                        <a:buNone/>
                      </a:pPr>
                      <a:r>
                        <a:rPr lang="en-IN" sz="1100" b="1" dirty="0">
                          <a:effectLst/>
                        </a:rPr>
                        <a:t>Feature</a:t>
                      </a:r>
                      <a:endParaRPr lang="en-IN" sz="1100" b="1"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rtl="0">
                        <a:spcAft>
                          <a:spcPts val="2400"/>
                        </a:spcAft>
                        <a:buNone/>
                      </a:pPr>
                      <a:r>
                        <a:rPr lang="en-IN" sz="1100" b="1" dirty="0">
                          <a:effectLst/>
                        </a:rPr>
                        <a:t>Neuphony EEG Headband</a:t>
                      </a:r>
                      <a:endParaRPr lang="en-IN" sz="1100" b="1"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rtl="0">
                        <a:spcAft>
                          <a:spcPts val="2400"/>
                        </a:spcAft>
                        <a:buNone/>
                      </a:pPr>
                      <a:r>
                        <a:rPr lang="en-IN" sz="1100" b="1" dirty="0">
                          <a:effectLst/>
                        </a:rPr>
                        <a:t>LIF Forecasting Engine (Proposed)</a:t>
                      </a:r>
                      <a:endParaRPr lang="en-IN" sz="1100" b="1"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79595228"/>
                  </a:ext>
                </a:extLst>
              </a:tr>
              <a:tr h="557501">
                <a:tc>
                  <a:txBody>
                    <a:bodyPr/>
                    <a:lstStyle/>
                    <a:p>
                      <a:pPr marL="0" marR="0" rtl="0">
                        <a:spcAft>
                          <a:spcPts val="2400"/>
                        </a:spcAft>
                        <a:buNone/>
                      </a:pPr>
                      <a:r>
                        <a:rPr lang="en-IN" sz="1100" i="1" dirty="0">
                          <a:effectLst/>
                        </a:rPr>
                        <a:t>Core Architecture</a:t>
                      </a:r>
                      <a:endParaRPr lang="en-IN" sz="1100" i="1"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IN" sz="1100">
                          <a:effectLst/>
                        </a:rPr>
                        <a:t>Hardware-centric wearable device</a:t>
                      </a:r>
                      <a:endParaRPr lang="en-IN" sz="110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IN" sz="1100" dirty="0">
                          <a:effectLst/>
                        </a:rPr>
                        <a:t>Software-centric MLOps telemetry pipeline</a:t>
                      </a:r>
                      <a:endParaRPr lang="en-IN" sz="1100"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160640"/>
                  </a:ext>
                </a:extLst>
              </a:tr>
              <a:tr h="558887">
                <a:tc>
                  <a:txBody>
                    <a:bodyPr/>
                    <a:lstStyle/>
                    <a:p>
                      <a:pPr marL="0" marR="0" rtl="0">
                        <a:spcAft>
                          <a:spcPts val="2400"/>
                        </a:spcAft>
                        <a:buNone/>
                      </a:pPr>
                      <a:r>
                        <a:rPr lang="en-IN" sz="1100" i="1" dirty="0">
                          <a:effectLst/>
                        </a:rPr>
                        <a:t>Data Acquisition</a:t>
                      </a:r>
                      <a:endParaRPr lang="en-IN" sz="1100" i="1"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IN" sz="1100">
                          <a:effectLst/>
                        </a:rPr>
                        <a:t>Direct electrical brainwaves (8 dry EEG sensors)</a:t>
                      </a:r>
                      <a:endParaRPr lang="en-IN" sz="110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IN" sz="1100" dirty="0">
                          <a:effectLst/>
                        </a:rPr>
                        <a:t>Non-invasive lifestyle logging &amp; API wearables (Google Fit)</a:t>
                      </a:r>
                      <a:endParaRPr lang="en-IN" sz="1100"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1160559"/>
                  </a:ext>
                </a:extLst>
              </a:tr>
              <a:tr h="558887">
                <a:tc>
                  <a:txBody>
                    <a:bodyPr/>
                    <a:lstStyle/>
                    <a:p>
                      <a:pPr marL="0" marR="0" rtl="0">
                        <a:spcAft>
                          <a:spcPts val="2400"/>
                        </a:spcAft>
                        <a:buNone/>
                      </a:pPr>
                      <a:r>
                        <a:rPr lang="en-IN" sz="1100" i="1" dirty="0">
                          <a:effectLst/>
                        </a:rPr>
                        <a:t>Primary Output</a:t>
                      </a:r>
                      <a:endParaRPr lang="en-IN" sz="1100" i="1"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IN" sz="1100" dirty="0">
                          <a:effectLst/>
                        </a:rPr>
                        <a:t>Real-time cognitive states (stress, focus, mood)</a:t>
                      </a:r>
                      <a:endParaRPr lang="en-IN" sz="1100"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IN" sz="1100" dirty="0">
                          <a:effectLst/>
                        </a:rPr>
                        <a:t>Predictive forecasting (Bayesian Probability of seizure)</a:t>
                      </a:r>
                      <a:endParaRPr lang="en-IN" sz="1100"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1378254"/>
                  </a:ext>
                </a:extLst>
              </a:tr>
              <a:tr h="558887">
                <a:tc>
                  <a:txBody>
                    <a:bodyPr/>
                    <a:lstStyle/>
                    <a:p>
                      <a:pPr marL="0" marR="0" rtl="0">
                        <a:spcAft>
                          <a:spcPts val="2400"/>
                        </a:spcAft>
                        <a:buNone/>
                      </a:pPr>
                      <a:r>
                        <a:rPr lang="en-IN" sz="1100" i="1" dirty="0">
                          <a:effectLst/>
                        </a:rPr>
                        <a:t>Cost &amp; Accessibility</a:t>
                      </a:r>
                      <a:endParaRPr lang="en-IN" sz="1100" i="1"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IN" sz="1100">
                          <a:effectLst/>
                        </a:rPr>
                        <a:t>High (Approx. ₹49,000)</a:t>
                      </a:r>
                      <a:endParaRPr lang="en-IN" sz="110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IN" sz="1100" dirty="0">
                          <a:effectLst/>
                        </a:rPr>
                        <a:t>Zero hardware cost (Utilizes existing smartphones)</a:t>
                      </a:r>
                      <a:endParaRPr lang="en-IN" sz="1100"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3375195"/>
                  </a:ext>
                </a:extLst>
              </a:tr>
              <a:tr h="558887">
                <a:tc>
                  <a:txBody>
                    <a:bodyPr/>
                    <a:lstStyle/>
                    <a:p>
                      <a:pPr marL="0" marR="0" rtl="0">
                        <a:spcAft>
                          <a:spcPts val="2400"/>
                        </a:spcAft>
                        <a:buNone/>
                      </a:pPr>
                      <a:r>
                        <a:rPr lang="en-IN" sz="1100" i="1" dirty="0">
                          <a:effectLst/>
                        </a:rPr>
                        <a:t>Patient Burden</a:t>
                      </a:r>
                      <a:endParaRPr lang="en-IN" sz="1100" i="1"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IN" sz="1100">
                          <a:effectLst/>
                        </a:rPr>
                        <a:t>Active wearability (must wear cap/headband, limited battery)</a:t>
                      </a:r>
                      <a:endParaRPr lang="en-IN" sz="110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IN" sz="1100" dirty="0">
                          <a:effectLst/>
                        </a:rPr>
                        <a:t>Ambient tracking (async form logging, passive step counting)</a:t>
                      </a:r>
                      <a:endParaRPr lang="en-IN" sz="1100"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4869010"/>
                  </a:ext>
                </a:extLst>
              </a:tr>
              <a:tr h="558887">
                <a:tc>
                  <a:txBody>
                    <a:bodyPr/>
                    <a:lstStyle/>
                    <a:p>
                      <a:pPr marL="0" marR="0" rtl="0">
                        <a:spcAft>
                          <a:spcPts val="2400"/>
                        </a:spcAft>
                        <a:buNone/>
                      </a:pPr>
                      <a:r>
                        <a:rPr lang="en-IN" sz="1100" i="1" dirty="0">
                          <a:effectLst/>
                        </a:rPr>
                        <a:t>Clinical Mapping</a:t>
                      </a:r>
                      <a:endParaRPr lang="en-IN" sz="1100" i="1"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IN" sz="1100">
                          <a:effectLst/>
                        </a:rPr>
                        <a:t>Standard western neuro-feedback</a:t>
                      </a:r>
                      <a:endParaRPr lang="en-IN" sz="110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en-IN" sz="1100" dirty="0">
                          <a:effectLst/>
                        </a:rPr>
                        <a:t>Integration with Ayurvedic metabolic baselines (Tri-dosha)</a:t>
                      </a:r>
                      <a:endParaRPr lang="en-IN" sz="1100" dirty="0">
                        <a:solidFill>
                          <a:srgbClr val="1F1F1F"/>
                        </a:solidFill>
                        <a:effectLst/>
                        <a:latin typeface="Google Sans Text"/>
                      </a:endParaRPr>
                    </a:p>
                  </a:txBody>
                  <a:tcPr marL="72075" marR="72075" marT="48050" marB="48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3721039"/>
                  </a:ext>
                </a:extLst>
              </a:tr>
            </a:tbl>
          </a:graphicData>
        </a:graphic>
      </p:graphicFrame>
    </p:spTree>
    <p:extLst>
      <p:ext uri="{BB962C8B-B14F-4D97-AF65-F5344CB8AC3E}">
        <p14:creationId xmlns:p14="http://schemas.microsoft.com/office/powerpoint/2010/main" val="1859860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4DE54-E04E-42ED-DD21-C07DED17303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B4BEA83-98D7-059B-7F2F-D36201912B25}"/>
              </a:ext>
            </a:extLst>
          </p:cNvPr>
          <p:cNvSpPr>
            <a:spLocks noGrp="1"/>
          </p:cNvSpPr>
          <p:nvPr>
            <p:ph type="ctrTitle"/>
          </p:nvPr>
        </p:nvSpPr>
        <p:spPr>
          <a:xfrm>
            <a:off x="1524000" y="1122363"/>
            <a:ext cx="9144000" cy="990917"/>
          </a:xfrm>
        </p:spPr>
        <p:txBody>
          <a:bodyPr>
            <a:normAutofit/>
          </a:bodyPr>
          <a:lstStyle/>
          <a:p>
            <a:r>
              <a:rPr lang="en-US" dirty="0"/>
              <a:t>Implementation till now</a:t>
            </a:r>
            <a:endParaRPr lang="en-IN" dirty="0"/>
          </a:p>
        </p:txBody>
      </p:sp>
      <p:sp>
        <p:nvSpPr>
          <p:cNvPr id="5" name="Subtitle 4">
            <a:extLst>
              <a:ext uri="{FF2B5EF4-FFF2-40B4-BE49-F238E27FC236}">
                <a16:creationId xmlns:a16="http://schemas.microsoft.com/office/drawing/2014/main" id="{8340A63A-3A1B-D0CD-17D7-D1089B82A4F6}"/>
              </a:ext>
            </a:extLst>
          </p:cNvPr>
          <p:cNvSpPr>
            <a:spLocks noGrp="1"/>
          </p:cNvSpPr>
          <p:nvPr>
            <p:ph type="subTitle" idx="1"/>
          </p:nvPr>
        </p:nvSpPr>
        <p:spPr>
          <a:xfrm>
            <a:off x="843280" y="2042159"/>
            <a:ext cx="11115040" cy="3693478"/>
          </a:xfrm>
        </p:spPr>
        <p:txBody>
          <a:bodyPr>
            <a:normAutofit/>
          </a:bodyPr>
          <a:lstStyle/>
          <a:p>
            <a:pPr algn="l">
              <a:buFont typeface="Arial" panose="020B0604020202020204" pitchFamily="34" charset="0"/>
              <a:buChar char="•"/>
            </a:pPr>
            <a:r>
              <a:rPr lang="en-US" dirty="0"/>
              <a:t>Total entries in database</a:t>
            </a:r>
          </a:p>
          <a:p>
            <a:pPr marL="50800" indent="0" algn="l"/>
            <a:endParaRPr lang="en-US" dirty="0"/>
          </a:p>
          <a:p>
            <a:pPr marL="50800" indent="0" algn="l"/>
            <a:endParaRPr lang="en-IN" dirty="0"/>
          </a:p>
        </p:txBody>
      </p:sp>
      <p:pic>
        <p:nvPicPr>
          <p:cNvPr id="6" name="Picture 5">
            <a:extLst>
              <a:ext uri="{FF2B5EF4-FFF2-40B4-BE49-F238E27FC236}">
                <a16:creationId xmlns:a16="http://schemas.microsoft.com/office/drawing/2014/main" id="{49847B6F-45BD-D561-4CF8-2F0D32C3DC0E}"/>
              </a:ext>
            </a:extLst>
          </p:cNvPr>
          <p:cNvPicPr>
            <a:picLocks noChangeAspect="1"/>
          </p:cNvPicPr>
          <p:nvPr/>
        </p:nvPicPr>
        <p:blipFill>
          <a:blip r:embed="rId2"/>
          <a:stretch>
            <a:fillRect/>
          </a:stretch>
        </p:blipFill>
        <p:spPr>
          <a:xfrm>
            <a:off x="5878914" y="2499360"/>
            <a:ext cx="4640906" cy="3516506"/>
          </a:xfrm>
          <a:prstGeom prst="rect">
            <a:avLst/>
          </a:prstGeom>
        </p:spPr>
      </p:pic>
      <p:pic>
        <p:nvPicPr>
          <p:cNvPr id="10" name="Picture 9">
            <a:extLst>
              <a:ext uri="{FF2B5EF4-FFF2-40B4-BE49-F238E27FC236}">
                <a16:creationId xmlns:a16="http://schemas.microsoft.com/office/drawing/2014/main" id="{895CB2D9-5413-8425-BEF2-09C36FE07DE4}"/>
              </a:ext>
            </a:extLst>
          </p:cNvPr>
          <p:cNvPicPr>
            <a:picLocks noChangeAspect="1"/>
          </p:cNvPicPr>
          <p:nvPr/>
        </p:nvPicPr>
        <p:blipFill>
          <a:blip r:embed="rId3"/>
          <a:stretch>
            <a:fillRect/>
          </a:stretch>
        </p:blipFill>
        <p:spPr>
          <a:xfrm>
            <a:off x="1238008" y="2499360"/>
            <a:ext cx="4640906" cy="3516506"/>
          </a:xfrm>
          <a:prstGeom prst="rect">
            <a:avLst/>
          </a:prstGeom>
        </p:spPr>
      </p:pic>
    </p:spTree>
    <p:extLst>
      <p:ext uri="{BB962C8B-B14F-4D97-AF65-F5344CB8AC3E}">
        <p14:creationId xmlns:p14="http://schemas.microsoft.com/office/powerpoint/2010/main" val="672207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B7B10-B4F3-8EE5-4033-A65EC4F4D5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1A5413A-C7CD-7AC7-1ADA-6BB9CFFB92B0}"/>
              </a:ext>
            </a:extLst>
          </p:cNvPr>
          <p:cNvSpPr>
            <a:spLocks noGrp="1"/>
          </p:cNvSpPr>
          <p:nvPr>
            <p:ph type="ctrTitle"/>
          </p:nvPr>
        </p:nvSpPr>
        <p:spPr>
          <a:xfrm>
            <a:off x="1524000" y="1122363"/>
            <a:ext cx="9144000" cy="990917"/>
          </a:xfrm>
        </p:spPr>
        <p:txBody>
          <a:bodyPr>
            <a:normAutofit/>
          </a:bodyPr>
          <a:lstStyle/>
          <a:p>
            <a:r>
              <a:rPr lang="en-US" dirty="0"/>
              <a:t>Preliminary Results</a:t>
            </a:r>
            <a:endParaRPr lang="en-IN" dirty="0"/>
          </a:p>
        </p:txBody>
      </p:sp>
      <p:sp>
        <p:nvSpPr>
          <p:cNvPr id="5" name="Subtitle 4">
            <a:extLst>
              <a:ext uri="{FF2B5EF4-FFF2-40B4-BE49-F238E27FC236}">
                <a16:creationId xmlns:a16="http://schemas.microsoft.com/office/drawing/2014/main" id="{BDEB64D3-0429-2C57-CA8A-B9B3D9515B28}"/>
              </a:ext>
            </a:extLst>
          </p:cNvPr>
          <p:cNvSpPr>
            <a:spLocks noGrp="1"/>
          </p:cNvSpPr>
          <p:nvPr>
            <p:ph type="subTitle" idx="1"/>
          </p:nvPr>
        </p:nvSpPr>
        <p:spPr>
          <a:xfrm>
            <a:off x="843280" y="2042159"/>
            <a:ext cx="11115040" cy="3693478"/>
          </a:xfrm>
        </p:spPr>
        <p:txBody>
          <a:bodyPr>
            <a:normAutofit/>
          </a:bodyPr>
          <a:lstStyle/>
          <a:p>
            <a:pPr algn="l">
              <a:buFont typeface="Arial" panose="020B0604020202020204" pitchFamily="34" charset="0"/>
              <a:buChar char="•"/>
            </a:pPr>
            <a:endParaRPr lang="en-US" dirty="0"/>
          </a:p>
          <a:p>
            <a:pPr marL="50800" indent="0" algn="l"/>
            <a:endParaRPr lang="en-US" dirty="0"/>
          </a:p>
          <a:p>
            <a:pPr marL="50800" indent="0" algn="l"/>
            <a:endParaRPr lang="en-IN" dirty="0"/>
          </a:p>
        </p:txBody>
      </p:sp>
      <p:pic>
        <p:nvPicPr>
          <p:cNvPr id="8" name="Picture 7">
            <a:extLst>
              <a:ext uri="{FF2B5EF4-FFF2-40B4-BE49-F238E27FC236}">
                <a16:creationId xmlns:a16="http://schemas.microsoft.com/office/drawing/2014/main" id="{D8CE067E-88FB-7AB0-A25B-6E379CFBA353}"/>
              </a:ext>
            </a:extLst>
          </p:cNvPr>
          <p:cNvPicPr>
            <a:picLocks noChangeAspect="1"/>
          </p:cNvPicPr>
          <p:nvPr/>
        </p:nvPicPr>
        <p:blipFill>
          <a:blip r:embed="rId2"/>
          <a:stretch>
            <a:fillRect/>
          </a:stretch>
        </p:blipFill>
        <p:spPr>
          <a:xfrm>
            <a:off x="2217420" y="2113280"/>
            <a:ext cx="7757160" cy="4120992"/>
          </a:xfrm>
          <a:prstGeom prst="rect">
            <a:avLst/>
          </a:prstGeom>
        </p:spPr>
      </p:pic>
      <p:sp>
        <p:nvSpPr>
          <p:cNvPr id="9" name="TextBox 8">
            <a:extLst>
              <a:ext uri="{FF2B5EF4-FFF2-40B4-BE49-F238E27FC236}">
                <a16:creationId xmlns:a16="http://schemas.microsoft.com/office/drawing/2014/main" id="{576DF3E1-A000-1ACE-328A-8A6431286ED6}"/>
              </a:ext>
            </a:extLst>
          </p:cNvPr>
          <p:cNvSpPr txBox="1"/>
          <p:nvPr/>
        </p:nvSpPr>
        <p:spPr>
          <a:xfrm>
            <a:off x="10342880" y="2113280"/>
            <a:ext cx="1699260" cy="3416320"/>
          </a:xfrm>
          <a:prstGeom prst="rect">
            <a:avLst/>
          </a:prstGeom>
          <a:noFill/>
        </p:spPr>
        <p:txBody>
          <a:bodyPr wrap="square" rtlCol="0">
            <a:spAutoFit/>
          </a:bodyPr>
          <a:lstStyle/>
          <a:p>
            <a:r>
              <a:rPr lang="en-US" sz="2400" dirty="0">
                <a:latin typeface="Fira Sans" panose="020B0503050000020004" pitchFamily="34" charset="0"/>
              </a:rPr>
              <a:t>Low risk 7.47% when input parameter are low or not harmful for patient</a:t>
            </a:r>
            <a:endParaRPr lang="en-IN" sz="2400" dirty="0">
              <a:latin typeface="Fira Sans" panose="020B0503050000020004" pitchFamily="34" charset="0"/>
            </a:endParaRPr>
          </a:p>
        </p:txBody>
      </p:sp>
    </p:spTree>
    <p:extLst>
      <p:ext uri="{BB962C8B-B14F-4D97-AF65-F5344CB8AC3E}">
        <p14:creationId xmlns:p14="http://schemas.microsoft.com/office/powerpoint/2010/main" val="532718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2E49B-10DE-8A2F-A6AD-07DC97F0C7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B1433C1-6280-7CC6-27DE-453277D148F4}"/>
              </a:ext>
            </a:extLst>
          </p:cNvPr>
          <p:cNvSpPr>
            <a:spLocks noGrp="1"/>
          </p:cNvSpPr>
          <p:nvPr>
            <p:ph type="ctrTitle"/>
          </p:nvPr>
        </p:nvSpPr>
        <p:spPr>
          <a:xfrm>
            <a:off x="1524000" y="1122363"/>
            <a:ext cx="9144000" cy="990917"/>
          </a:xfrm>
        </p:spPr>
        <p:txBody>
          <a:bodyPr>
            <a:normAutofit/>
          </a:bodyPr>
          <a:lstStyle/>
          <a:p>
            <a:r>
              <a:rPr lang="en-US" dirty="0"/>
              <a:t>Preliminary Results</a:t>
            </a:r>
            <a:endParaRPr lang="en-IN" dirty="0"/>
          </a:p>
        </p:txBody>
      </p:sp>
      <p:sp>
        <p:nvSpPr>
          <p:cNvPr id="5" name="Subtitle 4">
            <a:extLst>
              <a:ext uri="{FF2B5EF4-FFF2-40B4-BE49-F238E27FC236}">
                <a16:creationId xmlns:a16="http://schemas.microsoft.com/office/drawing/2014/main" id="{2EB4CB9F-8F69-65F8-D9E4-28F5B370E61F}"/>
              </a:ext>
            </a:extLst>
          </p:cNvPr>
          <p:cNvSpPr>
            <a:spLocks noGrp="1"/>
          </p:cNvSpPr>
          <p:nvPr>
            <p:ph type="subTitle" idx="1"/>
          </p:nvPr>
        </p:nvSpPr>
        <p:spPr>
          <a:xfrm>
            <a:off x="843280" y="2042159"/>
            <a:ext cx="11115040" cy="3693478"/>
          </a:xfrm>
        </p:spPr>
        <p:txBody>
          <a:bodyPr>
            <a:normAutofit/>
          </a:bodyPr>
          <a:lstStyle/>
          <a:p>
            <a:pPr algn="l">
              <a:buFont typeface="Arial" panose="020B0604020202020204" pitchFamily="34" charset="0"/>
              <a:buChar char="•"/>
            </a:pPr>
            <a:endParaRPr lang="en-US" dirty="0"/>
          </a:p>
          <a:p>
            <a:pPr marL="50800" indent="0" algn="l"/>
            <a:endParaRPr lang="en-US" dirty="0"/>
          </a:p>
          <a:p>
            <a:pPr marL="50800" indent="0" algn="l"/>
            <a:endParaRPr lang="en-IN" dirty="0"/>
          </a:p>
        </p:txBody>
      </p:sp>
      <p:pic>
        <p:nvPicPr>
          <p:cNvPr id="3" name="Picture 2">
            <a:extLst>
              <a:ext uri="{FF2B5EF4-FFF2-40B4-BE49-F238E27FC236}">
                <a16:creationId xmlns:a16="http://schemas.microsoft.com/office/drawing/2014/main" id="{005EE780-5431-B055-0424-64679F8A2C8C}"/>
              </a:ext>
            </a:extLst>
          </p:cNvPr>
          <p:cNvPicPr>
            <a:picLocks noChangeAspect="1"/>
          </p:cNvPicPr>
          <p:nvPr/>
        </p:nvPicPr>
        <p:blipFill>
          <a:blip r:embed="rId2"/>
          <a:stretch>
            <a:fillRect/>
          </a:stretch>
        </p:blipFill>
        <p:spPr>
          <a:xfrm>
            <a:off x="2143760" y="2113280"/>
            <a:ext cx="7904480" cy="4199254"/>
          </a:xfrm>
          <a:prstGeom prst="rect">
            <a:avLst/>
          </a:prstGeom>
        </p:spPr>
      </p:pic>
      <p:sp>
        <p:nvSpPr>
          <p:cNvPr id="8" name="TextBox 7">
            <a:extLst>
              <a:ext uri="{FF2B5EF4-FFF2-40B4-BE49-F238E27FC236}">
                <a16:creationId xmlns:a16="http://schemas.microsoft.com/office/drawing/2014/main" id="{0B27C980-1C07-D4EC-6AEE-D77B5A4AE7B4}"/>
              </a:ext>
            </a:extLst>
          </p:cNvPr>
          <p:cNvSpPr txBox="1"/>
          <p:nvPr/>
        </p:nvSpPr>
        <p:spPr>
          <a:xfrm>
            <a:off x="10342880" y="2113279"/>
            <a:ext cx="1625600" cy="3785652"/>
          </a:xfrm>
          <a:prstGeom prst="rect">
            <a:avLst/>
          </a:prstGeom>
          <a:noFill/>
        </p:spPr>
        <p:txBody>
          <a:bodyPr wrap="square" rtlCol="0">
            <a:spAutoFit/>
          </a:bodyPr>
          <a:lstStyle/>
          <a:p>
            <a:r>
              <a:rPr lang="en-US" sz="2400" dirty="0">
                <a:latin typeface="Fira Sans" panose="020B0503050000020004" pitchFamily="34" charset="0"/>
              </a:rPr>
              <a:t>Moderate risk 50% when input parameter are High or harmful for patient</a:t>
            </a:r>
            <a:endParaRPr lang="en-IN" sz="2400" dirty="0">
              <a:latin typeface="Fira Sans" panose="020B0503050000020004" pitchFamily="34" charset="0"/>
            </a:endParaRPr>
          </a:p>
        </p:txBody>
      </p:sp>
      <p:sp>
        <p:nvSpPr>
          <p:cNvPr id="9" name="TextBox 8">
            <a:extLst>
              <a:ext uri="{FF2B5EF4-FFF2-40B4-BE49-F238E27FC236}">
                <a16:creationId xmlns:a16="http://schemas.microsoft.com/office/drawing/2014/main" id="{659D5423-806A-D9AB-810F-CB515ED95CF3}"/>
              </a:ext>
            </a:extLst>
          </p:cNvPr>
          <p:cNvSpPr txBox="1"/>
          <p:nvPr/>
        </p:nvSpPr>
        <p:spPr>
          <a:xfrm>
            <a:off x="4973320" y="5912424"/>
            <a:ext cx="2245360" cy="400110"/>
          </a:xfrm>
          <a:prstGeom prst="rect">
            <a:avLst/>
          </a:prstGeom>
          <a:noFill/>
        </p:spPr>
        <p:txBody>
          <a:bodyPr wrap="square" rtlCol="0">
            <a:spAutoFit/>
          </a:bodyPr>
          <a:lstStyle/>
          <a:p>
            <a:r>
              <a:rPr lang="en-US" sz="2000" dirty="0">
                <a:hlinkClick r:id="rId3"/>
              </a:rPr>
              <a:t>Localhost:8501</a:t>
            </a:r>
            <a:endParaRPr lang="en-IN" sz="2000" dirty="0"/>
          </a:p>
        </p:txBody>
      </p:sp>
    </p:spTree>
    <p:extLst>
      <p:ext uri="{BB962C8B-B14F-4D97-AF65-F5344CB8AC3E}">
        <p14:creationId xmlns:p14="http://schemas.microsoft.com/office/powerpoint/2010/main" val="2994566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96658-09F3-7435-88EF-26A25759FD22}"/>
              </a:ext>
            </a:extLst>
          </p:cNvPr>
          <p:cNvSpPr>
            <a:spLocks noGrp="1"/>
          </p:cNvSpPr>
          <p:nvPr>
            <p:ph type="ctrTitle"/>
          </p:nvPr>
        </p:nvSpPr>
        <p:spPr>
          <a:xfrm>
            <a:off x="1524000" y="1122363"/>
            <a:ext cx="9144000" cy="929957"/>
          </a:xfrm>
        </p:spPr>
        <p:txBody>
          <a:bodyPr>
            <a:normAutofit/>
          </a:bodyPr>
          <a:lstStyle/>
          <a:p>
            <a:r>
              <a:rPr lang="en-US" dirty="0"/>
              <a:t>Pending Work</a:t>
            </a:r>
            <a:endParaRPr lang="en-IN" dirty="0"/>
          </a:p>
        </p:txBody>
      </p:sp>
      <p:sp>
        <p:nvSpPr>
          <p:cNvPr id="3" name="Subtitle 2">
            <a:extLst>
              <a:ext uri="{FF2B5EF4-FFF2-40B4-BE49-F238E27FC236}">
                <a16:creationId xmlns:a16="http://schemas.microsoft.com/office/drawing/2014/main" id="{0E3DAC81-2439-04CC-AFE5-D04B52452F97}"/>
              </a:ext>
            </a:extLst>
          </p:cNvPr>
          <p:cNvSpPr>
            <a:spLocks noGrp="1"/>
          </p:cNvSpPr>
          <p:nvPr>
            <p:ph type="subTitle" idx="1"/>
          </p:nvPr>
        </p:nvSpPr>
        <p:spPr>
          <a:xfrm>
            <a:off x="1524000" y="2052320"/>
            <a:ext cx="9144000" cy="3205480"/>
          </a:xfrm>
        </p:spPr>
        <p:txBody>
          <a:bodyPr>
            <a:normAutofit/>
          </a:bodyPr>
          <a:lstStyle/>
          <a:p>
            <a:pPr algn="l">
              <a:buFont typeface="Arial" panose="020B0604020202020204" pitchFamily="34" charset="0"/>
              <a:buChar char="•"/>
            </a:pPr>
            <a:r>
              <a:rPr lang="en-US" dirty="0"/>
              <a:t>Jenkins CI/CD Pipeline</a:t>
            </a:r>
          </a:p>
          <a:p>
            <a:pPr algn="l">
              <a:buFont typeface="Arial" panose="020B0604020202020204" pitchFamily="34" charset="0"/>
              <a:buChar char="•"/>
            </a:pPr>
            <a:r>
              <a:rPr lang="en-US" dirty="0"/>
              <a:t>Docker Containerization</a:t>
            </a:r>
          </a:p>
          <a:p>
            <a:pPr algn="l">
              <a:buFont typeface="Arial" panose="020B0604020202020204" pitchFamily="34" charset="0"/>
              <a:buChar char="•"/>
            </a:pPr>
            <a:r>
              <a:rPr lang="en-US" dirty="0"/>
              <a:t>Training model for best accuracy</a:t>
            </a:r>
          </a:p>
          <a:p>
            <a:pPr algn="l">
              <a:buFont typeface="Arial" panose="020B0604020202020204" pitchFamily="34" charset="0"/>
              <a:buChar char="•"/>
            </a:pPr>
            <a:r>
              <a:rPr lang="en-US" dirty="0"/>
              <a:t>Deployment</a:t>
            </a:r>
          </a:p>
          <a:p>
            <a:pPr algn="l">
              <a:buFont typeface="Arial" panose="020B0604020202020204" pitchFamily="34" charset="0"/>
              <a:buChar char="•"/>
            </a:pPr>
            <a:r>
              <a:rPr lang="en-US" dirty="0"/>
              <a:t>Research Paper Drafting and Publishing</a:t>
            </a:r>
          </a:p>
          <a:p>
            <a:pPr algn="l">
              <a:buFont typeface="Arial" panose="020B0604020202020204" pitchFamily="34" charset="0"/>
              <a:buChar char="•"/>
            </a:pPr>
            <a:r>
              <a:rPr lang="en-US" dirty="0"/>
              <a:t>Literature Survey Publishing</a:t>
            </a:r>
            <a:endParaRPr lang="en-IN" dirty="0"/>
          </a:p>
        </p:txBody>
      </p:sp>
    </p:spTree>
    <p:extLst>
      <p:ext uri="{BB962C8B-B14F-4D97-AF65-F5344CB8AC3E}">
        <p14:creationId xmlns:p14="http://schemas.microsoft.com/office/powerpoint/2010/main" val="3505255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C9BFE-32CD-1C49-A935-731BA0305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4B0E5-90F7-4B82-C900-96ACEEBEC900}"/>
              </a:ext>
            </a:extLst>
          </p:cNvPr>
          <p:cNvSpPr>
            <a:spLocks noGrp="1"/>
          </p:cNvSpPr>
          <p:nvPr>
            <p:ph type="ctrTitle"/>
          </p:nvPr>
        </p:nvSpPr>
        <p:spPr>
          <a:xfrm>
            <a:off x="1524000" y="1122363"/>
            <a:ext cx="9144000" cy="929957"/>
          </a:xfrm>
        </p:spPr>
        <p:txBody>
          <a:bodyPr>
            <a:normAutofit/>
          </a:bodyPr>
          <a:lstStyle/>
          <a:p>
            <a:r>
              <a:rPr lang="en-US" dirty="0"/>
              <a:t>Conclusion</a:t>
            </a:r>
            <a:endParaRPr lang="en-IN" dirty="0"/>
          </a:p>
        </p:txBody>
      </p:sp>
      <p:sp>
        <p:nvSpPr>
          <p:cNvPr id="3" name="Subtitle 2">
            <a:extLst>
              <a:ext uri="{FF2B5EF4-FFF2-40B4-BE49-F238E27FC236}">
                <a16:creationId xmlns:a16="http://schemas.microsoft.com/office/drawing/2014/main" id="{80555B4D-9459-45EE-8E02-27BCDB994EA1}"/>
              </a:ext>
            </a:extLst>
          </p:cNvPr>
          <p:cNvSpPr>
            <a:spLocks noGrp="1"/>
          </p:cNvSpPr>
          <p:nvPr>
            <p:ph type="subTitle" idx="1"/>
          </p:nvPr>
        </p:nvSpPr>
        <p:spPr>
          <a:xfrm>
            <a:off x="1524000" y="2052320"/>
            <a:ext cx="9144000" cy="3205480"/>
          </a:xfrm>
        </p:spPr>
        <p:txBody>
          <a:bodyPr/>
          <a:lstStyle/>
          <a:p>
            <a:pPr marL="393700" indent="-342900" algn="l">
              <a:buFont typeface="Arial" panose="020B0604020202020204" pitchFamily="34" charset="0"/>
              <a:buChar char="•"/>
            </a:pPr>
            <a:r>
              <a:rPr lang="en-US" dirty="0"/>
              <a:t>According to the survey over 50 million people in the world are affected by the seizure or epilepsy.</a:t>
            </a:r>
          </a:p>
          <a:p>
            <a:pPr marL="393700" indent="-342900" algn="l">
              <a:buFont typeface="Arial" panose="020B0604020202020204" pitchFamily="34" charset="0"/>
              <a:buChar char="•"/>
            </a:pPr>
            <a:r>
              <a:rPr lang="en-US" dirty="0"/>
              <a:t>Health problem which occurs involuntarily.</a:t>
            </a:r>
          </a:p>
          <a:p>
            <a:pPr marL="393700" indent="-342900" algn="l">
              <a:buFont typeface="Arial" panose="020B0604020202020204" pitchFamily="34" charset="0"/>
              <a:buChar char="•"/>
            </a:pPr>
            <a:r>
              <a:rPr lang="en-US" dirty="0"/>
              <a:t>Forecast it and alert the patients early to avoid risk </a:t>
            </a:r>
          </a:p>
          <a:p>
            <a:pPr marL="393700" indent="-342900" algn="l">
              <a:buFont typeface="Arial" panose="020B0604020202020204" pitchFamily="34" charset="0"/>
              <a:buChar char="•"/>
            </a:pPr>
            <a:r>
              <a:rPr lang="en-US" dirty="0"/>
              <a:t>Not every patients can get EEG or any parameter continuously</a:t>
            </a:r>
          </a:p>
          <a:p>
            <a:pPr marL="393700" indent="-342900" algn="l">
              <a:buFont typeface="Arial" panose="020B0604020202020204" pitchFamily="34" charset="0"/>
              <a:buChar char="•"/>
            </a:pPr>
            <a:r>
              <a:rPr lang="en-US" dirty="0"/>
              <a:t>The daily routine activities can help monitor which things affect and lead to seizure attack.</a:t>
            </a:r>
            <a:endParaRPr lang="en-IN" dirty="0"/>
          </a:p>
        </p:txBody>
      </p:sp>
    </p:spTree>
    <p:extLst>
      <p:ext uri="{BB962C8B-B14F-4D97-AF65-F5344CB8AC3E}">
        <p14:creationId xmlns:p14="http://schemas.microsoft.com/office/powerpoint/2010/main" val="8007702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7DFED-605B-EA03-2592-2FCC5C786E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26F35-3750-0469-19FE-42BAFB81718B}"/>
              </a:ext>
            </a:extLst>
          </p:cNvPr>
          <p:cNvSpPr>
            <a:spLocks noGrp="1"/>
          </p:cNvSpPr>
          <p:nvPr>
            <p:ph type="ctrTitle"/>
          </p:nvPr>
        </p:nvSpPr>
        <p:spPr>
          <a:xfrm>
            <a:off x="1524000" y="1122363"/>
            <a:ext cx="9144000" cy="929957"/>
          </a:xfrm>
        </p:spPr>
        <p:txBody>
          <a:bodyPr>
            <a:normAutofit/>
          </a:bodyPr>
          <a:lstStyle/>
          <a:p>
            <a:r>
              <a:rPr lang="en-US" dirty="0"/>
              <a:t>References</a:t>
            </a:r>
            <a:endParaRPr lang="en-IN" dirty="0"/>
          </a:p>
        </p:txBody>
      </p:sp>
      <p:sp>
        <p:nvSpPr>
          <p:cNvPr id="3" name="Subtitle 2">
            <a:extLst>
              <a:ext uri="{FF2B5EF4-FFF2-40B4-BE49-F238E27FC236}">
                <a16:creationId xmlns:a16="http://schemas.microsoft.com/office/drawing/2014/main" id="{CCA4D148-4E3A-F0CD-D658-64C560474980}"/>
              </a:ext>
            </a:extLst>
          </p:cNvPr>
          <p:cNvSpPr>
            <a:spLocks noGrp="1"/>
          </p:cNvSpPr>
          <p:nvPr>
            <p:ph type="subTitle" idx="1"/>
          </p:nvPr>
        </p:nvSpPr>
        <p:spPr>
          <a:xfrm>
            <a:off x="894080" y="2052320"/>
            <a:ext cx="10830560" cy="4267200"/>
          </a:xfrm>
        </p:spPr>
        <p:txBody>
          <a:bodyPr>
            <a:normAutofit fontScale="92500" lnSpcReduction="10000"/>
          </a:bodyPr>
          <a:lstStyle/>
          <a:p>
            <a:pPr marL="393700" indent="-342900" algn="l">
              <a:buFont typeface="Arial" panose="020B0604020202020204" pitchFamily="34" charset="0"/>
              <a:buChar char="•"/>
            </a:pPr>
            <a:r>
              <a:rPr lang="en-US" dirty="0" err="1"/>
              <a:t>Neuphony</a:t>
            </a:r>
            <a:r>
              <a:rPr lang="en-US" dirty="0"/>
              <a:t> Headband:</a:t>
            </a:r>
          </a:p>
          <a:p>
            <a:pPr marL="50800" indent="0" algn="l"/>
            <a:r>
              <a:rPr lang="en-IN" dirty="0">
                <a:hlinkClick r:id="rId2"/>
              </a:rPr>
              <a:t>https://www.neuphony.com/product/brain-wearables/neuphony-eeg-headband</a:t>
            </a:r>
            <a:endParaRPr lang="en-IN" dirty="0"/>
          </a:p>
          <a:p>
            <a:pPr marL="393700" indent="-342900" algn="l">
              <a:buFont typeface="Arial" panose="020B0604020202020204" pitchFamily="34" charset="0"/>
              <a:buChar char="•"/>
            </a:pPr>
            <a:r>
              <a:rPr lang="en-IN" dirty="0"/>
              <a:t>A two-level multimodality imaging Bayesian network approach for classification of partial epilepsy: Preliminary data</a:t>
            </a:r>
          </a:p>
          <a:p>
            <a:pPr marL="50800" indent="0" algn="l"/>
            <a:r>
              <a:rPr lang="en-IN" u="sng" dirty="0">
                <a:hlinkClick r:id="rId3"/>
              </a:rPr>
              <a:t>https://www.sciencedirect.com/science/article/abs/pii/S105381191300061X</a:t>
            </a:r>
            <a:endParaRPr lang="en-IN" u="sng" dirty="0"/>
          </a:p>
          <a:p>
            <a:pPr marL="393700" indent="-342900" algn="l">
              <a:buFont typeface="Arial" panose="020B0604020202020204" pitchFamily="34" charset="0"/>
              <a:buChar char="•"/>
            </a:pPr>
            <a:r>
              <a:rPr lang="en-IN" dirty="0"/>
              <a:t>Management of Epileptic Seizures through an Integrated Approach including Yagya Therapy. </a:t>
            </a:r>
          </a:p>
          <a:p>
            <a:pPr marL="50800" indent="0" algn="l"/>
            <a:r>
              <a:rPr lang="en-IN" u="sng" dirty="0">
                <a:hlinkClick r:id="rId4"/>
              </a:rPr>
              <a:t>https://www.researchgate.net/profile/Shilpi-Verma-5/publication/334734894_Management_of_Epileptic_Seizures_through_an_Integrated_Approach_including_Yagya_Therapy/links/5e60961e92851cefa1dee654/Management-of-Epileptic-Seizures-through-an-Integrated-Approach-including-Yagya-Therapy.pdf?_sg%5B0%5D=started_experiment_milestone&amp;origin=journalDetail</a:t>
            </a:r>
            <a:endParaRPr lang="en-IN" dirty="0"/>
          </a:p>
        </p:txBody>
      </p:sp>
    </p:spTree>
    <p:extLst>
      <p:ext uri="{BB962C8B-B14F-4D97-AF65-F5344CB8AC3E}">
        <p14:creationId xmlns:p14="http://schemas.microsoft.com/office/powerpoint/2010/main" val="1631739711"/>
      </p:ext>
    </p:extLst>
  </p:cSld>
  <p:clrMapOvr>
    <a:masterClrMapping/>
  </p:clrMapOvr>
</p:sld>
</file>

<file path=ppt/theme/theme1.xml><?xml version="1.0" encoding="utf-8"?>
<a:theme xmlns:a="http://schemas.openxmlformats.org/drawingml/2006/main" name="Office Theme">
  <a:themeElements>
    <a:clrScheme name="Somaiya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678</TotalTime>
  <Words>2218</Words>
  <Application>Microsoft Office PowerPoint</Application>
  <PresentationFormat>Widescreen</PresentationFormat>
  <Paragraphs>346</Paragraphs>
  <Slides>26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Fira Sans</vt:lpstr>
      <vt:lpstr>Marcellus</vt:lpstr>
      <vt:lpstr>Aptos</vt:lpstr>
      <vt:lpstr>Google Sans Text</vt:lpstr>
      <vt:lpstr>Calibri</vt:lpstr>
      <vt:lpstr>Arial</vt:lpstr>
      <vt:lpstr>Cambria Math</vt:lpstr>
      <vt:lpstr>Office Theme</vt:lpstr>
      <vt:lpstr>Progress Seminar</vt:lpstr>
      <vt:lpstr>Problem Statement</vt:lpstr>
      <vt:lpstr>Objectives</vt:lpstr>
      <vt:lpstr>Literature Review</vt:lpstr>
      <vt:lpstr>Literature Review</vt:lpstr>
      <vt:lpstr>Literature Review</vt:lpstr>
      <vt:lpstr>Literature Review</vt:lpstr>
      <vt:lpstr>Literature Review</vt:lpstr>
      <vt:lpstr>Literature Review</vt:lpstr>
      <vt:lpstr>Continuous Telemetry Architecture</vt:lpstr>
      <vt:lpstr>LIF ALGORITHM</vt:lpstr>
      <vt:lpstr>ER Diagram</vt:lpstr>
      <vt:lpstr>Mathematical Model</vt:lpstr>
      <vt:lpstr>Mathematical Model</vt:lpstr>
      <vt:lpstr>Mathematical Model</vt:lpstr>
      <vt:lpstr>Mathematical Model</vt:lpstr>
      <vt:lpstr>Docker Containerization Design</vt:lpstr>
      <vt:lpstr>CI/CD Pipeline Design</vt:lpstr>
      <vt:lpstr>DVC (Data Version Control)</vt:lpstr>
      <vt:lpstr>Comparative Analysis:</vt:lpstr>
      <vt:lpstr>Implementation till now</vt:lpstr>
      <vt:lpstr>Preliminary Results</vt:lpstr>
      <vt:lpstr>Preliminary Results</vt:lpstr>
      <vt:lpstr>Pending Work</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Pushpendra Kumar Dhansoia</dc:creator>
  <cp:lastModifiedBy>Aayush Birari</cp:lastModifiedBy>
  <cp:revision>34</cp:revision>
  <dcterms:created xsi:type="dcterms:W3CDTF">2022-02-21T05:08:08Z</dcterms:created>
  <dcterms:modified xsi:type="dcterms:W3CDTF">2026-10-14T11:24:48Z</dcterms:modified>
</cp:coreProperties>
</file>